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258" r:id="rId2"/>
    <p:sldId id="408" r:id="rId3"/>
    <p:sldId id="389" r:id="rId4"/>
    <p:sldId id="391" r:id="rId5"/>
    <p:sldId id="413" r:id="rId6"/>
    <p:sldId id="411" r:id="rId7"/>
    <p:sldId id="410" r:id="rId8"/>
    <p:sldId id="412" r:id="rId9"/>
    <p:sldId id="414" r:id="rId10"/>
    <p:sldId id="415" r:id="rId11"/>
    <p:sldId id="416" r:id="rId12"/>
    <p:sldId id="418" r:id="rId13"/>
    <p:sldId id="417" r:id="rId14"/>
    <p:sldId id="419" r:id="rId15"/>
    <p:sldId id="382" r:id="rId16"/>
    <p:sldId id="426" r:id="rId17"/>
    <p:sldId id="347" r:id="rId18"/>
    <p:sldId id="348" r:id="rId19"/>
    <p:sldId id="343" r:id="rId20"/>
    <p:sldId id="344" r:id="rId21"/>
    <p:sldId id="346" r:id="rId22"/>
    <p:sldId id="421" r:id="rId23"/>
    <p:sldId id="422" r:id="rId24"/>
    <p:sldId id="423" r:id="rId25"/>
    <p:sldId id="424" r:id="rId26"/>
    <p:sldId id="425" r:id="rId27"/>
    <p:sldId id="281" r:id="rId28"/>
    <p:sldId id="273" r:id="rId29"/>
    <p:sldId id="39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7F00"/>
    <a:srgbClr val="00FDFF"/>
    <a:srgbClr val="FF40FF"/>
    <a:srgbClr val="09442A"/>
    <a:srgbClr val="0500FF"/>
    <a:srgbClr val="000000"/>
    <a:srgbClr val="D7AC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0529"/>
    <p:restoredTop sz="86388"/>
  </p:normalViewPr>
  <p:slideViewPr>
    <p:cSldViewPr snapToGrid="0" snapToObjects="1">
      <p:cViewPr varScale="1">
        <p:scale>
          <a:sx n="93" d="100"/>
          <a:sy n="93" d="100"/>
        </p:scale>
        <p:origin x="216" y="584"/>
      </p:cViewPr>
      <p:guideLst/>
    </p:cSldViewPr>
  </p:slideViewPr>
  <p:outlineViewPr>
    <p:cViewPr>
      <p:scale>
        <a:sx n="33" d="100"/>
        <a:sy n="33" d="100"/>
      </p:scale>
      <p:origin x="0" y="-44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7B56FC-7D2E-F343-9D09-0D14B00AA564}" type="datetimeFigureOut">
              <a:rPr lang="en-US" smtClean="0"/>
              <a:t>7/21/26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D6606-78EC-E24C-A3B3-B3666C6F492D}" type="slidenum">
              <a:rPr lang="en-US" smtClean="0"/>
              <a:t>‹#›</a:t>
            </a:fld>
            <a:endParaRPr lang="en-US"/>
          </a:p>
        </p:txBody>
      </p:sp>
    </p:spTree>
    <p:extLst>
      <p:ext uri="{BB962C8B-B14F-4D97-AF65-F5344CB8AC3E}">
        <p14:creationId xmlns:p14="http://schemas.microsoft.com/office/powerpoint/2010/main" val="1013047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2</a:t>
            </a:fld>
            <a:endParaRPr lang="en-US"/>
          </a:p>
        </p:txBody>
      </p:sp>
    </p:spTree>
    <p:extLst>
      <p:ext uri="{BB962C8B-B14F-4D97-AF65-F5344CB8AC3E}">
        <p14:creationId xmlns:p14="http://schemas.microsoft.com/office/powerpoint/2010/main" val="253105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4</a:t>
            </a:fld>
            <a:endParaRPr lang="en-US"/>
          </a:p>
        </p:txBody>
      </p:sp>
    </p:spTree>
    <p:extLst>
      <p:ext uri="{BB962C8B-B14F-4D97-AF65-F5344CB8AC3E}">
        <p14:creationId xmlns:p14="http://schemas.microsoft.com/office/powerpoint/2010/main" val="3020140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5</a:t>
            </a:fld>
            <a:endParaRPr lang="en-US"/>
          </a:p>
        </p:txBody>
      </p:sp>
    </p:spTree>
    <p:extLst>
      <p:ext uri="{BB962C8B-B14F-4D97-AF65-F5344CB8AC3E}">
        <p14:creationId xmlns:p14="http://schemas.microsoft.com/office/powerpoint/2010/main" val="2036927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6</a:t>
            </a:fld>
            <a:endParaRPr lang="en-US"/>
          </a:p>
        </p:txBody>
      </p:sp>
    </p:spTree>
    <p:extLst>
      <p:ext uri="{BB962C8B-B14F-4D97-AF65-F5344CB8AC3E}">
        <p14:creationId xmlns:p14="http://schemas.microsoft.com/office/powerpoint/2010/main" val="4063394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7</a:t>
            </a:fld>
            <a:endParaRPr lang="en-US"/>
          </a:p>
        </p:txBody>
      </p:sp>
    </p:spTree>
    <p:extLst>
      <p:ext uri="{BB962C8B-B14F-4D97-AF65-F5344CB8AC3E}">
        <p14:creationId xmlns:p14="http://schemas.microsoft.com/office/powerpoint/2010/main" val="2881558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8</a:t>
            </a:fld>
            <a:endParaRPr lang="en-US"/>
          </a:p>
        </p:txBody>
      </p:sp>
    </p:spTree>
    <p:extLst>
      <p:ext uri="{BB962C8B-B14F-4D97-AF65-F5344CB8AC3E}">
        <p14:creationId xmlns:p14="http://schemas.microsoft.com/office/powerpoint/2010/main" val="381381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9</a:t>
            </a:fld>
            <a:endParaRPr lang="en-US"/>
          </a:p>
        </p:txBody>
      </p:sp>
    </p:spTree>
    <p:extLst>
      <p:ext uri="{BB962C8B-B14F-4D97-AF65-F5344CB8AC3E}">
        <p14:creationId xmlns:p14="http://schemas.microsoft.com/office/powerpoint/2010/main" val="3248953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10</a:t>
            </a:fld>
            <a:endParaRPr lang="en-US"/>
          </a:p>
        </p:txBody>
      </p:sp>
    </p:spTree>
    <p:extLst>
      <p:ext uri="{BB962C8B-B14F-4D97-AF65-F5344CB8AC3E}">
        <p14:creationId xmlns:p14="http://schemas.microsoft.com/office/powerpoint/2010/main" val="3444024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11</a:t>
            </a:fld>
            <a:endParaRPr lang="en-US"/>
          </a:p>
        </p:txBody>
      </p:sp>
    </p:spTree>
    <p:extLst>
      <p:ext uri="{BB962C8B-B14F-4D97-AF65-F5344CB8AC3E}">
        <p14:creationId xmlns:p14="http://schemas.microsoft.com/office/powerpoint/2010/main" val="2904161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12</a:t>
            </a:fld>
            <a:endParaRPr lang="en-US"/>
          </a:p>
        </p:txBody>
      </p:sp>
    </p:spTree>
    <p:extLst>
      <p:ext uri="{BB962C8B-B14F-4D97-AF65-F5344CB8AC3E}">
        <p14:creationId xmlns:p14="http://schemas.microsoft.com/office/powerpoint/2010/main" val="2857338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13</a:t>
            </a:fld>
            <a:endParaRPr lang="en-US"/>
          </a:p>
        </p:txBody>
      </p:sp>
    </p:spTree>
    <p:extLst>
      <p:ext uri="{BB962C8B-B14F-4D97-AF65-F5344CB8AC3E}">
        <p14:creationId xmlns:p14="http://schemas.microsoft.com/office/powerpoint/2010/main" val="3437342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14</a:t>
            </a:fld>
            <a:endParaRPr lang="en-US"/>
          </a:p>
        </p:txBody>
      </p:sp>
    </p:spTree>
    <p:extLst>
      <p:ext uri="{BB962C8B-B14F-4D97-AF65-F5344CB8AC3E}">
        <p14:creationId xmlns:p14="http://schemas.microsoft.com/office/powerpoint/2010/main" val="3636737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15</a:t>
            </a:fld>
            <a:endParaRPr lang="en-US"/>
          </a:p>
        </p:txBody>
      </p:sp>
    </p:spTree>
    <p:extLst>
      <p:ext uri="{BB962C8B-B14F-4D97-AF65-F5344CB8AC3E}">
        <p14:creationId xmlns:p14="http://schemas.microsoft.com/office/powerpoint/2010/main" val="2674265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4282F-42EC-714A-3A7E-42008DDA3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86086-C46B-3C9E-BFA5-1E66D46D1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1EA41-E94F-57D1-3749-0DD44AD430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FF2AAC-C14C-CBEE-BE25-FAC20EAEF79B}"/>
              </a:ext>
            </a:extLst>
          </p:cNvPr>
          <p:cNvSpPr>
            <a:spLocks noGrp="1"/>
          </p:cNvSpPr>
          <p:nvPr>
            <p:ph type="sldNum" sz="quarter" idx="5"/>
          </p:nvPr>
        </p:nvSpPr>
        <p:spPr/>
        <p:txBody>
          <a:bodyPr/>
          <a:lstStyle/>
          <a:p>
            <a:fld id="{0E6D6606-78EC-E24C-A3B3-B3666C6F492D}" type="slidenum">
              <a:rPr lang="en-US" smtClean="0"/>
              <a:t>16</a:t>
            </a:fld>
            <a:endParaRPr lang="en-US"/>
          </a:p>
        </p:txBody>
      </p:sp>
    </p:spTree>
    <p:extLst>
      <p:ext uri="{BB962C8B-B14F-4D97-AF65-F5344CB8AC3E}">
        <p14:creationId xmlns:p14="http://schemas.microsoft.com/office/powerpoint/2010/main" val="2683740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17</a:t>
            </a:fld>
            <a:endParaRPr lang="en-US"/>
          </a:p>
        </p:txBody>
      </p:sp>
    </p:spTree>
    <p:extLst>
      <p:ext uri="{BB962C8B-B14F-4D97-AF65-F5344CB8AC3E}">
        <p14:creationId xmlns:p14="http://schemas.microsoft.com/office/powerpoint/2010/main" val="3248420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19</a:t>
            </a:fld>
            <a:endParaRPr lang="en-US"/>
          </a:p>
        </p:txBody>
      </p:sp>
    </p:spTree>
    <p:extLst>
      <p:ext uri="{BB962C8B-B14F-4D97-AF65-F5344CB8AC3E}">
        <p14:creationId xmlns:p14="http://schemas.microsoft.com/office/powerpoint/2010/main" val="776860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6D6606-78EC-E24C-A3B3-B3666C6F492D}" type="slidenum">
              <a:rPr lang="en-US" smtClean="0"/>
              <a:t>20</a:t>
            </a:fld>
            <a:endParaRPr lang="en-US"/>
          </a:p>
        </p:txBody>
      </p:sp>
    </p:spTree>
    <p:extLst>
      <p:ext uri="{BB962C8B-B14F-4D97-AF65-F5344CB8AC3E}">
        <p14:creationId xmlns:p14="http://schemas.microsoft.com/office/powerpoint/2010/main" val="3408718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E7C04C-7AF8-1445-A186-502B631B934F}"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E7C04C-7AF8-1445-A186-502B631B934F}"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E7C04C-7AF8-1445-A186-502B631B934F}"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E7C04C-7AF8-1445-A186-502B631B934F}" type="datetimeFigureOut">
              <a:rPr lang="en-US" smtClean="0"/>
              <a:t>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E7C04C-7AF8-1445-A186-502B631B934F}" type="datetimeFigureOut">
              <a:rPr lang="en-US" smtClean="0"/>
              <a:t>7/21/26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E7C04C-7AF8-1445-A186-502B631B934F}" type="datetimeFigureOut">
              <a:rPr lang="en-US" smtClean="0"/>
              <a:t>7/21/26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E7C04C-7AF8-1445-A186-502B631B934F}" type="datetimeFigureOut">
              <a:rPr lang="en-US" smtClean="0"/>
              <a:t>7/21/26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7C04C-7AF8-1445-A186-502B631B934F}" type="datetimeFigureOut">
              <a:rPr lang="en-US" smtClean="0"/>
              <a:t>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7C04C-7AF8-1445-A186-502B631B934F}" type="datetimeFigureOut">
              <a:rPr lang="en-US" smtClean="0"/>
              <a:t>7/21/26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E7C04C-7AF8-1445-A186-502B631B934F}"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E7C04C-7AF8-1445-A186-502B631B934F}" type="datetimeFigureOut">
              <a:rPr lang="en-US" smtClean="0"/>
              <a:t>7/21/26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6F330-C845-6B40-9965-8A0C96ACE8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E7C04C-7AF8-1445-A186-502B631B934F}" type="datetimeFigureOut">
              <a:rPr lang="en-US" smtClean="0"/>
              <a:t>7/21/26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F6F330-C845-6B40-9965-8A0C96ACE82B}" type="slidenum">
              <a:rPr lang="en-US" smtClean="0"/>
              <a:t>‹#›</a:t>
            </a:fld>
            <a:endParaRPr lang="en-US"/>
          </a:p>
        </p:txBody>
      </p:sp>
    </p:spTree>
    <p:extLst>
      <p:ext uri="{BB962C8B-B14F-4D97-AF65-F5344CB8AC3E}">
        <p14:creationId xmlns:p14="http://schemas.microsoft.com/office/powerpoint/2010/main" val="19423725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D7AC0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hyperlink" Target="http://www.djangoproject.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a:bodyPr>
          <a:lstStyle/>
          <a:p>
            <a:pPr algn="l"/>
            <a:r>
              <a:rPr lang="en-US" sz="8000" dirty="0"/>
              <a:t>Forms in Django</a:t>
            </a:r>
          </a:p>
        </p:txBody>
      </p:sp>
      <p:sp>
        <p:nvSpPr>
          <p:cNvPr id="3" name="Subtitle 2"/>
          <p:cNvSpPr>
            <a:spLocks noGrp="1"/>
          </p:cNvSpPr>
          <p:nvPr>
            <p:ph type="subTitle" idx="1"/>
          </p:nvPr>
        </p:nvSpPr>
        <p:spPr/>
        <p:txBody>
          <a:bodyPr anchor="ctr">
            <a:normAutofit/>
          </a:bodyPr>
          <a:lstStyle/>
          <a:p>
            <a:pPr algn="r"/>
            <a:r>
              <a:rPr lang="en-US" sz="2800">
                <a:solidFill>
                  <a:srgbClr val="FFFFFF"/>
                </a:solidFill>
              </a:rPr>
              <a:t>Charles Severance</a:t>
            </a:r>
          </a:p>
          <a:p>
            <a:pPr algn="r"/>
            <a:r>
              <a:rPr lang="en-US" sz="2800">
                <a:solidFill>
                  <a:srgbClr val="FFFFFF"/>
                </a:solidFill>
              </a:rPr>
              <a:t>www.dj4e.com</a:t>
            </a:r>
          </a:p>
          <a:p>
            <a:pPr algn="r"/>
            <a:endParaRPr lang="en-US" sz="2800">
              <a:solidFill>
                <a:srgbClr val="FFFFFF"/>
              </a:solidFill>
            </a:endParaRPr>
          </a:p>
        </p:txBody>
      </p:sp>
      <p:sp>
        <p:nvSpPr>
          <p:cNvPr id="4" name="TextBox 3"/>
          <p:cNvSpPr txBox="1"/>
          <p:nvPr/>
        </p:nvSpPr>
        <p:spPr>
          <a:xfrm>
            <a:off x="1221714" y="5091708"/>
            <a:ext cx="5552482" cy="923330"/>
          </a:xfrm>
          <a:prstGeom prst="rect">
            <a:avLst/>
          </a:prstGeom>
          <a:noFill/>
        </p:spPr>
        <p:txBody>
          <a:bodyPr wrap="none" rtlCol="0">
            <a:spAutoFit/>
          </a:bodyPr>
          <a:lstStyle/>
          <a:p>
            <a:r>
              <a:rPr lang="en-US" dirty="0"/>
              <a:t>https://samples.dj4e.com/form/</a:t>
            </a:r>
          </a:p>
          <a:p>
            <a:r>
              <a:rPr lang="en-US" dirty="0"/>
              <a:t>https://</a:t>
            </a:r>
            <a:r>
              <a:rPr lang="en-US" dirty="0" err="1"/>
              <a:t>docs.djangoproject.com</a:t>
            </a:r>
            <a:r>
              <a:rPr lang="en-US" dirty="0"/>
              <a:t>/</a:t>
            </a:r>
            <a:r>
              <a:rPr lang="en-US" dirty="0" err="1"/>
              <a:t>en</a:t>
            </a:r>
            <a:r>
              <a:rPr lang="en-US" dirty="0"/>
              <a:t>/4.2/topics/forms/</a:t>
            </a:r>
          </a:p>
          <a:p>
            <a:r>
              <a:rPr lang="en-US" dirty="0"/>
              <a:t>https://</a:t>
            </a:r>
            <a:r>
              <a:rPr lang="en-US" dirty="0" err="1"/>
              <a:t>github.com</a:t>
            </a:r>
            <a:r>
              <a:rPr lang="en-US" dirty="0"/>
              <a:t>/csev/dj4e-samples/tree/master/form</a:t>
            </a:r>
          </a:p>
        </p:txBody>
      </p:sp>
      <p:pic>
        <p:nvPicPr>
          <p:cNvPr id="5" name="Picture 6" descr="Copyright Breative Commons CC-BY"/>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339754" y="5638800"/>
            <a:ext cx="1106488"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8135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8E77E9D-3951-EA73-2E84-CDC5DB2FA1E9}"/>
              </a:ext>
            </a:extLst>
          </p:cNvPr>
          <p:cNvSpPr>
            <a:spLocks noGrp="1"/>
          </p:cNvSpPr>
          <p:nvPr>
            <p:ph type="ctrTitle"/>
          </p:nvPr>
        </p:nvSpPr>
        <p:spPr>
          <a:xfrm>
            <a:off x="1524000" y="-2387600"/>
            <a:ext cx="9144000" cy="2387600"/>
          </a:xfrm>
        </p:spPr>
        <p:txBody>
          <a:bodyPr vert="horz" lIns="91440" tIns="45720" rIns="91440" bIns="45720" rtlCol="0" anchor="b">
            <a:normAutofit/>
          </a:bodyPr>
          <a:lstStyle/>
          <a:p>
            <a:r>
              <a:rPr lang="en-US" dirty="0"/>
              <a:t>The Big Picture of a Django Application</a:t>
            </a:r>
          </a:p>
        </p:txBody>
      </p:sp>
      <p:pic>
        <p:nvPicPr>
          <p:cNvPr id="81" name="Picture 80" descr="A human being using a brows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497" y="2609953"/>
            <a:ext cx="1473755" cy="1105316"/>
          </a:xfrm>
          <a:prstGeom prst="rect">
            <a:avLst/>
          </a:prstGeom>
        </p:spPr>
      </p:pic>
      <p:sp>
        <p:nvSpPr>
          <p:cNvPr id="4" name="Rectangle 3"/>
          <p:cNvSpPr/>
          <p:nvPr/>
        </p:nvSpPr>
        <p:spPr>
          <a:xfrm>
            <a:off x="873960" y="278098"/>
            <a:ext cx="2465935" cy="6347791"/>
          </a:xfrm>
          <a:prstGeom prst="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dirty="0">
                <a:solidFill>
                  <a:schemeClr val="bg1"/>
                </a:solidFill>
              </a:rPr>
              <a:t>Browser</a:t>
            </a:r>
          </a:p>
        </p:txBody>
      </p:sp>
      <p:sp>
        <p:nvSpPr>
          <p:cNvPr id="77" name="Rectangle 76"/>
          <p:cNvSpPr/>
          <p:nvPr/>
        </p:nvSpPr>
        <p:spPr>
          <a:xfrm>
            <a:off x="1078762" y="404637"/>
            <a:ext cx="516835" cy="6105958"/>
          </a:xfrm>
          <a:prstGeom prst="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a:p>
            <a:pPr algn="ctr"/>
            <a:r>
              <a:rPr lang="en-US" dirty="0"/>
              <a:t>O</a:t>
            </a:r>
          </a:p>
          <a:p>
            <a:pPr algn="ctr"/>
            <a:r>
              <a:rPr lang="en-US" dirty="0"/>
              <a:t>M</a:t>
            </a:r>
          </a:p>
        </p:txBody>
      </p:sp>
      <p:sp>
        <p:nvSpPr>
          <p:cNvPr id="5" name="Rectangle 4"/>
          <p:cNvSpPr/>
          <p:nvPr/>
        </p:nvSpPr>
        <p:spPr>
          <a:xfrm>
            <a:off x="4733342" y="278098"/>
            <a:ext cx="7215642" cy="6347791"/>
          </a:xfrm>
          <a:prstGeom prst="rect">
            <a:avLst/>
          </a:prstGeom>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dirty="0">
                <a:solidFill>
                  <a:schemeClr val="bg1"/>
                </a:solidFill>
              </a:rPr>
              <a:t>Linux</a:t>
            </a:r>
          </a:p>
        </p:txBody>
      </p:sp>
      <p:sp>
        <p:nvSpPr>
          <p:cNvPr id="23" name="Rectangle 22"/>
          <p:cNvSpPr/>
          <p:nvPr/>
        </p:nvSpPr>
        <p:spPr>
          <a:xfrm>
            <a:off x="4999929" y="404637"/>
            <a:ext cx="516835" cy="6105958"/>
          </a:xfrm>
          <a:prstGeom prst="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t>N</a:t>
            </a:r>
          </a:p>
          <a:p>
            <a:pPr algn="ctr"/>
            <a:r>
              <a:rPr lang="en-US" dirty="0"/>
              <a:t>G</a:t>
            </a:r>
          </a:p>
          <a:p>
            <a:pPr algn="ctr"/>
            <a:r>
              <a:rPr lang="en-US" dirty="0"/>
              <a:t>I</a:t>
            </a:r>
          </a:p>
          <a:p>
            <a:pPr algn="ctr"/>
            <a:r>
              <a:rPr lang="en-US" dirty="0"/>
              <a:t>N</a:t>
            </a:r>
            <a:br>
              <a:rPr lang="en-US" dirty="0"/>
            </a:br>
            <a:r>
              <a:rPr lang="en-US" dirty="0"/>
              <a:t>X</a:t>
            </a:r>
          </a:p>
          <a:p>
            <a:pPr algn="ctr"/>
            <a:endParaRPr lang="en-US" dirty="0"/>
          </a:p>
        </p:txBody>
      </p:sp>
      <p:sp>
        <p:nvSpPr>
          <p:cNvPr id="6" name="Rectangle 5"/>
          <p:cNvSpPr/>
          <p:nvPr/>
        </p:nvSpPr>
        <p:spPr>
          <a:xfrm>
            <a:off x="5987216" y="870579"/>
            <a:ext cx="5702276" cy="5548575"/>
          </a:xfrm>
          <a:prstGeom prst="rect">
            <a:avLst/>
          </a:prstGeom>
          <a:solidFill>
            <a:srgbClr val="00206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dirty="0"/>
              <a:t>Django</a:t>
            </a:r>
          </a:p>
        </p:txBody>
      </p:sp>
      <p:cxnSp>
        <p:nvCxnSpPr>
          <p:cNvPr id="45" name="Straight Arrow Connector 44">
            <a:extLst>
              <a:ext uri="{C183D7F6-B498-43B3-948B-1728B52AA6E4}">
                <adec:decorative xmlns:adec="http://schemas.microsoft.com/office/drawing/2017/decorative" val="1"/>
              </a:ext>
            </a:extLst>
          </p:cNvPr>
          <p:cNvCxnSpPr>
            <a:endCxn id="48" idx="2"/>
          </p:cNvCxnSpPr>
          <p:nvPr/>
        </p:nvCxnSpPr>
        <p:spPr>
          <a:xfrm flipV="1">
            <a:off x="691404" y="1668102"/>
            <a:ext cx="345527" cy="1384558"/>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p:cNvSpPr/>
          <p:nvPr/>
        </p:nvSpPr>
        <p:spPr>
          <a:xfrm>
            <a:off x="692725" y="1396262"/>
            <a:ext cx="688412" cy="27184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Click</a:t>
            </a:r>
          </a:p>
        </p:txBody>
      </p:sp>
      <p:cxnSp>
        <p:nvCxnSpPr>
          <p:cNvPr id="43" name="Straight Arrow Connector 42">
            <a:extLst>
              <a:ext uri="{C183D7F6-B498-43B3-948B-1728B52AA6E4}">
                <adec:decorative xmlns:adec="http://schemas.microsoft.com/office/drawing/2017/decorative" val="1"/>
              </a:ext>
            </a:extLst>
          </p:cNvPr>
          <p:cNvCxnSpPr>
            <a:endCxn id="9" idx="1"/>
          </p:cNvCxnSpPr>
          <p:nvPr/>
        </p:nvCxnSpPr>
        <p:spPr>
          <a:xfrm>
            <a:off x="1337179" y="1543199"/>
            <a:ext cx="5009988" cy="75332"/>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3" name="Cloud Callout 72" descr="This is the Internet represented by a cloud.">
            <a:extLst>
              <a:ext uri="{C183D7F6-B498-43B3-948B-1728B52AA6E4}">
                <adec:decorative xmlns:adec="http://schemas.microsoft.com/office/drawing/2017/decorative" val="0"/>
              </a:ext>
            </a:extLst>
          </p:cNvPr>
          <p:cNvSpPr/>
          <p:nvPr/>
        </p:nvSpPr>
        <p:spPr>
          <a:xfrm>
            <a:off x="3585593" y="2064215"/>
            <a:ext cx="934720" cy="653442"/>
          </a:xfrm>
          <a:prstGeom prst="cloudCallout">
            <a:avLst>
              <a:gd name="adj1" fmla="val 906"/>
              <a:gd name="adj2" fmla="val -1249"/>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987216" y="404858"/>
            <a:ext cx="1295291" cy="369332"/>
          </a:xfrm>
          <a:prstGeom prst="rect">
            <a:avLst/>
          </a:prstGeom>
          <a:solidFill>
            <a:schemeClr val="bg1"/>
          </a:solidFill>
        </p:spPr>
        <p:txBody>
          <a:bodyPr wrap="none" rtlCol="0">
            <a:spAutoFit/>
          </a:bodyPr>
          <a:lstStyle/>
          <a:p>
            <a:r>
              <a:rPr lang="en-US" dirty="0" err="1"/>
              <a:t>WGSIConfig</a:t>
            </a:r>
            <a:endParaRPr lang="en-US" dirty="0"/>
          </a:p>
        </p:txBody>
      </p:sp>
      <p:cxnSp>
        <p:nvCxnSpPr>
          <p:cNvPr id="21" name="Straight Arrow Connector 20">
            <a:extLst>
              <a:ext uri="{C183D7F6-B498-43B3-948B-1728B52AA6E4}">
                <adec:decorative xmlns:adec="http://schemas.microsoft.com/office/drawing/2017/decorative" val="1"/>
              </a:ext>
            </a:extLst>
          </p:cNvPr>
          <p:cNvCxnSpPr/>
          <p:nvPr/>
        </p:nvCxnSpPr>
        <p:spPr>
          <a:xfrm flipH="1">
            <a:off x="7208365" y="589414"/>
            <a:ext cx="725611" cy="1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p:cNvSpPr/>
          <p:nvPr/>
        </p:nvSpPr>
        <p:spPr>
          <a:xfrm>
            <a:off x="7933975" y="404637"/>
            <a:ext cx="1603514" cy="36955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settings.py</a:t>
            </a:r>
            <a:endParaRPr lang="en-US" dirty="0"/>
          </a:p>
        </p:txBody>
      </p:sp>
      <p:sp>
        <p:nvSpPr>
          <p:cNvPr id="9" name="Rounded Rectangle 8"/>
          <p:cNvSpPr/>
          <p:nvPr/>
        </p:nvSpPr>
        <p:spPr>
          <a:xfrm>
            <a:off x="6347167" y="1101696"/>
            <a:ext cx="1086678" cy="1033669"/>
          </a:xfrm>
          <a:prstGeom prst="roundRect">
            <a:avLst/>
          </a:prstGeom>
          <a:solidFill>
            <a:srgbClr val="0070C0"/>
          </a:solidFill>
        </p:spPr>
        <p:style>
          <a:lnRef idx="1">
            <a:schemeClr val="dk1"/>
          </a:lnRef>
          <a:fillRef idx="2">
            <a:schemeClr val="dk1"/>
          </a:fillRef>
          <a:effectRef idx="1">
            <a:schemeClr val="dk1"/>
          </a:effectRef>
          <a:fontRef idx="minor">
            <a:schemeClr val="dk1"/>
          </a:fontRef>
        </p:style>
        <p:txBody>
          <a:bodyPr rtlCol="0" anchor="ctr"/>
          <a:lstStyle/>
          <a:p>
            <a:pPr algn="ctr"/>
            <a:r>
              <a:rPr lang="en-US">
                <a:solidFill>
                  <a:schemeClr val="tx1"/>
                </a:solidFill>
              </a:rPr>
              <a:t>Routing</a:t>
            </a:r>
          </a:p>
        </p:txBody>
      </p:sp>
      <p:cxnSp>
        <p:nvCxnSpPr>
          <p:cNvPr id="28" name="Straight Arrow Connector 27">
            <a:extLst>
              <a:ext uri="{C183D7F6-B498-43B3-948B-1728B52AA6E4}">
                <adec:decorative xmlns:adec="http://schemas.microsoft.com/office/drawing/2017/decorative" val="1"/>
              </a:ext>
            </a:extLst>
          </p:cNvPr>
          <p:cNvCxnSpPr>
            <a:stCxn id="15" idx="1"/>
            <a:endCxn id="9" idx="3"/>
          </p:cNvCxnSpPr>
          <p:nvPr/>
        </p:nvCxnSpPr>
        <p:spPr>
          <a:xfrm flipH="1">
            <a:off x="7433845" y="1610800"/>
            <a:ext cx="1404867" cy="77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8838712" y="1385733"/>
            <a:ext cx="1439996" cy="450133"/>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urls.py</a:t>
            </a:r>
            <a:endParaRPr lang="en-US" dirty="0"/>
          </a:p>
        </p:txBody>
      </p:sp>
      <p:cxnSp>
        <p:nvCxnSpPr>
          <p:cNvPr id="52" name="Straight Arrow Connector 51">
            <a:extLst>
              <a:ext uri="{C183D7F6-B498-43B3-948B-1728B52AA6E4}">
                <adec:decorative xmlns:adec="http://schemas.microsoft.com/office/drawing/2017/decorative" val="1"/>
              </a:ext>
            </a:extLst>
          </p:cNvPr>
          <p:cNvCxnSpPr/>
          <p:nvPr/>
        </p:nvCxnSpPr>
        <p:spPr>
          <a:xfrm>
            <a:off x="6890506" y="2135365"/>
            <a:ext cx="196094" cy="54044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C183D7F6-B498-43B3-948B-1728B52AA6E4}">
                <adec:decorative xmlns:adec="http://schemas.microsoft.com/office/drawing/2017/decorative" val="1"/>
              </a:ext>
            </a:extLst>
          </p:cNvPr>
          <p:cNvCxnSpPr/>
          <p:nvPr/>
        </p:nvCxnSpPr>
        <p:spPr>
          <a:xfrm flipH="1">
            <a:off x="6629400" y="2135365"/>
            <a:ext cx="261106" cy="54044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C183D7F6-B498-43B3-948B-1728B52AA6E4}">
                <adec:decorative xmlns:adec="http://schemas.microsoft.com/office/drawing/2017/decorative" val="1"/>
              </a:ext>
            </a:extLst>
          </p:cNvPr>
          <p:cNvCxnSpPr>
            <a:endCxn id="10" idx="0"/>
          </p:cNvCxnSpPr>
          <p:nvPr/>
        </p:nvCxnSpPr>
        <p:spPr>
          <a:xfrm>
            <a:off x="6890506" y="2135365"/>
            <a:ext cx="0" cy="540440"/>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6347167" y="2675805"/>
            <a:ext cx="1086678" cy="1033669"/>
          </a:xfrm>
          <a:prstGeom prst="roundRect">
            <a:avLst/>
          </a:prstGeom>
          <a:solidFill>
            <a:srgbClr val="FF7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Views</a:t>
            </a:r>
          </a:p>
        </p:txBody>
      </p:sp>
      <p:cxnSp>
        <p:nvCxnSpPr>
          <p:cNvPr id="31" name="Straight Arrow Connector 30">
            <a:extLst>
              <a:ext uri="{C183D7F6-B498-43B3-948B-1728B52AA6E4}">
                <adec:decorative xmlns:adec="http://schemas.microsoft.com/office/drawing/2017/decorative" val="1"/>
              </a:ext>
            </a:extLst>
          </p:cNvPr>
          <p:cNvCxnSpPr>
            <a:stCxn id="24" idx="1"/>
            <a:endCxn id="10" idx="3"/>
          </p:cNvCxnSpPr>
          <p:nvPr/>
        </p:nvCxnSpPr>
        <p:spPr>
          <a:xfrm flipH="1">
            <a:off x="7433845" y="2574964"/>
            <a:ext cx="1025979" cy="6176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8459824" y="2316546"/>
            <a:ext cx="1308844" cy="5168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views.py</a:t>
            </a:r>
            <a:endParaRPr lang="en-US" dirty="0"/>
          </a:p>
        </p:txBody>
      </p:sp>
      <p:cxnSp>
        <p:nvCxnSpPr>
          <p:cNvPr id="34" name="Straight Arrow Connector 33">
            <a:extLst>
              <a:ext uri="{C183D7F6-B498-43B3-948B-1728B52AA6E4}">
                <adec:decorative xmlns:adec="http://schemas.microsoft.com/office/drawing/2017/decorative" val="1"/>
              </a:ext>
            </a:extLst>
          </p:cNvPr>
          <p:cNvCxnSpPr>
            <a:stCxn id="13" idx="1"/>
            <a:endCxn id="10" idx="3"/>
          </p:cNvCxnSpPr>
          <p:nvPr/>
        </p:nvCxnSpPr>
        <p:spPr>
          <a:xfrm flipH="1">
            <a:off x="7433845" y="3162611"/>
            <a:ext cx="2656182" cy="300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10090027" y="2904193"/>
            <a:ext cx="1367113" cy="51683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t>Templates</a:t>
            </a:r>
            <a:endParaRPr lang="en-US" dirty="0"/>
          </a:p>
        </p:txBody>
      </p:sp>
      <p:cxnSp>
        <p:nvCxnSpPr>
          <p:cNvPr id="55" name="Straight Arrow Connector 54">
            <a:extLst>
              <a:ext uri="{C183D7F6-B498-43B3-948B-1728B52AA6E4}">
                <adec:decorative xmlns:adec="http://schemas.microsoft.com/office/drawing/2017/decorative" val="1"/>
              </a:ext>
            </a:extLst>
          </p:cNvPr>
          <p:cNvCxnSpPr>
            <a:endCxn id="13" idx="2"/>
          </p:cNvCxnSpPr>
          <p:nvPr/>
        </p:nvCxnSpPr>
        <p:spPr>
          <a:xfrm flipV="1">
            <a:off x="9813128" y="3421029"/>
            <a:ext cx="960456" cy="2949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C183D7F6-B498-43B3-948B-1728B52AA6E4}">
                <adec:decorative xmlns:adec="http://schemas.microsoft.com/office/drawing/2017/decorative" val="1"/>
              </a:ext>
            </a:extLst>
          </p:cNvPr>
          <p:cNvCxnSpPr>
            <a:stCxn id="14" idx="1"/>
            <a:endCxn id="10" idx="3"/>
          </p:cNvCxnSpPr>
          <p:nvPr/>
        </p:nvCxnSpPr>
        <p:spPr>
          <a:xfrm flipH="1" flipV="1">
            <a:off x="7433845" y="3192640"/>
            <a:ext cx="1025979" cy="5233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E636C3A3-C712-20DD-4851-1EFDABE5210D}"/>
              </a:ext>
              <a:ext uri="{C183D7F6-B498-43B3-948B-1728B52AA6E4}">
                <adec:decorative xmlns:adec="http://schemas.microsoft.com/office/drawing/2017/decorative" val="1"/>
              </a:ext>
            </a:extLst>
          </p:cNvPr>
          <p:cNvCxnSpPr>
            <a:cxnSpLocks/>
            <a:stCxn id="14" idx="0"/>
            <a:endCxn id="24" idx="2"/>
          </p:cNvCxnSpPr>
          <p:nvPr/>
        </p:nvCxnSpPr>
        <p:spPr>
          <a:xfrm flipH="1" flipV="1">
            <a:off x="9114246" y="2833382"/>
            <a:ext cx="23488" cy="6317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8459824" y="3465107"/>
            <a:ext cx="1355820" cy="50168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forms.py</a:t>
            </a:r>
            <a:endParaRPr lang="en-US" dirty="0"/>
          </a:p>
        </p:txBody>
      </p:sp>
      <p:sp>
        <p:nvSpPr>
          <p:cNvPr id="49" name="Rounded Rectangle 48"/>
          <p:cNvSpPr/>
          <p:nvPr/>
        </p:nvSpPr>
        <p:spPr>
          <a:xfrm>
            <a:off x="8121287" y="4415134"/>
            <a:ext cx="1086678" cy="1033669"/>
          </a:xfrm>
          <a:prstGeom prst="roundRect">
            <a:avLst/>
          </a:prstGeom>
          <a:solidFill>
            <a:srgbClr val="0070C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Models</a:t>
            </a:r>
          </a:p>
        </p:txBody>
      </p:sp>
      <p:cxnSp>
        <p:nvCxnSpPr>
          <p:cNvPr id="56" name="Straight Arrow Connector 55">
            <a:extLst>
              <a:ext uri="{C183D7F6-B498-43B3-948B-1728B52AA6E4}">
                <adec:decorative xmlns:adec="http://schemas.microsoft.com/office/drawing/2017/decorative" val="1"/>
              </a:ext>
            </a:extLst>
          </p:cNvPr>
          <p:cNvCxnSpPr>
            <a:stCxn id="76" idx="1"/>
            <a:endCxn id="49" idx="3"/>
          </p:cNvCxnSpPr>
          <p:nvPr/>
        </p:nvCxnSpPr>
        <p:spPr>
          <a:xfrm flipH="1" flipV="1">
            <a:off x="9207965" y="4931969"/>
            <a:ext cx="682363" cy="5168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C183D7F6-B498-43B3-948B-1728B52AA6E4}">
                <adec:decorative xmlns:adec="http://schemas.microsoft.com/office/drawing/2017/decorative" val="1"/>
              </a:ext>
            </a:extLst>
          </p:cNvPr>
          <p:cNvCxnSpPr>
            <a:stCxn id="14" idx="2"/>
            <a:endCxn id="49" idx="0"/>
          </p:cNvCxnSpPr>
          <p:nvPr/>
        </p:nvCxnSpPr>
        <p:spPr>
          <a:xfrm flipH="1">
            <a:off x="8664626" y="3966793"/>
            <a:ext cx="473108" cy="448341"/>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Rounded Rectangle 75"/>
          <p:cNvSpPr/>
          <p:nvPr/>
        </p:nvSpPr>
        <p:spPr>
          <a:xfrm>
            <a:off x="9890328" y="5197960"/>
            <a:ext cx="1357391" cy="50168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models.py</a:t>
            </a:r>
            <a:endParaRPr lang="en-US" dirty="0"/>
          </a:p>
        </p:txBody>
      </p:sp>
      <p:cxnSp>
        <p:nvCxnSpPr>
          <p:cNvPr id="40" name="Straight Arrow Connector 39">
            <a:extLst>
              <a:ext uri="{C183D7F6-B498-43B3-948B-1728B52AA6E4}">
                <adec:decorative xmlns:adec="http://schemas.microsoft.com/office/drawing/2017/decorative" val="1"/>
              </a:ext>
            </a:extLst>
          </p:cNvPr>
          <p:cNvCxnSpPr>
            <a:stCxn id="11" idx="2"/>
            <a:endCxn id="49" idx="3"/>
          </p:cNvCxnSpPr>
          <p:nvPr/>
        </p:nvCxnSpPr>
        <p:spPr>
          <a:xfrm flipH="1">
            <a:off x="9207965" y="4496661"/>
            <a:ext cx="605163" cy="435308"/>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Can 10"/>
          <p:cNvSpPr/>
          <p:nvPr/>
        </p:nvSpPr>
        <p:spPr>
          <a:xfrm>
            <a:off x="9813128" y="4173528"/>
            <a:ext cx="1577009" cy="646266"/>
          </a:xfrm>
          <a:prstGeom prst="can">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Database</a:t>
            </a:r>
          </a:p>
        </p:txBody>
      </p:sp>
      <p:sp>
        <p:nvSpPr>
          <p:cNvPr id="41" name="Rounded Rectangle 40"/>
          <p:cNvSpPr/>
          <p:nvPr/>
        </p:nvSpPr>
        <p:spPr>
          <a:xfrm>
            <a:off x="8102028" y="5683135"/>
            <a:ext cx="1319815" cy="50168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t>admin.py</a:t>
            </a:r>
            <a:endParaRPr lang="en-US" dirty="0"/>
          </a:p>
        </p:txBody>
      </p:sp>
      <p:sp>
        <p:nvSpPr>
          <p:cNvPr id="50" name="Rounded Rectangle 49"/>
          <p:cNvSpPr/>
          <p:nvPr/>
        </p:nvSpPr>
        <p:spPr>
          <a:xfrm>
            <a:off x="6428560" y="5430454"/>
            <a:ext cx="1086678" cy="592481"/>
          </a:xfrm>
          <a:prstGeom prst="roundRect">
            <a:avLst/>
          </a:prstGeom>
          <a:solidFill>
            <a:srgbClr val="FF7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/admin</a:t>
            </a:r>
          </a:p>
        </p:txBody>
      </p:sp>
      <p:cxnSp>
        <p:nvCxnSpPr>
          <p:cNvPr id="51" name="Straight Arrow Connector 50">
            <a:extLst>
              <a:ext uri="{C183D7F6-B498-43B3-948B-1728B52AA6E4}">
                <adec:decorative xmlns:adec="http://schemas.microsoft.com/office/drawing/2017/decorative" val="1"/>
              </a:ext>
            </a:extLst>
          </p:cNvPr>
          <p:cNvCxnSpPr>
            <a:stCxn id="49" idx="1"/>
            <a:endCxn id="39" idx="3"/>
          </p:cNvCxnSpPr>
          <p:nvPr/>
        </p:nvCxnSpPr>
        <p:spPr>
          <a:xfrm flipH="1" flipV="1">
            <a:off x="7482940" y="4696657"/>
            <a:ext cx="638347" cy="2353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C183D7F6-B498-43B3-948B-1728B52AA6E4}">
                <adec:decorative xmlns:adec="http://schemas.microsoft.com/office/drawing/2017/decorative" val="1"/>
              </a:ext>
            </a:extLst>
          </p:cNvPr>
          <p:cNvCxnSpPr>
            <a:stCxn id="41" idx="1"/>
            <a:endCxn id="50" idx="3"/>
          </p:cNvCxnSpPr>
          <p:nvPr/>
        </p:nvCxnSpPr>
        <p:spPr>
          <a:xfrm flipH="1" flipV="1">
            <a:off x="7515238" y="5726695"/>
            <a:ext cx="586790" cy="2072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C183D7F6-B498-43B3-948B-1728B52AA6E4}">
                <adec:decorative xmlns:adec="http://schemas.microsoft.com/office/drawing/2017/decorative" val="1"/>
              </a:ext>
            </a:extLst>
          </p:cNvPr>
          <p:cNvCxnSpPr>
            <a:stCxn id="76" idx="1"/>
            <a:endCxn id="41" idx="3"/>
          </p:cNvCxnSpPr>
          <p:nvPr/>
        </p:nvCxnSpPr>
        <p:spPr>
          <a:xfrm flipH="1">
            <a:off x="9421843" y="5448803"/>
            <a:ext cx="468485" cy="4851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C183D7F6-B498-43B3-948B-1728B52AA6E4}">
                <adec:decorative xmlns:adec="http://schemas.microsoft.com/office/drawing/2017/decorative" val="1"/>
              </a:ext>
            </a:extLst>
          </p:cNvPr>
          <p:cNvCxnSpPr>
            <a:stCxn id="49" idx="1"/>
            <a:endCxn id="50" idx="3"/>
          </p:cNvCxnSpPr>
          <p:nvPr/>
        </p:nvCxnSpPr>
        <p:spPr>
          <a:xfrm flipH="1">
            <a:off x="7515238" y="4931969"/>
            <a:ext cx="606049" cy="794726"/>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6396262" y="4400416"/>
            <a:ext cx="1086678" cy="592481"/>
          </a:xfrm>
          <a:prstGeom prst="roundRect">
            <a:avLst/>
          </a:prstGeom>
          <a:solidFill>
            <a:srgbClr val="FF7F00"/>
          </a:soli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Shell</a:t>
            </a:r>
          </a:p>
        </p:txBody>
      </p:sp>
      <p:cxnSp>
        <p:nvCxnSpPr>
          <p:cNvPr id="64" name="Straight Arrow Connector 63">
            <a:extLst>
              <a:ext uri="{C183D7F6-B498-43B3-948B-1728B52AA6E4}">
                <adec:decorative xmlns:adec="http://schemas.microsoft.com/office/drawing/2017/decorative" val="1"/>
              </a:ext>
            </a:extLst>
          </p:cNvPr>
          <p:cNvCxnSpPr>
            <a:stCxn id="49" idx="0"/>
            <a:endCxn id="10" idx="2"/>
          </p:cNvCxnSpPr>
          <p:nvPr/>
        </p:nvCxnSpPr>
        <p:spPr>
          <a:xfrm flipH="1" flipV="1">
            <a:off x="6890506" y="3709474"/>
            <a:ext cx="1774120" cy="70566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C183D7F6-B498-43B3-948B-1728B52AA6E4}">
                <adec:decorative xmlns:adec="http://schemas.microsoft.com/office/drawing/2017/decorative" val="1"/>
              </a:ext>
            </a:extLst>
          </p:cNvPr>
          <p:cNvCxnSpPr>
            <a:stCxn id="10" idx="1"/>
            <a:endCxn id="78" idx="3"/>
          </p:cNvCxnSpPr>
          <p:nvPr/>
        </p:nvCxnSpPr>
        <p:spPr>
          <a:xfrm flipH="1" flipV="1">
            <a:off x="3319006" y="3177625"/>
            <a:ext cx="3028161" cy="1501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8" name="Rounded Rectangle 77"/>
          <p:cNvSpPr/>
          <p:nvPr/>
        </p:nvSpPr>
        <p:spPr>
          <a:xfrm>
            <a:off x="2088487" y="2703730"/>
            <a:ext cx="1230519" cy="947790"/>
          </a:xfrm>
          <a:prstGeom prst="roundRect">
            <a:avLst/>
          </a:prstGeom>
          <a:solidFill>
            <a:srgbClr val="00206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Parse</a:t>
            </a:r>
          </a:p>
          <a:p>
            <a:pPr algn="ctr"/>
            <a:r>
              <a:rPr lang="en-US" dirty="0">
                <a:solidFill>
                  <a:schemeClr val="tx1"/>
                </a:solidFill>
              </a:rPr>
              <a:t>Response</a:t>
            </a:r>
          </a:p>
        </p:txBody>
      </p:sp>
      <p:cxnSp>
        <p:nvCxnSpPr>
          <p:cNvPr id="47" name="Straight Arrow Connector 46">
            <a:extLst>
              <a:ext uri="{C183D7F6-B498-43B3-948B-1728B52AA6E4}">
                <adec:decorative xmlns:adec="http://schemas.microsoft.com/office/drawing/2017/decorative" val="1"/>
              </a:ext>
            </a:extLst>
          </p:cNvPr>
          <p:cNvCxnSpPr>
            <a:stCxn id="78" idx="1"/>
            <a:endCxn id="77" idx="3"/>
          </p:cNvCxnSpPr>
          <p:nvPr/>
        </p:nvCxnSpPr>
        <p:spPr>
          <a:xfrm flipH="1">
            <a:off x="1595597" y="3177625"/>
            <a:ext cx="492890" cy="279991"/>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9" name="Rectangle 78"/>
          <p:cNvSpPr/>
          <p:nvPr/>
        </p:nvSpPr>
        <p:spPr>
          <a:xfrm>
            <a:off x="1908003" y="4073744"/>
            <a:ext cx="1419280" cy="2345410"/>
          </a:xfrm>
          <a:prstGeom prst="rect">
            <a:avLst/>
          </a:prstGeom>
          <a:solidFill>
            <a:schemeClr val="tx1">
              <a:lumMod val="5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dirty="0"/>
              <a:t>JavaScript</a:t>
            </a:r>
          </a:p>
        </p:txBody>
      </p:sp>
      <p:cxnSp>
        <p:nvCxnSpPr>
          <p:cNvPr id="46" name="Straight Arrow Connector 45">
            <a:extLst>
              <a:ext uri="{C183D7F6-B498-43B3-948B-1728B52AA6E4}">
                <adec:decorative xmlns:adec="http://schemas.microsoft.com/office/drawing/2017/decorative" val="1"/>
              </a:ext>
            </a:extLst>
          </p:cNvPr>
          <p:cNvCxnSpPr>
            <a:stCxn id="77" idx="1"/>
          </p:cNvCxnSpPr>
          <p:nvPr/>
        </p:nvCxnSpPr>
        <p:spPr>
          <a:xfrm flipH="1" flipV="1">
            <a:off x="669158" y="3052660"/>
            <a:ext cx="409604" cy="404956"/>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0380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Django's role in forms  (DRY)</a:t>
            </a:r>
          </a:p>
        </p:txBody>
      </p:sp>
      <p:sp>
        <p:nvSpPr>
          <p:cNvPr id="7" name="Rectangle 6"/>
          <p:cNvSpPr/>
          <p:nvPr/>
        </p:nvSpPr>
        <p:spPr>
          <a:xfrm>
            <a:off x="2205038" y="5784116"/>
            <a:ext cx="8305800" cy="369332"/>
          </a:xfrm>
          <a:prstGeom prst="rect">
            <a:avLst/>
          </a:prstGeom>
        </p:spPr>
        <p:txBody>
          <a:bodyPr wrap="square">
            <a:spAutoFit/>
          </a:bodyPr>
          <a:lstStyle/>
          <a:p>
            <a:r>
              <a:rPr lang="en-US" dirty="0">
                <a:solidFill>
                  <a:srgbClr val="FFFF00"/>
                </a:solidFill>
              </a:rPr>
              <a:t>https://</a:t>
            </a:r>
            <a:r>
              <a:rPr lang="en-US" dirty="0" err="1">
                <a:solidFill>
                  <a:srgbClr val="FFFF00"/>
                </a:solidFill>
              </a:rPr>
              <a:t>docs.djangoproject.com</a:t>
            </a:r>
            <a:r>
              <a:rPr lang="en-US" dirty="0">
                <a:solidFill>
                  <a:srgbClr val="FFFF00"/>
                </a:solidFill>
              </a:rPr>
              <a:t>/</a:t>
            </a:r>
            <a:r>
              <a:rPr lang="en-US" dirty="0" err="1">
                <a:solidFill>
                  <a:srgbClr val="FFFF00"/>
                </a:solidFill>
              </a:rPr>
              <a:t>en</a:t>
            </a:r>
            <a:r>
              <a:rPr lang="en-US" dirty="0">
                <a:solidFill>
                  <a:srgbClr val="FFFF00"/>
                </a:solidFill>
              </a:rPr>
              <a:t>/4.0/topics/forms/#</a:t>
            </a:r>
            <a:r>
              <a:rPr lang="en-US" dirty="0" err="1">
                <a:solidFill>
                  <a:srgbClr val="FFFF00"/>
                </a:solidFill>
              </a:rPr>
              <a:t>django</a:t>
            </a:r>
            <a:r>
              <a:rPr lang="en-US" dirty="0">
                <a:solidFill>
                  <a:srgbClr val="FFFF00"/>
                </a:solidFill>
              </a:rPr>
              <a:t>-s-role-in-forms</a:t>
            </a:r>
          </a:p>
        </p:txBody>
      </p:sp>
      <p:sp>
        <p:nvSpPr>
          <p:cNvPr id="9" name="Rectangle 8"/>
          <p:cNvSpPr/>
          <p:nvPr/>
        </p:nvSpPr>
        <p:spPr>
          <a:xfrm>
            <a:off x="838200" y="1690688"/>
            <a:ext cx="10163175" cy="3893374"/>
          </a:xfrm>
          <a:prstGeom prst="rect">
            <a:avLst/>
          </a:prstGeom>
          <a:solidFill>
            <a:schemeClr val="tx1"/>
          </a:solidFill>
        </p:spPr>
        <p:txBody>
          <a:bodyPr wrap="square">
            <a:spAutoFit/>
          </a:bodyPr>
          <a:lstStyle/>
          <a:p>
            <a:r>
              <a:rPr lang="en-US" sz="1900" dirty="0">
                <a:solidFill>
                  <a:srgbClr val="09442A"/>
                </a:solidFill>
              </a:rPr>
              <a:t>Handling forms is a complex business. Consider Django’s admin, where numerous items of data of several different types may need to be prepared for display in a form, rendered as HTML, edited using a convenient interface, returned to the server, validated and cleaned up, and then saved or passed on for further processing. Django’s form functionality can simplify and automate vast portions of this work, and can also do it more securely than most programmers would be able to do in code they wrote themselves.</a:t>
            </a:r>
          </a:p>
          <a:p>
            <a:endParaRPr lang="en-US" sz="1900" dirty="0">
              <a:solidFill>
                <a:srgbClr val="09442A"/>
              </a:solidFill>
            </a:endParaRPr>
          </a:p>
          <a:p>
            <a:r>
              <a:rPr lang="en-US" sz="1900" dirty="0">
                <a:solidFill>
                  <a:srgbClr val="09442A"/>
                </a:solidFill>
              </a:rPr>
              <a:t>Django handles three distinct parts of the work involved in forms:</a:t>
            </a:r>
          </a:p>
          <a:p>
            <a:pPr marL="285750" indent="-285750">
              <a:buFont typeface="Arial" charset="0"/>
              <a:buChar char="•"/>
            </a:pPr>
            <a:r>
              <a:rPr lang="en-US" sz="1900" dirty="0">
                <a:solidFill>
                  <a:srgbClr val="09442A"/>
                </a:solidFill>
              </a:rPr>
              <a:t>preparing and restructuring data to make it ready for rendering</a:t>
            </a:r>
          </a:p>
          <a:p>
            <a:pPr marL="285750" indent="-285750">
              <a:buFont typeface="Arial" charset="0"/>
              <a:buChar char="•"/>
            </a:pPr>
            <a:r>
              <a:rPr lang="en-US" sz="1900" dirty="0">
                <a:solidFill>
                  <a:srgbClr val="09442A"/>
                </a:solidFill>
              </a:rPr>
              <a:t>creating HTML forms for the data</a:t>
            </a:r>
          </a:p>
          <a:p>
            <a:pPr marL="285750" indent="-285750">
              <a:buFont typeface="Arial" charset="0"/>
              <a:buChar char="•"/>
            </a:pPr>
            <a:r>
              <a:rPr lang="en-US" sz="1900" dirty="0">
                <a:solidFill>
                  <a:srgbClr val="09442A"/>
                </a:solidFill>
              </a:rPr>
              <a:t>receiving and processing submitted forms and data from the client</a:t>
            </a:r>
          </a:p>
          <a:p>
            <a:pPr marL="285750" indent="-285750">
              <a:buFont typeface="Arial" charset="0"/>
              <a:buChar char="•"/>
            </a:pPr>
            <a:endParaRPr lang="en-US" sz="1900" dirty="0">
              <a:solidFill>
                <a:srgbClr val="09442A"/>
              </a:solidFill>
            </a:endParaRPr>
          </a:p>
          <a:p>
            <a:r>
              <a:rPr lang="en-US" sz="1900" dirty="0">
                <a:solidFill>
                  <a:srgbClr val="09442A"/>
                </a:solidFill>
              </a:rPr>
              <a:t>It is </a:t>
            </a:r>
            <a:r>
              <a:rPr lang="en-US" sz="1900" i="1" dirty="0">
                <a:solidFill>
                  <a:srgbClr val="09442A"/>
                </a:solidFill>
              </a:rPr>
              <a:t>possible</a:t>
            </a:r>
            <a:r>
              <a:rPr lang="en-US" sz="1900" dirty="0">
                <a:solidFill>
                  <a:srgbClr val="09442A"/>
                </a:solidFill>
              </a:rPr>
              <a:t> to write code that does all of this manually, but Django can take care of it all for you.</a:t>
            </a:r>
          </a:p>
        </p:txBody>
      </p:sp>
    </p:spTree>
    <p:extLst>
      <p:ext uri="{BB962C8B-B14F-4D97-AF65-F5344CB8AC3E}">
        <p14:creationId xmlns:p14="http://schemas.microsoft.com/office/powerpoint/2010/main" val="580451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takes a lot of CSS to make forms pretty</a:t>
            </a:r>
          </a:p>
        </p:txBody>
      </p:sp>
      <p:pic>
        <p:nvPicPr>
          <p:cNvPr id="7" name="Picture 6" descr="This is a login screen that is nicely styled with CSS.  The user name field is indicated as required with an asterisk and the highlighted field has a light blue outlin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763" y="1841499"/>
            <a:ext cx="8496300" cy="2489200"/>
          </a:xfrm>
          <a:prstGeom prst="rect">
            <a:avLst/>
          </a:prstGeom>
        </p:spPr>
      </p:pic>
      <p:sp>
        <p:nvSpPr>
          <p:cNvPr id="8" name="Rectangle 7"/>
          <p:cNvSpPr/>
          <p:nvPr/>
        </p:nvSpPr>
        <p:spPr>
          <a:xfrm>
            <a:off x="3054415" y="4730750"/>
            <a:ext cx="5698996" cy="369332"/>
          </a:xfrm>
          <a:prstGeom prst="rect">
            <a:avLst/>
          </a:prstGeom>
        </p:spPr>
        <p:txBody>
          <a:bodyPr wrap="none">
            <a:spAutoFit/>
          </a:bodyPr>
          <a:lstStyle/>
          <a:p>
            <a:r>
              <a:rPr lang="en-US" dirty="0">
                <a:solidFill>
                  <a:srgbClr val="FFFF00"/>
                </a:solidFill>
                <a:latin typeface="Courier" charset="0"/>
                <a:ea typeface="Courier" charset="0"/>
                <a:cs typeface="Courier" charset="0"/>
              </a:rPr>
              <a:t>https://samples.dj4e.com/accounts/login/</a:t>
            </a:r>
          </a:p>
        </p:txBody>
      </p:sp>
    </p:spTree>
    <p:extLst>
      <p:ext uri="{BB962C8B-B14F-4D97-AF65-F5344CB8AC3E}">
        <p14:creationId xmlns:p14="http://schemas.microsoft.com/office/powerpoint/2010/main" val="1275973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Handling Flow is Actually Complex</a:t>
            </a:r>
          </a:p>
        </p:txBody>
      </p:sp>
      <p:sp>
        <p:nvSpPr>
          <p:cNvPr id="3" name="Content Placeholder 2"/>
          <p:cNvSpPr>
            <a:spLocks noGrp="1"/>
          </p:cNvSpPr>
          <p:nvPr>
            <p:ph idx="1"/>
          </p:nvPr>
        </p:nvSpPr>
        <p:spPr/>
        <p:txBody>
          <a:bodyPr>
            <a:normAutofit lnSpcReduction="10000"/>
          </a:bodyPr>
          <a:lstStyle/>
          <a:p>
            <a:r>
              <a:rPr lang="en-US" dirty="0"/>
              <a:t>Create</a:t>
            </a:r>
          </a:p>
          <a:p>
            <a:pPr lvl="1"/>
            <a:r>
              <a:rPr lang="en-US" dirty="0"/>
              <a:t>Produce empty form, check post data for validity, re-display form with errors if necessary, add the data to the database, and redirect the user to a success page with a success message</a:t>
            </a:r>
          </a:p>
          <a:p>
            <a:r>
              <a:rPr lang="en-US" dirty="0"/>
              <a:t>Update</a:t>
            </a:r>
          </a:p>
          <a:p>
            <a:pPr lvl="1"/>
            <a:r>
              <a:rPr lang="en-US" dirty="0"/>
              <a:t>Load old data, form with old data, check post data for validity, re-display form with errors if necessary, update the data to the database, and redirect the user to a success page with a success message</a:t>
            </a:r>
          </a:p>
          <a:p>
            <a:r>
              <a:rPr lang="en-US" dirty="0"/>
              <a:t>Delete</a:t>
            </a:r>
          </a:p>
          <a:p>
            <a:pPr lvl="1"/>
            <a:r>
              <a:rPr lang="en-US" dirty="0"/>
              <a:t>Load old data, produce confirmation page with a POST form, receive the post data, delete the record, and redirect the user to a success page with a success message</a:t>
            </a:r>
          </a:p>
          <a:p>
            <a:endParaRPr lang="en-US" dirty="0"/>
          </a:p>
        </p:txBody>
      </p:sp>
    </p:spTree>
    <p:extLst>
      <p:ext uri="{BB962C8B-B14F-4D97-AF65-F5344CB8AC3E}">
        <p14:creationId xmlns:p14="http://schemas.microsoft.com/office/powerpoint/2010/main" val="1256369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712586" y="5157788"/>
            <a:ext cx="3155563" cy="1325563"/>
          </a:xfrm>
        </p:spPr>
        <p:txBody>
          <a:bodyPr>
            <a:normAutofit/>
          </a:bodyPr>
          <a:lstStyle/>
          <a:p>
            <a:pPr algn="r"/>
            <a:r>
              <a:rPr lang="en-US" dirty="0"/>
              <a:t>Create Form Flow</a:t>
            </a:r>
          </a:p>
        </p:txBody>
      </p:sp>
      <p:sp>
        <p:nvSpPr>
          <p:cNvPr id="48" name="Rounded Rectangle 47">
            <a:extLst>
              <a:ext uri="{C183D7F6-B498-43B3-948B-1728B52AA6E4}">
                <adec:decorative xmlns:adec="http://schemas.microsoft.com/office/drawing/2017/decorative" val="1"/>
              </a:ext>
            </a:extLst>
          </p:cNvPr>
          <p:cNvSpPr/>
          <p:nvPr/>
        </p:nvSpPr>
        <p:spPr>
          <a:xfrm>
            <a:off x="5876163" y="700359"/>
            <a:ext cx="2181995" cy="5322765"/>
          </a:xfrm>
          <a:prstGeom prst="roundRect">
            <a:avLst/>
          </a:prstGeom>
          <a:solidFill>
            <a:schemeClr val="tx1"/>
          </a:solidFill>
        </p:spPr>
        <p:style>
          <a:lnRef idx="1">
            <a:schemeClr val="dk1"/>
          </a:lnRef>
          <a:fillRef idx="2">
            <a:schemeClr val="dk1"/>
          </a:fillRef>
          <a:effectRef idx="1">
            <a:schemeClr val="dk1"/>
          </a:effectRef>
          <a:fontRef idx="minor">
            <a:schemeClr val="dk1"/>
          </a:fontRef>
        </p:style>
        <p:txBody>
          <a:bodyPr rtlCol="0" anchor="t"/>
          <a:lstStyle/>
          <a:p>
            <a:pPr algn="ctr"/>
            <a:endParaRPr lang="en-US" dirty="0">
              <a:solidFill>
                <a:schemeClr val="bg1"/>
              </a:solidFill>
            </a:endParaRPr>
          </a:p>
        </p:txBody>
      </p:sp>
      <p:sp>
        <p:nvSpPr>
          <p:cNvPr id="6" name="TextBox 5"/>
          <p:cNvSpPr txBox="1"/>
          <p:nvPr/>
        </p:nvSpPr>
        <p:spPr>
          <a:xfrm>
            <a:off x="3318225" y="828952"/>
            <a:ext cx="1367617" cy="369332"/>
          </a:xfrm>
          <a:prstGeom prst="rect">
            <a:avLst/>
          </a:prstGeom>
          <a:noFill/>
        </p:spPr>
        <p:txBody>
          <a:bodyPr wrap="none" rtlCol="0">
            <a:spAutoFit/>
          </a:bodyPr>
          <a:lstStyle/>
          <a:p>
            <a:pPr algn="ctr"/>
            <a:r>
              <a:rPr lang="en-US" dirty="0"/>
              <a:t>GET Request</a:t>
            </a:r>
          </a:p>
        </p:txBody>
      </p:sp>
      <p:cxnSp>
        <p:nvCxnSpPr>
          <p:cNvPr id="26" name="Elbow Connector 25">
            <a:extLst>
              <a:ext uri="{C183D7F6-B498-43B3-948B-1728B52AA6E4}">
                <adec:decorative xmlns:adec="http://schemas.microsoft.com/office/drawing/2017/decorative" val="1"/>
              </a:ext>
            </a:extLst>
          </p:cNvPr>
          <p:cNvCxnSpPr>
            <a:stCxn id="6" idx="3"/>
            <a:endCxn id="8" idx="3"/>
          </p:cNvCxnSpPr>
          <p:nvPr/>
        </p:nvCxnSpPr>
        <p:spPr>
          <a:xfrm flipH="1">
            <a:off x="4664684" y="1013618"/>
            <a:ext cx="21158" cy="760722"/>
          </a:xfrm>
          <a:prstGeom prst="bentConnector3">
            <a:avLst>
              <a:gd name="adj1" fmla="val -11074534"/>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339385" y="1589674"/>
            <a:ext cx="1325299" cy="369332"/>
          </a:xfrm>
          <a:prstGeom prst="rect">
            <a:avLst/>
          </a:prstGeom>
          <a:noFill/>
        </p:spPr>
        <p:txBody>
          <a:bodyPr wrap="none" rtlCol="0">
            <a:spAutoFit/>
          </a:bodyPr>
          <a:lstStyle/>
          <a:p>
            <a:pPr algn="ctr"/>
            <a:r>
              <a:rPr lang="en-US" dirty="0"/>
              <a:t>Empty Form</a:t>
            </a:r>
          </a:p>
        </p:txBody>
      </p:sp>
      <p:cxnSp>
        <p:nvCxnSpPr>
          <p:cNvPr id="46" name="Straight Arrow Connector 45">
            <a:extLst>
              <a:ext uri="{C183D7F6-B498-43B3-948B-1728B52AA6E4}">
                <adec:decorative xmlns:adec="http://schemas.microsoft.com/office/drawing/2017/decorative" val="1"/>
              </a:ext>
            </a:extLst>
          </p:cNvPr>
          <p:cNvCxnSpPr>
            <a:stCxn id="8" idx="1"/>
            <a:endCxn id="44" idx="3"/>
          </p:cNvCxnSpPr>
          <p:nvPr/>
        </p:nvCxnSpPr>
        <p:spPr>
          <a:xfrm flipH="1" flipV="1">
            <a:off x="2222704" y="1381582"/>
            <a:ext cx="1116681" cy="392758"/>
          </a:xfrm>
          <a:prstGeom prst="straightConnector1">
            <a:avLst/>
          </a:prstGeom>
          <a:ln w="38100">
            <a:solidFill>
              <a:srgbClr val="00FDFF"/>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416073" y="1196916"/>
            <a:ext cx="806631" cy="369332"/>
          </a:xfrm>
          <a:prstGeom prst="rect">
            <a:avLst/>
          </a:prstGeom>
          <a:noFill/>
        </p:spPr>
        <p:txBody>
          <a:bodyPr wrap="none" rtlCol="0">
            <a:spAutoFit/>
          </a:bodyPr>
          <a:lstStyle/>
          <a:p>
            <a:r>
              <a:rPr lang="en-US" dirty="0"/>
              <a:t>Cancel</a:t>
            </a:r>
          </a:p>
        </p:txBody>
      </p:sp>
      <p:cxnSp>
        <p:nvCxnSpPr>
          <p:cNvPr id="38" name="Elbow Connector 37">
            <a:extLst>
              <a:ext uri="{C183D7F6-B498-43B3-948B-1728B52AA6E4}">
                <adec:decorative xmlns:adec="http://schemas.microsoft.com/office/drawing/2017/decorative" val="1"/>
              </a:ext>
            </a:extLst>
          </p:cNvPr>
          <p:cNvCxnSpPr>
            <a:stCxn id="8" idx="1"/>
            <a:endCxn id="9" idx="0"/>
          </p:cNvCxnSpPr>
          <p:nvPr/>
        </p:nvCxnSpPr>
        <p:spPr>
          <a:xfrm rot="10800000" flipV="1">
            <a:off x="2021305" y="1774340"/>
            <a:ext cx="1318081" cy="252842"/>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433418" y="2027182"/>
            <a:ext cx="1175771" cy="369332"/>
          </a:xfrm>
          <a:prstGeom prst="rect">
            <a:avLst/>
          </a:prstGeom>
          <a:noFill/>
        </p:spPr>
        <p:txBody>
          <a:bodyPr wrap="none" rtlCol="0">
            <a:spAutoFit/>
          </a:bodyPr>
          <a:lstStyle/>
          <a:p>
            <a:r>
              <a:rPr lang="en-US"/>
              <a:t>Enter </a:t>
            </a:r>
            <a:r>
              <a:rPr lang="en-US" dirty="0"/>
              <a:t>Data</a:t>
            </a:r>
          </a:p>
        </p:txBody>
      </p:sp>
      <p:cxnSp>
        <p:nvCxnSpPr>
          <p:cNvPr id="41" name="Elbow Connector 40">
            <a:extLst>
              <a:ext uri="{C183D7F6-B498-43B3-948B-1728B52AA6E4}">
                <adec:decorative xmlns:adec="http://schemas.microsoft.com/office/drawing/2017/decorative" val="1"/>
              </a:ext>
            </a:extLst>
          </p:cNvPr>
          <p:cNvCxnSpPr>
            <a:stCxn id="9" idx="2"/>
            <a:endCxn id="11" idx="1"/>
          </p:cNvCxnSpPr>
          <p:nvPr/>
        </p:nvCxnSpPr>
        <p:spPr>
          <a:xfrm rot="16200000" flipH="1">
            <a:off x="2497053" y="1920764"/>
            <a:ext cx="224266" cy="1175765"/>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197069" y="2436114"/>
            <a:ext cx="1609929" cy="369332"/>
          </a:xfrm>
          <a:prstGeom prst="rect">
            <a:avLst/>
          </a:prstGeom>
          <a:noFill/>
        </p:spPr>
        <p:txBody>
          <a:bodyPr wrap="none" rtlCol="0">
            <a:spAutoFit/>
          </a:bodyPr>
          <a:lstStyle/>
          <a:p>
            <a:pPr algn="ctr"/>
            <a:r>
              <a:rPr lang="en-US" dirty="0"/>
              <a:t>POST with data</a:t>
            </a:r>
          </a:p>
        </p:txBody>
      </p:sp>
      <p:cxnSp>
        <p:nvCxnSpPr>
          <p:cNvPr id="49" name="Elbow Connector 48">
            <a:extLst>
              <a:ext uri="{C183D7F6-B498-43B3-948B-1728B52AA6E4}">
                <adec:decorative xmlns:adec="http://schemas.microsoft.com/office/drawing/2017/decorative" val="1"/>
              </a:ext>
            </a:extLst>
          </p:cNvPr>
          <p:cNvCxnSpPr>
            <a:stCxn id="11" idx="3"/>
            <a:endCxn id="15" idx="0"/>
          </p:cNvCxnSpPr>
          <p:nvPr/>
        </p:nvCxnSpPr>
        <p:spPr>
          <a:xfrm>
            <a:off x="4806998" y="2620780"/>
            <a:ext cx="2160162" cy="308708"/>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252573" y="2929488"/>
            <a:ext cx="1429174" cy="369332"/>
          </a:xfrm>
          <a:prstGeom prst="rect">
            <a:avLst/>
          </a:prstGeom>
          <a:noFill/>
        </p:spPr>
        <p:txBody>
          <a:bodyPr wrap="none" rtlCol="0">
            <a:spAutoFit/>
          </a:bodyPr>
          <a:lstStyle/>
          <a:p>
            <a:pPr algn="ctr"/>
            <a:r>
              <a:rPr lang="en-US" dirty="0">
                <a:solidFill>
                  <a:schemeClr val="bg1"/>
                </a:solidFill>
              </a:rPr>
              <a:t>Validate Data</a:t>
            </a:r>
          </a:p>
        </p:txBody>
      </p:sp>
      <p:sp>
        <p:nvSpPr>
          <p:cNvPr id="23" name="Rectangle 22"/>
          <p:cNvSpPr/>
          <p:nvPr/>
        </p:nvSpPr>
        <p:spPr>
          <a:xfrm>
            <a:off x="6585740" y="3314144"/>
            <a:ext cx="762837" cy="369332"/>
          </a:xfrm>
          <a:prstGeom prst="rect">
            <a:avLst/>
          </a:prstGeom>
        </p:spPr>
        <p:txBody>
          <a:bodyPr wrap="none">
            <a:spAutoFit/>
          </a:bodyPr>
          <a:lstStyle/>
          <a:p>
            <a:pPr algn="ctr"/>
            <a:r>
              <a:rPr lang="en-US">
                <a:solidFill>
                  <a:schemeClr val="bg1"/>
                </a:solidFill>
              </a:rPr>
              <a:t>Error?</a:t>
            </a:r>
            <a:endParaRPr lang="en-US" dirty="0">
              <a:solidFill>
                <a:schemeClr val="bg1"/>
              </a:solidFill>
            </a:endParaRPr>
          </a:p>
        </p:txBody>
      </p:sp>
      <p:cxnSp>
        <p:nvCxnSpPr>
          <p:cNvPr id="53" name="Elbow Connector 52">
            <a:extLst>
              <a:ext uri="{C183D7F6-B498-43B3-948B-1728B52AA6E4}">
                <adec:decorative xmlns:adec="http://schemas.microsoft.com/office/drawing/2017/decorative" val="1"/>
              </a:ext>
            </a:extLst>
          </p:cNvPr>
          <p:cNvCxnSpPr>
            <a:stCxn id="23" idx="1"/>
            <a:endCxn id="16" idx="3"/>
          </p:cNvCxnSpPr>
          <p:nvPr/>
        </p:nvCxnSpPr>
        <p:spPr>
          <a:xfrm rot="10800000" flipV="1">
            <a:off x="4982526" y="3498809"/>
            <a:ext cx="1603214" cy="991"/>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021540" y="3315135"/>
            <a:ext cx="1960986" cy="369332"/>
          </a:xfrm>
          <a:prstGeom prst="rect">
            <a:avLst/>
          </a:prstGeom>
          <a:noFill/>
        </p:spPr>
        <p:txBody>
          <a:bodyPr wrap="none" rtlCol="0">
            <a:spAutoFit/>
          </a:bodyPr>
          <a:lstStyle/>
          <a:p>
            <a:pPr algn="ctr"/>
            <a:r>
              <a:rPr lang="en-US" dirty="0"/>
              <a:t>Form with old data</a:t>
            </a:r>
          </a:p>
        </p:txBody>
      </p:sp>
      <p:cxnSp>
        <p:nvCxnSpPr>
          <p:cNvPr id="76" name="Straight Arrow Connector 75">
            <a:extLst>
              <a:ext uri="{C183D7F6-B498-43B3-948B-1728B52AA6E4}">
                <adec:decorative xmlns:adec="http://schemas.microsoft.com/office/drawing/2017/decorative" val="1"/>
              </a:ext>
            </a:extLst>
          </p:cNvPr>
          <p:cNvCxnSpPr>
            <a:stCxn id="16" idx="1"/>
          </p:cNvCxnSpPr>
          <p:nvPr/>
        </p:nvCxnSpPr>
        <p:spPr>
          <a:xfrm flipH="1">
            <a:off x="2076654" y="3499801"/>
            <a:ext cx="944886" cy="446826"/>
          </a:xfrm>
          <a:prstGeom prst="straightConnector1">
            <a:avLst/>
          </a:prstGeom>
          <a:ln w="38100">
            <a:solidFill>
              <a:srgbClr val="00FDFF"/>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270022" y="3761961"/>
            <a:ext cx="806631" cy="369332"/>
          </a:xfrm>
          <a:prstGeom prst="rect">
            <a:avLst/>
          </a:prstGeom>
          <a:noFill/>
        </p:spPr>
        <p:txBody>
          <a:bodyPr wrap="square" rtlCol="0">
            <a:spAutoFit/>
          </a:bodyPr>
          <a:lstStyle/>
          <a:p>
            <a:r>
              <a:rPr lang="en-US" dirty="0"/>
              <a:t>Cancel</a:t>
            </a:r>
          </a:p>
        </p:txBody>
      </p:sp>
      <p:cxnSp>
        <p:nvCxnSpPr>
          <p:cNvPr id="57" name="Elbow Connector 56">
            <a:extLst>
              <a:ext uri="{C183D7F6-B498-43B3-948B-1728B52AA6E4}">
                <adec:decorative xmlns:adec="http://schemas.microsoft.com/office/drawing/2017/decorative" val="1"/>
              </a:ext>
            </a:extLst>
          </p:cNvPr>
          <p:cNvCxnSpPr>
            <a:stCxn id="16" idx="1"/>
            <a:endCxn id="17" idx="2"/>
          </p:cNvCxnSpPr>
          <p:nvPr/>
        </p:nvCxnSpPr>
        <p:spPr>
          <a:xfrm rot="10800000">
            <a:off x="2020212" y="3220993"/>
            <a:ext cx="1001328" cy="278809"/>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554379" y="2851660"/>
            <a:ext cx="931665" cy="369332"/>
          </a:xfrm>
          <a:prstGeom prst="rect">
            <a:avLst/>
          </a:prstGeom>
          <a:noFill/>
        </p:spPr>
        <p:txBody>
          <a:bodyPr wrap="none" rtlCol="0">
            <a:spAutoFit/>
          </a:bodyPr>
          <a:lstStyle/>
          <a:p>
            <a:r>
              <a:rPr lang="en-US" dirty="0"/>
              <a:t>Fix Data</a:t>
            </a:r>
          </a:p>
        </p:txBody>
      </p:sp>
      <p:cxnSp>
        <p:nvCxnSpPr>
          <p:cNvPr id="60" name="Elbow Connector 59">
            <a:extLst>
              <a:ext uri="{C183D7F6-B498-43B3-948B-1728B52AA6E4}">
                <adec:decorative xmlns:adec="http://schemas.microsoft.com/office/drawing/2017/decorative" val="1"/>
              </a:ext>
            </a:extLst>
          </p:cNvPr>
          <p:cNvCxnSpPr>
            <a:stCxn id="17" idx="0"/>
            <a:endCxn id="11" idx="1"/>
          </p:cNvCxnSpPr>
          <p:nvPr/>
        </p:nvCxnSpPr>
        <p:spPr>
          <a:xfrm rot="5400000" flipH="1" flipV="1">
            <a:off x="2493200" y="2147792"/>
            <a:ext cx="230880" cy="1176857"/>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C183D7F6-B498-43B3-948B-1728B52AA6E4}">
                <adec:decorative xmlns:adec="http://schemas.microsoft.com/office/drawing/2017/decorative" val="1"/>
              </a:ext>
            </a:extLst>
          </p:cNvPr>
          <p:cNvCxnSpPr>
            <a:endCxn id="18" idx="0"/>
          </p:cNvCxnSpPr>
          <p:nvPr/>
        </p:nvCxnSpPr>
        <p:spPr>
          <a:xfrm rot="16200000" flipH="1">
            <a:off x="6860186" y="3790393"/>
            <a:ext cx="213893" cy="62"/>
          </a:xfrm>
          <a:prstGeom prst="bentConnector3">
            <a:avLst>
              <a:gd name="adj1" fmla="val 50000"/>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382836" y="3897371"/>
            <a:ext cx="1168653" cy="369332"/>
          </a:xfrm>
          <a:prstGeom prst="rect">
            <a:avLst/>
          </a:prstGeom>
          <a:noFill/>
        </p:spPr>
        <p:txBody>
          <a:bodyPr wrap="none" rtlCol="0">
            <a:spAutoFit/>
          </a:bodyPr>
          <a:lstStyle/>
          <a:p>
            <a:pPr algn="ctr"/>
            <a:r>
              <a:rPr lang="en-US" dirty="0">
                <a:solidFill>
                  <a:schemeClr val="bg1"/>
                </a:solidFill>
              </a:rPr>
              <a:t>Store Data</a:t>
            </a:r>
          </a:p>
        </p:txBody>
      </p:sp>
      <p:cxnSp>
        <p:nvCxnSpPr>
          <p:cNvPr id="63" name="Straight Arrow Connector 62">
            <a:extLst>
              <a:ext uri="{C183D7F6-B498-43B3-948B-1728B52AA6E4}">
                <adec:decorative xmlns:adec="http://schemas.microsoft.com/office/drawing/2017/decorative" val="1"/>
              </a:ext>
            </a:extLst>
          </p:cNvPr>
          <p:cNvCxnSpPr>
            <a:stCxn id="18" idx="3"/>
            <a:endCxn id="32" idx="2"/>
          </p:cNvCxnSpPr>
          <p:nvPr/>
        </p:nvCxnSpPr>
        <p:spPr>
          <a:xfrm flipV="1">
            <a:off x="7551489" y="2948033"/>
            <a:ext cx="1776722" cy="11340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Can 31"/>
          <p:cNvSpPr/>
          <p:nvPr/>
        </p:nvSpPr>
        <p:spPr>
          <a:xfrm>
            <a:off x="9328211" y="2211302"/>
            <a:ext cx="1257300" cy="147346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model</a:t>
            </a:r>
          </a:p>
        </p:txBody>
      </p:sp>
      <p:cxnSp>
        <p:nvCxnSpPr>
          <p:cNvPr id="94" name="Curved Connector 93">
            <a:extLst>
              <a:ext uri="{C183D7F6-B498-43B3-948B-1728B52AA6E4}">
                <adec:decorative xmlns:adec="http://schemas.microsoft.com/office/drawing/2017/decorative" val="1"/>
              </a:ext>
            </a:extLst>
          </p:cNvPr>
          <p:cNvCxnSpPr>
            <a:stCxn id="18" idx="3"/>
            <a:endCxn id="74" idx="3"/>
          </p:cNvCxnSpPr>
          <p:nvPr/>
        </p:nvCxnSpPr>
        <p:spPr>
          <a:xfrm flipH="1">
            <a:off x="7547711" y="4082037"/>
            <a:ext cx="3778" cy="1200554"/>
          </a:xfrm>
          <a:prstGeom prst="curvedConnector3">
            <a:avLst>
              <a:gd name="adj1" fmla="val -9076231"/>
            </a:avLst>
          </a:prstGeom>
          <a:ln w="38100">
            <a:solidFill>
              <a:srgbClr val="FF7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970415" y="4517230"/>
            <a:ext cx="1009956" cy="369332"/>
          </a:xfrm>
          <a:prstGeom prst="rect">
            <a:avLst/>
          </a:prstGeom>
          <a:solidFill>
            <a:schemeClr val="tx1"/>
          </a:solidFill>
          <a:ln>
            <a:solidFill>
              <a:srgbClr val="FF7F00"/>
            </a:solidFill>
          </a:ln>
        </p:spPr>
        <p:txBody>
          <a:bodyPr wrap="none" rtlCol="0">
            <a:spAutoFit/>
          </a:bodyPr>
          <a:lstStyle/>
          <a:p>
            <a:pPr algn="ctr"/>
            <a:r>
              <a:rPr lang="en-US">
                <a:solidFill>
                  <a:schemeClr val="bg1"/>
                </a:solidFill>
              </a:rPr>
              <a:t>Message</a:t>
            </a:r>
            <a:endParaRPr lang="en-US" dirty="0">
              <a:solidFill>
                <a:schemeClr val="bg1"/>
              </a:solidFill>
            </a:endParaRPr>
          </a:p>
        </p:txBody>
      </p:sp>
      <p:cxnSp>
        <p:nvCxnSpPr>
          <p:cNvPr id="71" name="Elbow Connector 70">
            <a:extLst>
              <a:ext uri="{C183D7F6-B498-43B3-948B-1728B52AA6E4}">
                <adec:decorative xmlns:adec="http://schemas.microsoft.com/office/drawing/2017/decorative" val="1"/>
              </a:ext>
            </a:extLst>
          </p:cNvPr>
          <p:cNvCxnSpPr>
            <a:stCxn id="18" idx="2"/>
            <a:endCxn id="19" idx="3"/>
          </p:cNvCxnSpPr>
          <p:nvPr/>
        </p:nvCxnSpPr>
        <p:spPr>
          <a:xfrm rot="5400000">
            <a:off x="5970442" y="3493814"/>
            <a:ext cx="223833" cy="1769610"/>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806514" y="4305870"/>
            <a:ext cx="2391039" cy="369332"/>
          </a:xfrm>
          <a:prstGeom prst="rect">
            <a:avLst/>
          </a:prstGeom>
          <a:noFill/>
        </p:spPr>
        <p:txBody>
          <a:bodyPr wrap="none" rtlCol="0">
            <a:spAutoFit/>
          </a:bodyPr>
          <a:lstStyle/>
          <a:p>
            <a:pPr algn="ctr"/>
            <a:r>
              <a:rPr lang="en-US" dirty="0"/>
              <a:t>Redirect to success URL</a:t>
            </a:r>
          </a:p>
        </p:txBody>
      </p:sp>
      <p:cxnSp>
        <p:nvCxnSpPr>
          <p:cNvPr id="79" name="Elbow Connector 78">
            <a:extLst>
              <a:ext uri="{C183D7F6-B498-43B3-948B-1728B52AA6E4}">
                <adec:decorative xmlns:adec="http://schemas.microsoft.com/office/drawing/2017/decorative" val="1"/>
              </a:ext>
            </a:extLst>
          </p:cNvPr>
          <p:cNvCxnSpPr>
            <a:stCxn id="19" idx="1"/>
            <a:endCxn id="20" idx="1"/>
          </p:cNvCxnSpPr>
          <p:nvPr/>
        </p:nvCxnSpPr>
        <p:spPr>
          <a:xfrm rot="10800000" flipH="1" flipV="1">
            <a:off x="2806513" y="4490535"/>
            <a:ext cx="328935" cy="422723"/>
          </a:xfrm>
          <a:prstGeom prst="bentConnector3">
            <a:avLst>
              <a:gd name="adj1" fmla="val -69497"/>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135449" y="4728593"/>
            <a:ext cx="1733168" cy="369332"/>
          </a:xfrm>
          <a:prstGeom prst="rect">
            <a:avLst/>
          </a:prstGeom>
          <a:noFill/>
        </p:spPr>
        <p:txBody>
          <a:bodyPr wrap="none" rtlCol="0">
            <a:spAutoFit/>
          </a:bodyPr>
          <a:lstStyle/>
          <a:p>
            <a:pPr algn="ctr"/>
            <a:r>
              <a:rPr lang="en-US" dirty="0"/>
              <a:t>GET success URL</a:t>
            </a:r>
          </a:p>
        </p:txBody>
      </p:sp>
      <p:cxnSp>
        <p:nvCxnSpPr>
          <p:cNvPr id="83" name="Elbow Connector 82">
            <a:extLst>
              <a:ext uri="{C183D7F6-B498-43B3-948B-1728B52AA6E4}">
                <adec:decorative xmlns:adec="http://schemas.microsoft.com/office/drawing/2017/decorative" val="1"/>
              </a:ext>
            </a:extLst>
          </p:cNvPr>
          <p:cNvCxnSpPr>
            <a:stCxn id="20" idx="3"/>
            <a:endCxn id="74" idx="0"/>
          </p:cNvCxnSpPr>
          <p:nvPr/>
        </p:nvCxnSpPr>
        <p:spPr>
          <a:xfrm>
            <a:off x="4868617" y="4913259"/>
            <a:ext cx="2076846" cy="184666"/>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6343214" y="5097925"/>
            <a:ext cx="1204497" cy="369332"/>
          </a:xfrm>
          <a:prstGeom prst="rect">
            <a:avLst/>
          </a:prstGeom>
          <a:noFill/>
        </p:spPr>
        <p:txBody>
          <a:bodyPr wrap="none" rtlCol="0">
            <a:spAutoFit/>
          </a:bodyPr>
          <a:lstStyle/>
          <a:p>
            <a:pPr algn="ctr"/>
            <a:r>
              <a:rPr lang="en-US" dirty="0">
                <a:solidFill>
                  <a:schemeClr val="bg1"/>
                </a:solidFill>
              </a:rPr>
              <a:t>Make Page</a:t>
            </a:r>
          </a:p>
        </p:txBody>
      </p:sp>
      <p:cxnSp>
        <p:nvCxnSpPr>
          <p:cNvPr id="88" name="Elbow Connector 87">
            <a:extLst>
              <a:ext uri="{C183D7F6-B498-43B3-948B-1728B52AA6E4}">
                <adec:decorative xmlns:adec="http://schemas.microsoft.com/office/drawing/2017/decorative" val="1"/>
              </a:ext>
            </a:extLst>
          </p:cNvPr>
          <p:cNvCxnSpPr>
            <a:stCxn id="74" idx="2"/>
            <a:endCxn id="21" idx="3"/>
          </p:cNvCxnSpPr>
          <p:nvPr/>
        </p:nvCxnSpPr>
        <p:spPr>
          <a:xfrm rot="5400000">
            <a:off x="5842715" y="4549971"/>
            <a:ext cx="185462" cy="2020035"/>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078639" y="5468053"/>
            <a:ext cx="1846789" cy="369332"/>
          </a:xfrm>
          <a:prstGeom prst="rect">
            <a:avLst/>
          </a:prstGeom>
          <a:noFill/>
        </p:spPr>
        <p:txBody>
          <a:bodyPr wrap="none" rtlCol="0">
            <a:spAutoFit/>
          </a:bodyPr>
          <a:lstStyle/>
          <a:p>
            <a:pPr algn="ctr"/>
            <a:r>
              <a:rPr lang="en-US" dirty="0"/>
              <a:t>Success page Yay!</a:t>
            </a:r>
          </a:p>
        </p:txBody>
      </p:sp>
    </p:spTree>
    <p:extLst>
      <p:ext uri="{BB962C8B-B14F-4D97-AF65-F5344CB8AC3E}">
        <p14:creationId xmlns:p14="http://schemas.microsoft.com/office/powerpoint/2010/main" val="1826556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2471" y="5157788"/>
            <a:ext cx="2725678" cy="1325563"/>
          </a:xfrm>
        </p:spPr>
        <p:txBody>
          <a:bodyPr>
            <a:normAutofit/>
          </a:bodyPr>
          <a:lstStyle/>
          <a:p>
            <a:pPr algn="r"/>
            <a:r>
              <a:rPr lang="en-US" dirty="0"/>
              <a:t>Edit Form Flow</a:t>
            </a:r>
          </a:p>
        </p:txBody>
      </p:sp>
      <p:sp>
        <p:nvSpPr>
          <p:cNvPr id="5" name="Rounded Rectangle 4">
            <a:extLst>
              <a:ext uri="{C183D7F6-B498-43B3-948B-1728B52AA6E4}">
                <adec:decorative xmlns:adec="http://schemas.microsoft.com/office/drawing/2017/decorative" val="1"/>
              </a:ext>
            </a:extLst>
          </p:cNvPr>
          <p:cNvSpPr/>
          <p:nvPr/>
        </p:nvSpPr>
        <p:spPr>
          <a:xfrm>
            <a:off x="5876163" y="500063"/>
            <a:ext cx="2181995" cy="5594499"/>
          </a:xfrm>
          <a:prstGeom prst="roundRect">
            <a:avLst/>
          </a:prstGeom>
          <a:solidFill>
            <a:schemeClr val="tx1"/>
          </a:solidFill>
        </p:spPr>
        <p:style>
          <a:lnRef idx="1">
            <a:schemeClr val="dk1"/>
          </a:lnRef>
          <a:fillRef idx="2">
            <a:schemeClr val="dk1"/>
          </a:fillRef>
          <a:effectRef idx="1">
            <a:schemeClr val="dk1"/>
          </a:effectRef>
          <a:fontRef idx="minor">
            <a:schemeClr val="dk1"/>
          </a:fontRef>
        </p:style>
        <p:txBody>
          <a:bodyPr rtlCol="0" anchor="t"/>
          <a:lstStyle/>
          <a:p>
            <a:pPr algn="ctr"/>
            <a:endParaRPr lang="en-US" dirty="0">
              <a:solidFill>
                <a:schemeClr val="bg1"/>
              </a:solidFill>
            </a:endParaRPr>
          </a:p>
        </p:txBody>
      </p:sp>
      <p:sp>
        <p:nvSpPr>
          <p:cNvPr id="6" name="TextBox 5"/>
          <p:cNvSpPr txBox="1"/>
          <p:nvPr/>
        </p:nvSpPr>
        <p:spPr>
          <a:xfrm>
            <a:off x="3318225" y="486044"/>
            <a:ext cx="1367617" cy="369332"/>
          </a:xfrm>
          <a:prstGeom prst="rect">
            <a:avLst/>
          </a:prstGeom>
          <a:noFill/>
        </p:spPr>
        <p:txBody>
          <a:bodyPr wrap="none" rtlCol="0">
            <a:spAutoFit/>
          </a:bodyPr>
          <a:lstStyle/>
          <a:p>
            <a:pPr algn="ctr"/>
            <a:r>
              <a:rPr lang="en-US" dirty="0"/>
              <a:t>GET Request</a:t>
            </a:r>
          </a:p>
        </p:txBody>
      </p:sp>
      <p:sp>
        <p:nvSpPr>
          <p:cNvPr id="13" name="TextBox 12"/>
          <p:cNvSpPr txBox="1"/>
          <p:nvPr/>
        </p:nvSpPr>
        <p:spPr>
          <a:xfrm>
            <a:off x="6404345" y="869664"/>
            <a:ext cx="1125628" cy="369332"/>
          </a:xfrm>
          <a:prstGeom prst="rect">
            <a:avLst/>
          </a:prstGeom>
          <a:noFill/>
        </p:spPr>
        <p:txBody>
          <a:bodyPr wrap="none" rtlCol="0">
            <a:spAutoFit/>
          </a:bodyPr>
          <a:lstStyle/>
          <a:p>
            <a:pPr algn="ctr"/>
            <a:r>
              <a:rPr lang="en-US" dirty="0">
                <a:solidFill>
                  <a:schemeClr val="bg1"/>
                </a:solidFill>
              </a:rPr>
              <a:t>Load Data</a:t>
            </a:r>
          </a:p>
        </p:txBody>
      </p:sp>
      <p:sp>
        <p:nvSpPr>
          <p:cNvPr id="22" name="TextBox 21"/>
          <p:cNvSpPr txBox="1"/>
          <p:nvPr/>
        </p:nvSpPr>
        <p:spPr>
          <a:xfrm>
            <a:off x="6585740" y="1175850"/>
            <a:ext cx="762838" cy="369332"/>
          </a:xfrm>
          <a:prstGeom prst="rect">
            <a:avLst/>
          </a:prstGeom>
          <a:noFill/>
        </p:spPr>
        <p:txBody>
          <a:bodyPr wrap="none" rtlCol="0">
            <a:spAutoFit/>
          </a:bodyPr>
          <a:lstStyle/>
          <a:p>
            <a:pPr algn="ctr"/>
            <a:r>
              <a:rPr lang="en-US" dirty="0">
                <a:solidFill>
                  <a:schemeClr val="bg1"/>
                </a:solidFill>
              </a:rPr>
              <a:t>Error?</a:t>
            </a:r>
          </a:p>
        </p:txBody>
      </p:sp>
      <p:sp>
        <p:nvSpPr>
          <p:cNvPr id="14" name="TextBox 13"/>
          <p:cNvSpPr txBox="1"/>
          <p:nvPr/>
        </p:nvSpPr>
        <p:spPr>
          <a:xfrm>
            <a:off x="3195981" y="1180736"/>
            <a:ext cx="1612108" cy="369332"/>
          </a:xfrm>
          <a:prstGeom prst="rect">
            <a:avLst/>
          </a:prstGeom>
          <a:noFill/>
        </p:spPr>
        <p:txBody>
          <a:bodyPr wrap="none" rtlCol="0">
            <a:spAutoFit/>
          </a:bodyPr>
          <a:lstStyle/>
          <a:p>
            <a:pPr algn="ctr"/>
            <a:r>
              <a:rPr lang="en-US" dirty="0"/>
              <a:t>Error  404 Page</a:t>
            </a:r>
          </a:p>
        </p:txBody>
      </p:sp>
      <p:sp>
        <p:nvSpPr>
          <p:cNvPr id="8" name="TextBox 7"/>
          <p:cNvSpPr txBox="1"/>
          <p:nvPr/>
        </p:nvSpPr>
        <p:spPr>
          <a:xfrm>
            <a:off x="3021540" y="1632532"/>
            <a:ext cx="1960986" cy="369332"/>
          </a:xfrm>
          <a:prstGeom prst="rect">
            <a:avLst/>
          </a:prstGeom>
          <a:noFill/>
        </p:spPr>
        <p:txBody>
          <a:bodyPr wrap="none" rtlCol="0">
            <a:spAutoFit/>
          </a:bodyPr>
          <a:lstStyle/>
          <a:p>
            <a:pPr algn="ctr"/>
            <a:r>
              <a:rPr lang="en-US" dirty="0"/>
              <a:t>Form with old data</a:t>
            </a:r>
          </a:p>
        </p:txBody>
      </p:sp>
      <p:sp>
        <p:nvSpPr>
          <p:cNvPr id="44" name="TextBox 43"/>
          <p:cNvSpPr txBox="1"/>
          <p:nvPr/>
        </p:nvSpPr>
        <p:spPr>
          <a:xfrm>
            <a:off x="1416073" y="1239774"/>
            <a:ext cx="806631" cy="369332"/>
          </a:xfrm>
          <a:prstGeom prst="rect">
            <a:avLst/>
          </a:prstGeom>
          <a:noFill/>
        </p:spPr>
        <p:txBody>
          <a:bodyPr wrap="none" rtlCol="0">
            <a:spAutoFit/>
          </a:bodyPr>
          <a:lstStyle/>
          <a:p>
            <a:r>
              <a:rPr lang="en-US" dirty="0"/>
              <a:t>Cancel</a:t>
            </a:r>
          </a:p>
        </p:txBody>
      </p:sp>
      <p:sp>
        <p:nvSpPr>
          <p:cNvPr id="9" name="TextBox 8"/>
          <p:cNvSpPr txBox="1"/>
          <p:nvPr/>
        </p:nvSpPr>
        <p:spPr>
          <a:xfrm>
            <a:off x="1490570" y="2070040"/>
            <a:ext cx="1034257" cy="369332"/>
          </a:xfrm>
          <a:prstGeom prst="rect">
            <a:avLst/>
          </a:prstGeom>
          <a:noFill/>
        </p:spPr>
        <p:txBody>
          <a:bodyPr wrap="none" rtlCol="0">
            <a:spAutoFit/>
          </a:bodyPr>
          <a:lstStyle/>
          <a:p>
            <a:r>
              <a:rPr lang="en-US" dirty="0"/>
              <a:t>Edit Data</a:t>
            </a:r>
          </a:p>
        </p:txBody>
      </p:sp>
      <p:sp>
        <p:nvSpPr>
          <p:cNvPr id="11" name="TextBox 10"/>
          <p:cNvSpPr txBox="1"/>
          <p:nvPr/>
        </p:nvSpPr>
        <p:spPr>
          <a:xfrm>
            <a:off x="3197069" y="2478972"/>
            <a:ext cx="1609929" cy="369332"/>
          </a:xfrm>
          <a:prstGeom prst="rect">
            <a:avLst/>
          </a:prstGeom>
          <a:noFill/>
        </p:spPr>
        <p:txBody>
          <a:bodyPr wrap="none" rtlCol="0">
            <a:spAutoFit/>
          </a:bodyPr>
          <a:lstStyle/>
          <a:p>
            <a:pPr algn="ctr"/>
            <a:r>
              <a:rPr lang="en-US" dirty="0"/>
              <a:t>POST with data</a:t>
            </a:r>
          </a:p>
        </p:txBody>
      </p:sp>
      <p:sp>
        <p:nvSpPr>
          <p:cNvPr id="15" name="TextBox 14"/>
          <p:cNvSpPr txBox="1"/>
          <p:nvPr/>
        </p:nvSpPr>
        <p:spPr>
          <a:xfrm>
            <a:off x="6252573" y="2972346"/>
            <a:ext cx="1429174" cy="369332"/>
          </a:xfrm>
          <a:prstGeom prst="rect">
            <a:avLst/>
          </a:prstGeom>
          <a:noFill/>
        </p:spPr>
        <p:txBody>
          <a:bodyPr wrap="none" rtlCol="0">
            <a:spAutoFit/>
          </a:bodyPr>
          <a:lstStyle/>
          <a:p>
            <a:pPr algn="ctr"/>
            <a:r>
              <a:rPr lang="en-US" dirty="0">
                <a:solidFill>
                  <a:schemeClr val="bg1"/>
                </a:solidFill>
              </a:rPr>
              <a:t>Validate Data</a:t>
            </a:r>
          </a:p>
        </p:txBody>
      </p:sp>
      <p:sp>
        <p:nvSpPr>
          <p:cNvPr id="23" name="Rectangle 22"/>
          <p:cNvSpPr/>
          <p:nvPr/>
        </p:nvSpPr>
        <p:spPr>
          <a:xfrm>
            <a:off x="6585740" y="3357002"/>
            <a:ext cx="762837" cy="369332"/>
          </a:xfrm>
          <a:prstGeom prst="rect">
            <a:avLst/>
          </a:prstGeom>
        </p:spPr>
        <p:txBody>
          <a:bodyPr wrap="none">
            <a:spAutoFit/>
          </a:bodyPr>
          <a:lstStyle/>
          <a:p>
            <a:pPr algn="ctr"/>
            <a:r>
              <a:rPr lang="en-US" dirty="0">
                <a:solidFill>
                  <a:schemeClr val="bg1"/>
                </a:solidFill>
              </a:rPr>
              <a:t>Error?</a:t>
            </a:r>
          </a:p>
        </p:txBody>
      </p:sp>
      <p:sp>
        <p:nvSpPr>
          <p:cNvPr id="16" name="TextBox 15"/>
          <p:cNvSpPr txBox="1"/>
          <p:nvPr/>
        </p:nvSpPr>
        <p:spPr>
          <a:xfrm>
            <a:off x="3021540" y="3357993"/>
            <a:ext cx="1960986" cy="369332"/>
          </a:xfrm>
          <a:prstGeom prst="rect">
            <a:avLst/>
          </a:prstGeom>
          <a:noFill/>
        </p:spPr>
        <p:txBody>
          <a:bodyPr wrap="none" rtlCol="0">
            <a:spAutoFit/>
          </a:bodyPr>
          <a:lstStyle/>
          <a:p>
            <a:pPr algn="ctr"/>
            <a:r>
              <a:rPr lang="en-US" dirty="0"/>
              <a:t>Form with old data</a:t>
            </a:r>
          </a:p>
        </p:txBody>
      </p:sp>
      <p:sp>
        <p:nvSpPr>
          <p:cNvPr id="75" name="TextBox 74"/>
          <p:cNvSpPr txBox="1"/>
          <p:nvPr/>
        </p:nvSpPr>
        <p:spPr>
          <a:xfrm>
            <a:off x="1270022" y="3804819"/>
            <a:ext cx="806631" cy="369332"/>
          </a:xfrm>
          <a:prstGeom prst="rect">
            <a:avLst/>
          </a:prstGeom>
          <a:noFill/>
        </p:spPr>
        <p:txBody>
          <a:bodyPr wrap="square" rtlCol="0">
            <a:spAutoFit/>
          </a:bodyPr>
          <a:lstStyle/>
          <a:p>
            <a:r>
              <a:rPr lang="en-US" dirty="0"/>
              <a:t>Cancel</a:t>
            </a:r>
          </a:p>
        </p:txBody>
      </p:sp>
      <p:sp>
        <p:nvSpPr>
          <p:cNvPr id="17" name="TextBox 16"/>
          <p:cNvSpPr txBox="1"/>
          <p:nvPr/>
        </p:nvSpPr>
        <p:spPr>
          <a:xfrm>
            <a:off x="1554379" y="2894518"/>
            <a:ext cx="931665" cy="369332"/>
          </a:xfrm>
          <a:prstGeom prst="rect">
            <a:avLst/>
          </a:prstGeom>
          <a:noFill/>
        </p:spPr>
        <p:txBody>
          <a:bodyPr wrap="none" rtlCol="0">
            <a:spAutoFit/>
          </a:bodyPr>
          <a:lstStyle/>
          <a:p>
            <a:r>
              <a:rPr lang="en-US" dirty="0"/>
              <a:t>Fix Data</a:t>
            </a:r>
          </a:p>
        </p:txBody>
      </p:sp>
      <p:sp>
        <p:nvSpPr>
          <p:cNvPr id="43" name="TextBox 42"/>
          <p:cNvSpPr txBox="1"/>
          <p:nvPr/>
        </p:nvSpPr>
        <p:spPr>
          <a:xfrm>
            <a:off x="6339217" y="3695046"/>
            <a:ext cx="1125628" cy="369332"/>
          </a:xfrm>
          <a:prstGeom prst="rect">
            <a:avLst/>
          </a:prstGeom>
          <a:noFill/>
        </p:spPr>
        <p:txBody>
          <a:bodyPr wrap="none" rtlCol="0">
            <a:spAutoFit/>
          </a:bodyPr>
          <a:lstStyle/>
          <a:p>
            <a:pPr algn="ctr"/>
            <a:r>
              <a:rPr lang="en-US" dirty="0">
                <a:solidFill>
                  <a:schemeClr val="bg1"/>
                </a:solidFill>
              </a:rPr>
              <a:t>Load Data</a:t>
            </a:r>
          </a:p>
        </p:txBody>
      </p:sp>
      <p:sp>
        <p:nvSpPr>
          <p:cNvPr id="47" name="TextBox 46"/>
          <p:cNvSpPr txBox="1"/>
          <p:nvPr/>
        </p:nvSpPr>
        <p:spPr>
          <a:xfrm>
            <a:off x="6564231" y="3943547"/>
            <a:ext cx="762838" cy="369332"/>
          </a:xfrm>
          <a:prstGeom prst="rect">
            <a:avLst/>
          </a:prstGeom>
          <a:noFill/>
        </p:spPr>
        <p:txBody>
          <a:bodyPr wrap="none" rtlCol="0">
            <a:spAutoFit/>
          </a:bodyPr>
          <a:lstStyle/>
          <a:p>
            <a:pPr algn="ctr"/>
            <a:r>
              <a:rPr lang="en-US" dirty="0">
                <a:solidFill>
                  <a:schemeClr val="bg1"/>
                </a:solidFill>
              </a:rPr>
              <a:t>Error?</a:t>
            </a:r>
          </a:p>
        </p:txBody>
      </p:sp>
      <p:sp>
        <p:nvSpPr>
          <p:cNvPr id="45" name="TextBox 44"/>
          <p:cNvSpPr txBox="1"/>
          <p:nvPr/>
        </p:nvSpPr>
        <p:spPr>
          <a:xfrm>
            <a:off x="3174472" y="3948433"/>
            <a:ext cx="1612108" cy="369332"/>
          </a:xfrm>
          <a:prstGeom prst="rect">
            <a:avLst/>
          </a:prstGeom>
          <a:noFill/>
        </p:spPr>
        <p:txBody>
          <a:bodyPr wrap="none" rtlCol="0">
            <a:spAutoFit/>
          </a:bodyPr>
          <a:lstStyle/>
          <a:p>
            <a:pPr algn="ctr"/>
            <a:r>
              <a:rPr lang="en-US" dirty="0"/>
              <a:t>Error  404 Page</a:t>
            </a:r>
          </a:p>
        </p:txBody>
      </p:sp>
      <p:sp>
        <p:nvSpPr>
          <p:cNvPr id="18" name="TextBox 17"/>
          <p:cNvSpPr txBox="1"/>
          <p:nvPr/>
        </p:nvSpPr>
        <p:spPr>
          <a:xfrm>
            <a:off x="6382836" y="4211694"/>
            <a:ext cx="1168653" cy="369332"/>
          </a:xfrm>
          <a:prstGeom prst="rect">
            <a:avLst/>
          </a:prstGeom>
          <a:noFill/>
        </p:spPr>
        <p:txBody>
          <a:bodyPr wrap="none" rtlCol="0">
            <a:spAutoFit/>
          </a:bodyPr>
          <a:lstStyle/>
          <a:p>
            <a:pPr algn="ctr"/>
            <a:r>
              <a:rPr lang="en-US" dirty="0">
                <a:solidFill>
                  <a:schemeClr val="bg1"/>
                </a:solidFill>
              </a:rPr>
              <a:t>Store Data</a:t>
            </a:r>
          </a:p>
        </p:txBody>
      </p:sp>
      <p:sp>
        <p:nvSpPr>
          <p:cNvPr id="32" name="Can 31">
            <a:extLst>
              <a:ext uri="{C183D7F6-B498-43B3-948B-1728B52AA6E4}">
                <adec:decorative xmlns:adec="http://schemas.microsoft.com/office/drawing/2017/decorative" val="1"/>
              </a:ext>
            </a:extLst>
          </p:cNvPr>
          <p:cNvSpPr/>
          <p:nvPr/>
        </p:nvSpPr>
        <p:spPr>
          <a:xfrm>
            <a:off x="9328211" y="2211302"/>
            <a:ext cx="1257300" cy="147346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model</a:t>
            </a:r>
          </a:p>
        </p:txBody>
      </p:sp>
      <p:sp>
        <p:nvSpPr>
          <p:cNvPr id="96" name="TextBox 95"/>
          <p:cNvSpPr txBox="1"/>
          <p:nvPr/>
        </p:nvSpPr>
        <p:spPr>
          <a:xfrm>
            <a:off x="7970415" y="4831553"/>
            <a:ext cx="1009956" cy="369332"/>
          </a:xfrm>
          <a:prstGeom prst="rect">
            <a:avLst/>
          </a:prstGeom>
          <a:solidFill>
            <a:schemeClr val="tx1"/>
          </a:solidFill>
          <a:ln>
            <a:solidFill>
              <a:srgbClr val="FF7F00"/>
            </a:solidFill>
          </a:ln>
        </p:spPr>
        <p:txBody>
          <a:bodyPr wrap="none" rtlCol="0">
            <a:spAutoFit/>
          </a:bodyPr>
          <a:lstStyle/>
          <a:p>
            <a:pPr algn="ctr"/>
            <a:r>
              <a:rPr lang="en-US">
                <a:solidFill>
                  <a:schemeClr val="bg1"/>
                </a:solidFill>
              </a:rPr>
              <a:t>Message</a:t>
            </a:r>
            <a:endParaRPr lang="en-US" dirty="0">
              <a:solidFill>
                <a:schemeClr val="bg1"/>
              </a:solidFill>
            </a:endParaRPr>
          </a:p>
        </p:txBody>
      </p:sp>
      <p:sp>
        <p:nvSpPr>
          <p:cNvPr id="19" name="TextBox 18"/>
          <p:cNvSpPr txBox="1"/>
          <p:nvPr/>
        </p:nvSpPr>
        <p:spPr>
          <a:xfrm>
            <a:off x="2806514" y="4620193"/>
            <a:ext cx="2391039" cy="369332"/>
          </a:xfrm>
          <a:prstGeom prst="rect">
            <a:avLst/>
          </a:prstGeom>
          <a:noFill/>
        </p:spPr>
        <p:txBody>
          <a:bodyPr wrap="none" rtlCol="0">
            <a:spAutoFit/>
          </a:bodyPr>
          <a:lstStyle/>
          <a:p>
            <a:pPr algn="ctr"/>
            <a:r>
              <a:rPr lang="en-US" dirty="0"/>
              <a:t>Redirect to success URL</a:t>
            </a:r>
          </a:p>
        </p:txBody>
      </p:sp>
      <p:sp>
        <p:nvSpPr>
          <p:cNvPr id="20" name="TextBox 19"/>
          <p:cNvSpPr txBox="1"/>
          <p:nvPr/>
        </p:nvSpPr>
        <p:spPr>
          <a:xfrm>
            <a:off x="3135449" y="5057204"/>
            <a:ext cx="1733168" cy="369332"/>
          </a:xfrm>
          <a:prstGeom prst="rect">
            <a:avLst/>
          </a:prstGeom>
          <a:noFill/>
        </p:spPr>
        <p:txBody>
          <a:bodyPr wrap="none" rtlCol="0">
            <a:spAutoFit/>
          </a:bodyPr>
          <a:lstStyle/>
          <a:p>
            <a:pPr algn="ctr"/>
            <a:r>
              <a:rPr lang="en-US"/>
              <a:t>GET success URL</a:t>
            </a:r>
            <a:endParaRPr lang="en-US" dirty="0"/>
          </a:p>
        </p:txBody>
      </p:sp>
      <p:sp>
        <p:nvSpPr>
          <p:cNvPr id="74" name="TextBox 73"/>
          <p:cNvSpPr txBox="1"/>
          <p:nvPr/>
        </p:nvSpPr>
        <p:spPr>
          <a:xfrm>
            <a:off x="6343214" y="5426536"/>
            <a:ext cx="1204497" cy="369332"/>
          </a:xfrm>
          <a:prstGeom prst="rect">
            <a:avLst/>
          </a:prstGeom>
          <a:noFill/>
        </p:spPr>
        <p:txBody>
          <a:bodyPr wrap="none" rtlCol="0">
            <a:spAutoFit/>
          </a:bodyPr>
          <a:lstStyle/>
          <a:p>
            <a:pPr algn="ctr"/>
            <a:r>
              <a:rPr lang="en-US" dirty="0">
                <a:solidFill>
                  <a:schemeClr val="bg1"/>
                </a:solidFill>
              </a:rPr>
              <a:t>Make Page</a:t>
            </a:r>
          </a:p>
        </p:txBody>
      </p:sp>
      <p:sp>
        <p:nvSpPr>
          <p:cNvPr id="21" name="TextBox 20"/>
          <p:cNvSpPr txBox="1"/>
          <p:nvPr/>
        </p:nvSpPr>
        <p:spPr>
          <a:xfrm>
            <a:off x="3078639" y="5725230"/>
            <a:ext cx="1846789" cy="369332"/>
          </a:xfrm>
          <a:prstGeom prst="rect">
            <a:avLst/>
          </a:prstGeom>
          <a:noFill/>
        </p:spPr>
        <p:txBody>
          <a:bodyPr wrap="none" rtlCol="0">
            <a:spAutoFit/>
          </a:bodyPr>
          <a:lstStyle/>
          <a:p>
            <a:pPr algn="ctr"/>
            <a:r>
              <a:rPr lang="en-US" dirty="0"/>
              <a:t>Success page Yay!</a:t>
            </a:r>
          </a:p>
        </p:txBody>
      </p:sp>
      <p:cxnSp>
        <p:nvCxnSpPr>
          <p:cNvPr id="26" name="Elbow Connector 25">
            <a:extLst>
              <a:ext uri="{C183D7F6-B498-43B3-948B-1728B52AA6E4}">
                <adec:decorative xmlns:adec="http://schemas.microsoft.com/office/drawing/2017/decorative" val="1"/>
              </a:ext>
            </a:extLst>
          </p:cNvPr>
          <p:cNvCxnSpPr>
            <a:stCxn id="6" idx="3"/>
            <a:endCxn id="13" idx="0"/>
          </p:cNvCxnSpPr>
          <p:nvPr/>
        </p:nvCxnSpPr>
        <p:spPr>
          <a:xfrm>
            <a:off x="4685842" y="670710"/>
            <a:ext cx="2281317" cy="198954"/>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C183D7F6-B498-43B3-948B-1728B52AA6E4}">
                <adec:decorative xmlns:adec="http://schemas.microsoft.com/office/drawing/2017/decorative" val="1"/>
              </a:ext>
            </a:extLst>
          </p:cNvPr>
          <p:cNvCxnSpPr>
            <a:stCxn id="22" idx="1"/>
            <a:endCxn id="14" idx="3"/>
          </p:cNvCxnSpPr>
          <p:nvPr/>
        </p:nvCxnSpPr>
        <p:spPr>
          <a:xfrm rot="10800000" flipV="1">
            <a:off x="4808090" y="1360516"/>
            <a:ext cx="1777651" cy="4886"/>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C183D7F6-B498-43B3-948B-1728B52AA6E4}">
                <adec:decorative xmlns:adec="http://schemas.microsoft.com/office/drawing/2017/decorative" val="1"/>
              </a:ext>
            </a:extLst>
          </p:cNvPr>
          <p:cNvCxnSpPr>
            <a:stCxn id="32" idx="2"/>
            <a:endCxn id="13" idx="3"/>
          </p:cNvCxnSpPr>
          <p:nvPr/>
        </p:nvCxnSpPr>
        <p:spPr>
          <a:xfrm flipH="1" flipV="1">
            <a:off x="7529973" y="1054330"/>
            <a:ext cx="1798238" cy="1893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C183D7F6-B498-43B3-948B-1728B52AA6E4}">
                <adec:decorative xmlns:adec="http://schemas.microsoft.com/office/drawing/2017/decorative" val="1"/>
              </a:ext>
            </a:extLst>
          </p:cNvPr>
          <p:cNvCxnSpPr>
            <a:stCxn id="22" idx="2"/>
            <a:endCxn id="8" idx="3"/>
          </p:cNvCxnSpPr>
          <p:nvPr/>
        </p:nvCxnSpPr>
        <p:spPr>
          <a:xfrm rot="5400000">
            <a:off x="5838835" y="688874"/>
            <a:ext cx="272016" cy="1984633"/>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C183D7F6-B498-43B3-948B-1728B52AA6E4}">
                <adec:decorative xmlns:adec="http://schemas.microsoft.com/office/drawing/2017/decorative" val="1"/>
              </a:ext>
            </a:extLst>
          </p:cNvPr>
          <p:cNvCxnSpPr>
            <a:stCxn id="8" idx="1"/>
            <a:endCxn id="9" idx="0"/>
          </p:cNvCxnSpPr>
          <p:nvPr/>
        </p:nvCxnSpPr>
        <p:spPr>
          <a:xfrm rot="10800000" flipV="1">
            <a:off x="2007700" y="1817198"/>
            <a:ext cx="1013841" cy="252842"/>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C183D7F6-B498-43B3-948B-1728B52AA6E4}">
                <adec:decorative xmlns:adec="http://schemas.microsoft.com/office/drawing/2017/decorative" val="1"/>
              </a:ext>
            </a:extLst>
          </p:cNvPr>
          <p:cNvCxnSpPr>
            <a:stCxn id="9" idx="2"/>
            <a:endCxn id="11" idx="1"/>
          </p:cNvCxnSpPr>
          <p:nvPr/>
        </p:nvCxnSpPr>
        <p:spPr>
          <a:xfrm rot="16200000" flipH="1">
            <a:off x="2490251" y="1956820"/>
            <a:ext cx="224266" cy="1189370"/>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C183D7F6-B498-43B3-948B-1728B52AA6E4}">
                <adec:decorative xmlns:adec="http://schemas.microsoft.com/office/drawing/2017/decorative" val="1"/>
              </a:ext>
            </a:extLst>
          </p:cNvPr>
          <p:cNvCxnSpPr>
            <a:stCxn id="8" idx="1"/>
            <a:endCxn id="44" idx="3"/>
          </p:cNvCxnSpPr>
          <p:nvPr/>
        </p:nvCxnSpPr>
        <p:spPr>
          <a:xfrm flipH="1" flipV="1">
            <a:off x="2222704" y="1424440"/>
            <a:ext cx="798836" cy="392758"/>
          </a:xfrm>
          <a:prstGeom prst="straightConnector1">
            <a:avLst/>
          </a:prstGeom>
          <a:ln w="38100">
            <a:solidFill>
              <a:srgbClr val="00FDF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C183D7F6-B498-43B3-948B-1728B52AA6E4}">
                <adec:decorative xmlns:adec="http://schemas.microsoft.com/office/drawing/2017/decorative" val="1"/>
              </a:ext>
            </a:extLst>
          </p:cNvPr>
          <p:cNvCxnSpPr>
            <a:stCxn id="11" idx="3"/>
            <a:endCxn id="15" idx="0"/>
          </p:cNvCxnSpPr>
          <p:nvPr/>
        </p:nvCxnSpPr>
        <p:spPr>
          <a:xfrm>
            <a:off x="4806998" y="2663638"/>
            <a:ext cx="2160162" cy="308708"/>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C183D7F6-B498-43B3-948B-1728B52AA6E4}">
                <adec:decorative xmlns:adec="http://schemas.microsoft.com/office/drawing/2017/decorative" val="1"/>
              </a:ext>
            </a:extLst>
          </p:cNvPr>
          <p:cNvCxnSpPr>
            <a:stCxn id="23" idx="1"/>
            <a:endCxn id="16" idx="3"/>
          </p:cNvCxnSpPr>
          <p:nvPr/>
        </p:nvCxnSpPr>
        <p:spPr>
          <a:xfrm rot="10800000" flipV="1">
            <a:off x="4982526" y="3541667"/>
            <a:ext cx="1603214" cy="991"/>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a:extLst>
              <a:ext uri="{C183D7F6-B498-43B3-948B-1728B52AA6E4}">
                <adec:decorative xmlns:adec="http://schemas.microsoft.com/office/drawing/2017/decorative" val="1"/>
              </a:ext>
            </a:extLst>
          </p:cNvPr>
          <p:cNvCxnSpPr>
            <a:stCxn id="16" idx="1"/>
            <a:endCxn id="17" idx="2"/>
          </p:cNvCxnSpPr>
          <p:nvPr/>
        </p:nvCxnSpPr>
        <p:spPr>
          <a:xfrm rot="10800000">
            <a:off x="2020212" y="3263851"/>
            <a:ext cx="1001328" cy="278809"/>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C183D7F6-B498-43B3-948B-1728B52AA6E4}">
                <adec:decorative xmlns:adec="http://schemas.microsoft.com/office/drawing/2017/decorative" val="1"/>
              </a:ext>
            </a:extLst>
          </p:cNvPr>
          <p:cNvCxnSpPr>
            <a:stCxn id="17" idx="0"/>
            <a:endCxn id="11" idx="1"/>
          </p:cNvCxnSpPr>
          <p:nvPr/>
        </p:nvCxnSpPr>
        <p:spPr>
          <a:xfrm rot="5400000" flipH="1" flipV="1">
            <a:off x="2493200" y="2190650"/>
            <a:ext cx="230880" cy="1176857"/>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C183D7F6-B498-43B3-948B-1728B52AA6E4}">
                <adec:decorative xmlns:adec="http://schemas.microsoft.com/office/drawing/2017/decorative" val="1"/>
              </a:ext>
            </a:extLst>
          </p:cNvPr>
          <p:cNvCxnSpPr>
            <a:stCxn id="18" idx="3"/>
            <a:endCxn id="32" idx="2"/>
          </p:cNvCxnSpPr>
          <p:nvPr/>
        </p:nvCxnSpPr>
        <p:spPr>
          <a:xfrm flipV="1">
            <a:off x="7551489" y="2948033"/>
            <a:ext cx="1776722" cy="14483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C183D7F6-B498-43B3-948B-1728B52AA6E4}">
                <adec:decorative xmlns:adec="http://schemas.microsoft.com/office/drawing/2017/decorative" val="1"/>
              </a:ext>
            </a:extLst>
          </p:cNvPr>
          <p:cNvCxnSpPr>
            <a:stCxn id="18" idx="2"/>
            <a:endCxn id="19" idx="3"/>
          </p:cNvCxnSpPr>
          <p:nvPr/>
        </p:nvCxnSpPr>
        <p:spPr>
          <a:xfrm rot="5400000">
            <a:off x="5970442" y="3808137"/>
            <a:ext cx="223833" cy="1769610"/>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C183D7F6-B498-43B3-948B-1728B52AA6E4}">
                <adec:decorative xmlns:adec="http://schemas.microsoft.com/office/drawing/2017/decorative" val="1"/>
              </a:ext>
            </a:extLst>
          </p:cNvPr>
          <p:cNvCxnSpPr>
            <a:stCxn id="16" idx="1"/>
          </p:cNvCxnSpPr>
          <p:nvPr/>
        </p:nvCxnSpPr>
        <p:spPr>
          <a:xfrm flipH="1">
            <a:off x="2076654" y="3542659"/>
            <a:ext cx="944886" cy="446826"/>
          </a:xfrm>
          <a:prstGeom prst="straightConnector1">
            <a:avLst/>
          </a:prstGeom>
          <a:ln w="38100">
            <a:solidFill>
              <a:srgbClr val="00FDFF"/>
            </a:solidFill>
            <a:tailEnd type="triangle"/>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C183D7F6-B498-43B3-948B-1728B52AA6E4}">
                <adec:decorative xmlns:adec="http://schemas.microsoft.com/office/drawing/2017/decorative" val="1"/>
              </a:ext>
            </a:extLst>
          </p:cNvPr>
          <p:cNvCxnSpPr>
            <a:endCxn id="20" idx="1"/>
          </p:cNvCxnSpPr>
          <p:nvPr/>
        </p:nvCxnSpPr>
        <p:spPr>
          <a:xfrm rot="10800000" flipH="1" flipV="1">
            <a:off x="2806513" y="4819146"/>
            <a:ext cx="328935" cy="422723"/>
          </a:xfrm>
          <a:prstGeom prst="bentConnector3">
            <a:avLst>
              <a:gd name="adj1" fmla="val -69497"/>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C183D7F6-B498-43B3-948B-1728B52AA6E4}">
                <adec:decorative xmlns:adec="http://schemas.microsoft.com/office/drawing/2017/decorative" val="1"/>
              </a:ext>
            </a:extLst>
          </p:cNvPr>
          <p:cNvCxnSpPr>
            <a:stCxn id="20" idx="3"/>
            <a:endCxn id="74" idx="0"/>
          </p:cNvCxnSpPr>
          <p:nvPr/>
        </p:nvCxnSpPr>
        <p:spPr>
          <a:xfrm>
            <a:off x="4868617" y="5241870"/>
            <a:ext cx="2076846" cy="184666"/>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C183D7F6-B498-43B3-948B-1728B52AA6E4}">
                <adec:decorative xmlns:adec="http://schemas.microsoft.com/office/drawing/2017/decorative" val="1"/>
              </a:ext>
            </a:extLst>
          </p:cNvPr>
          <p:cNvCxnSpPr>
            <a:stCxn id="74" idx="2"/>
            <a:endCxn id="21" idx="3"/>
          </p:cNvCxnSpPr>
          <p:nvPr/>
        </p:nvCxnSpPr>
        <p:spPr>
          <a:xfrm rot="5400000">
            <a:off x="5878432" y="4842865"/>
            <a:ext cx="114028" cy="2020035"/>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urved Connector 93">
            <a:extLst>
              <a:ext uri="{C183D7F6-B498-43B3-948B-1728B52AA6E4}">
                <adec:decorative xmlns:adec="http://schemas.microsoft.com/office/drawing/2017/decorative" val="1"/>
              </a:ext>
            </a:extLst>
          </p:cNvPr>
          <p:cNvCxnSpPr>
            <a:stCxn id="18" idx="3"/>
            <a:endCxn id="74" idx="3"/>
          </p:cNvCxnSpPr>
          <p:nvPr/>
        </p:nvCxnSpPr>
        <p:spPr>
          <a:xfrm flipH="1">
            <a:off x="7547711" y="4396360"/>
            <a:ext cx="3778" cy="1214842"/>
          </a:xfrm>
          <a:prstGeom prst="curvedConnector3">
            <a:avLst>
              <a:gd name="adj1" fmla="val -6050821"/>
            </a:avLst>
          </a:prstGeom>
          <a:ln w="38100">
            <a:solidFill>
              <a:srgbClr val="FF7F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a:extLst>
              <a:ext uri="{C183D7F6-B498-43B3-948B-1728B52AA6E4}">
                <adec:decorative xmlns:adec="http://schemas.microsoft.com/office/drawing/2017/decorative" val="1"/>
              </a:ext>
            </a:extLst>
          </p:cNvPr>
          <p:cNvCxnSpPr>
            <a:stCxn id="47" idx="1"/>
            <a:endCxn id="45" idx="3"/>
          </p:cNvCxnSpPr>
          <p:nvPr/>
        </p:nvCxnSpPr>
        <p:spPr>
          <a:xfrm rot="10800000" flipV="1">
            <a:off x="4786581" y="4128213"/>
            <a:ext cx="1777651" cy="4886"/>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C183D7F6-B498-43B3-948B-1728B52AA6E4}">
                <adec:decorative xmlns:adec="http://schemas.microsoft.com/office/drawing/2017/decorative" val="1"/>
              </a:ext>
            </a:extLst>
          </p:cNvPr>
          <p:cNvCxnSpPr>
            <a:stCxn id="32" idx="2"/>
            <a:endCxn id="43" idx="3"/>
          </p:cNvCxnSpPr>
          <p:nvPr/>
        </p:nvCxnSpPr>
        <p:spPr>
          <a:xfrm flipH="1">
            <a:off x="7464845" y="2948033"/>
            <a:ext cx="1863366" cy="93167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3518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858121" y="5157788"/>
            <a:ext cx="3010028" cy="1325563"/>
          </a:xfrm>
        </p:spPr>
        <p:txBody>
          <a:bodyPr>
            <a:normAutofit/>
          </a:bodyPr>
          <a:lstStyle/>
          <a:p>
            <a:pPr algn="r"/>
            <a:r>
              <a:rPr lang="en-US" dirty="0"/>
              <a:t>Delete Form Flow</a:t>
            </a:r>
          </a:p>
        </p:txBody>
      </p:sp>
      <p:sp>
        <p:nvSpPr>
          <p:cNvPr id="5" name="Rounded Rectangle 4">
            <a:extLst>
              <a:ext uri="{C183D7F6-B498-43B3-948B-1728B52AA6E4}">
                <adec:decorative xmlns:adec="http://schemas.microsoft.com/office/drawing/2017/decorative" val="1"/>
              </a:ext>
            </a:extLst>
          </p:cNvPr>
          <p:cNvSpPr/>
          <p:nvPr/>
        </p:nvSpPr>
        <p:spPr>
          <a:xfrm>
            <a:off x="5876163" y="700359"/>
            <a:ext cx="2181995" cy="5322765"/>
          </a:xfrm>
          <a:prstGeom prst="roundRect">
            <a:avLst/>
          </a:prstGeom>
          <a:solidFill>
            <a:schemeClr val="tx1"/>
          </a:solidFill>
        </p:spPr>
        <p:style>
          <a:lnRef idx="1">
            <a:schemeClr val="dk1"/>
          </a:lnRef>
          <a:fillRef idx="2">
            <a:schemeClr val="dk1"/>
          </a:fillRef>
          <a:effectRef idx="1">
            <a:schemeClr val="dk1"/>
          </a:effectRef>
          <a:fontRef idx="minor">
            <a:schemeClr val="dk1"/>
          </a:fontRef>
        </p:style>
        <p:txBody>
          <a:bodyPr rtlCol="0" anchor="t"/>
          <a:lstStyle/>
          <a:p>
            <a:pPr algn="ctr"/>
            <a:endParaRPr lang="en-US" dirty="0">
              <a:solidFill>
                <a:schemeClr val="bg1"/>
              </a:solidFill>
            </a:endParaRPr>
          </a:p>
        </p:txBody>
      </p:sp>
      <p:sp>
        <p:nvSpPr>
          <p:cNvPr id="6" name="TextBox 5"/>
          <p:cNvSpPr txBox="1"/>
          <p:nvPr/>
        </p:nvSpPr>
        <p:spPr>
          <a:xfrm>
            <a:off x="3318225" y="700360"/>
            <a:ext cx="1367617" cy="369332"/>
          </a:xfrm>
          <a:prstGeom prst="rect">
            <a:avLst/>
          </a:prstGeom>
          <a:noFill/>
        </p:spPr>
        <p:txBody>
          <a:bodyPr wrap="none" rtlCol="0">
            <a:spAutoFit/>
          </a:bodyPr>
          <a:lstStyle/>
          <a:p>
            <a:pPr algn="ctr"/>
            <a:r>
              <a:rPr lang="en-US" dirty="0"/>
              <a:t>GET Request</a:t>
            </a:r>
          </a:p>
        </p:txBody>
      </p:sp>
      <p:sp>
        <p:nvSpPr>
          <p:cNvPr id="13" name="TextBox 12"/>
          <p:cNvSpPr txBox="1"/>
          <p:nvPr/>
        </p:nvSpPr>
        <p:spPr>
          <a:xfrm>
            <a:off x="6404345" y="1083980"/>
            <a:ext cx="1125628" cy="369332"/>
          </a:xfrm>
          <a:prstGeom prst="rect">
            <a:avLst/>
          </a:prstGeom>
          <a:noFill/>
        </p:spPr>
        <p:txBody>
          <a:bodyPr wrap="none" rtlCol="0">
            <a:spAutoFit/>
          </a:bodyPr>
          <a:lstStyle/>
          <a:p>
            <a:pPr algn="ctr"/>
            <a:r>
              <a:rPr lang="en-US" dirty="0">
                <a:solidFill>
                  <a:schemeClr val="bg1"/>
                </a:solidFill>
              </a:rPr>
              <a:t>Load Data</a:t>
            </a:r>
          </a:p>
        </p:txBody>
      </p:sp>
      <p:sp>
        <p:nvSpPr>
          <p:cNvPr id="22" name="TextBox 21"/>
          <p:cNvSpPr txBox="1"/>
          <p:nvPr/>
        </p:nvSpPr>
        <p:spPr>
          <a:xfrm>
            <a:off x="6585740" y="1390166"/>
            <a:ext cx="762838" cy="369332"/>
          </a:xfrm>
          <a:prstGeom prst="rect">
            <a:avLst/>
          </a:prstGeom>
          <a:noFill/>
        </p:spPr>
        <p:txBody>
          <a:bodyPr wrap="none" rtlCol="0">
            <a:spAutoFit/>
          </a:bodyPr>
          <a:lstStyle/>
          <a:p>
            <a:pPr algn="ctr"/>
            <a:r>
              <a:rPr lang="en-US" dirty="0">
                <a:solidFill>
                  <a:schemeClr val="bg1"/>
                </a:solidFill>
              </a:rPr>
              <a:t>Error?</a:t>
            </a:r>
          </a:p>
        </p:txBody>
      </p:sp>
      <p:sp>
        <p:nvSpPr>
          <p:cNvPr id="14" name="TextBox 13"/>
          <p:cNvSpPr txBox="1"/>
          <p:nvPr/>
        </p:nvSpPr>
        <p:spPr>
          <a:xfrm>
            <a:off x="3222430" y="1395052"/>
            <a:ext cx="1559209" cy="369332"/>
          </a:xfrm>
          <a:prstGeom prst="rect">
            <a:avLst/>
          </a:prstGeom>
          <a:noFill/>
        </p:spPr>
        <p:txBody>
          <a:bodyPr wrap="none" rtlCol="0">
            <a:spAutoFit/>
          </a:bodyPr>
          <a:lstStyle/>
          <a:p>
            <a:pPr algn="ctr"/>
            <a:r>
              <a:rPr lang="en-US" dirty="0"/>
              <a:t>Error 404 Page</a:t>
            </a:r>
          </a:p>
        </p:txBody>
      </p:sp>
      <p:sp>
        <p:nvSpPr>
          <p:cNvPr id="8" name="TextBox 7"/>
          <p:cNvSpPr txBox="1"/>
          <p:nvPr/>
        </p:nvSpPr>
        <p:spPr>
          <a:xfrm>
            <a:off x="3020742" y="1846848"/>
            <a:ext cx="1962589" cy="369332"/>
          </a:xfrm>
          <a:prstGeom prst="rect">
            <a:avLst/>
          </a:prstGeom>
          <a:noFill/>
        </p:spPr>
        <p:txBody>
          <a:bodyPr wrap="none" rtlCol="0">
            <a:spAutoFit/>
          </a:bodyPr>
          <a:lstStyle/>
          <a:p>
            <a:pPr algn="ctr"/>
            <a:r>
              <a:rPr lang="en-US" dirty="0"/>
              <a:t>Confirmation Form</a:t>
            </a:r>
          </a:p>
        </p:txBody>
      </p:sp>
      <p:sp>
        <p:nvSpPr>
          <p:cNvPr id="44" name="TextBox 43"/>
          <p:cNvSpPr txBox="1"/>
          <p:nvPr/>
        </p:nvSpPr>
        <p:spPr>
          <a:xfrm>
            <a:off x="1416073" y="1454090"/>
            <a:ext cx="806631" cy="369332"/>
          </a:xfrm>
          <a:prstGeom prst="rect">
            <a:avLst/>
          </a:prstGeom>
          <a:noFill/>
        </p:spPr>
        <p:txBody>
          <a:bodyPr wrap="none" rtlCol="0">
            <a:spAutoFit/>
          </a:bodyPr>
          <a:lstStyle/>
          <a:p>
            <a:r>
              <a:rPr lang="en-US" dirty="0"/>
              <a:t>Cancel</a:t>
            </a:r>
          </a:p>
        </p:txBody>
      </p:sp>
      <p:sp>
        <p:nvSpPr>
          <p:cNvPr id="9" name="TextBox 8"/>
          <p:cNvSpPr txBox="1"/>
          <p:nvPr/>
        </p:nvSpPr>
        <p:spPr>
          <a:xfrm>
            <a:off x="1490570" y="2284356"/>
            <a:ext cx="485646" cy="369332"/>
          </a:xfrm>
          <a:prstGeom prst="rect">
            <a:avLst/>
          </a:prstGeom>
          <a:noFill/>
        </p:spPr>
        <p:txBody>
          <a:bodyPr wrap="none" rtlCol="0">
            <a:spAutoFit/>
          </a:bodyPr>
          <a:lstStyle/>
          <a:p>
            <a:r>
              <a:rPr lang="en-US" dirty="0"/>
              <a:t>Yes</a:t>
            </a:r>
          </a:p>
        </p:txBody>
      </p:sp>
      <p:sp>
        <p:nvSpPr>
          <p:cNvPr id="11" name="TextBox 10"/>
          <p:cNvSpPr txBox="1"/>
          <p:nvPr/>
        </p:nvSpPr>
        <p:spPr>
          <a:xfrm>
            <a:off x="3247148" y="2693288"/>
            <a:ext cx="1509773" cy="369332"/>
          </a:xfrm>
          <a:prstGeom prst="rect">
            <a:avLst/>
          </a:prstGeom>
          <a:noFill/>
        </p:spPr>
        <p:txBody>
          <a:bodyPr wrap="none" rtlCol="0">
            <a:spAutoFit/>
          </a:bodyPr>
          <a:lstStyle/>
          <a:p>
            <a:pPr algn="ctr"/>
            <a:r>
              <a:rPr lang="en-US" dirty="0"/>
              <a:t>POST with key</a:t>
            </a:r>
          </a:p>
        </p:txBody>
      </p:sp>
      <p:sp>
        <p:nvSpPr>
          <p:cNvPr id="15" name="TextBox 14"/>
          <p:cNvSpPr txBox="1"/>
          <p:nvPr/>
        </p:nvSpPr>
        <p:spPr>
          <a:xfrm>
            <a:off x="6404345" y="3186662"/>
            <a:ext cx="1125629" cy="369332"/>
          </a:xfrm>
          <a:prstGeom prst="rect">
            <a:avLst/>
          </a:prstGeom>
          <a:noFill/>
        </p:spPr>
        <p:txBody>
          <a:bodyPr wrap="none" rtlCol="0">
            <a:spAutoFit/>
          </a:bodyPr>
          <a:lstStyle/>
          <a:p>
            <a:pPr algn="ctr"/>
            <a:r>
              <a:rPr lang="en-US" dirty="0">
                <a:solidFill>
                  <a:schemeClr val="bg1"/>
                </a:solidFill>
              </a:rPr>
              <a:t>Load Data</a:t>
            </a:r>
          </a:p>
        </p:txBody>
      </p:sp>
      <p:sp>
        <p:nvSpPr>
          <p:cNvPr id="23" name="Rectangle 22"/>
          <p:cNvSpPr/>
          <p:nvPr/>
        </p:nvSpPr>
        <p:spPr>
          <a:xfrm>
            <a:off x="6585740" y="3571318"/>
            <a:ext cx="762837" cy="369332"/>
          </a:xfrm>
          <a:prstGeom prst="rect">
            <a:avLst/>
          </a:prstGeom>
        </p:spPr>
        <p:txBody>
          <a:bodyPr wrap="none">
            <a:spAutoFit/>
          </a:bodyPr>
          <a:lstStyle/>
          <a:p>
            <a:pPr algn="ctr"/>
            <a:r>
              <a:rPr lang="en-US" dirty="0">
                <a:solidFill>
                  <a:schemeClr val="bg1"/>
                </a:solidFill>
              </a:rPr>
              <a:t>Error?</a:t>
            </a:r>
          </a:p>
        </p:txBody>
      </p:sp>
      <p:sp>
        <p:nvSpPr>
          <p:cNvPr id="16" name="TextBox 15"/>
          <p:cNvSpPr txBox="1"/>
          <p:nvPr/>
        </p:nvSpPr>
        <p:spPr>
          <a:xfrm>
            <a:off x="3222433" y="3572309"/>
            <a:ext cx="1559209" cy="369332"/>
          </a:xfrm>
          <a:prstGeom prst="rect">
            <a:avLst/>
          </a:prstGeom>
          <a:noFill/>
        </p:spPr>
        <p:txBody>
          <a:bodyPr wrap="none" rtlCol="0">
            <a:spAutoFit/>
          </a:bodyPr>
          <a:lstStyle/>
          <a:p>
            <a:pPr algn="ctr"/>
            <a:r>
              <a:rPr lang="en-US" dirty="0"/>
              <a:t>Error 404 Page</a:t>
            </a:r>
          </a:p>
        </p:txBody>
      </p:sp>
      <p:sp>
        <p:nvSpPr>
          <p:cNvPr id="18" name="TextBox 17"/>
          <p:cNvSpPr txBox="1"/>
          <p:nvPr/>
        </p:nvSpPr>
        <p:spPr>
          <a:xfrm>
            <a:off x="6567181" y="4154545"/>
            <a:ext cx="799963" cy="369332"/>
          </a:xfrm>
          <a:prstGeom prst="rect">
            <a:avLst/>
          </a:prstGeom>
          <a:noFill/>
        </p:spPr>
        <p:txBody>
          <a:bodyPr wrap="none" rtlCol="0">
            <a:spAutoFit/>
          </a:bodyPr>
          <a:lstStyle/>
          <a:p>
            <a:pPr algn="ctr"/>
            <a:r>
              <a:rPr lang="en-US" dirty="0">
                <a:solidFill>
                  <a:schemeClr val="bg1"/>
                </a:solidFill>
              </a:rPr>
              <a:t>Delete</a:t>
            </a:r>
          </a:p>
        </p:txBody>
      </p:sp>
      <p:sp>
        <p:nvSpPr>
          <p:cNvPr id="96" name="TextBox 95"/>
          <p:cNvSpPr txBox="1"/>
          <p:nvPr/>
        </p:nvSpPr>
        <p:spPr>
          <a:xfrm>
            <a:off x="7827535" y="4774404"/>
            <a:ext cx="1009956" cy="369332"/>
          </a:xfrm>
          <a:prstGeom prst="rect">
            <a:avLst/>
          </a:prstGeom>
          <a:solidFill>
            <a:schemeClr val="tx1"/>
          </a:solidFill>
          <a:ln>
            <a:solidFill>
              <a:srgbClr val="FF7F00"/>
            </a:solidFill>
          </a:ln>
        </p:spPr>
        <p:txBody>
          <a:bodyPr wrap="none" rtlCol="0">
            <a:spAutoFit/>
          </a:bodyPr>
          <a:lstStyle/>
          <a:p>
            <a:pPr algn="ctr"/>
            <a:r>
              <a:rPr lang="en-US">
                <a:solidFill>
                  <a:schemeClr val="bg1"/>
                </a:solidFill>
              </a:rPr>
              <a:t>Message</a:t>
            </a:r>
            <a:endParaRPr lang="en-US" dirty="0">
              <a:solidFill>
                <a:schemeClr val="bg1"/>
              </a:solidFill>
            </a:endParaRPr>
          </a:p>
        </p:txBody>
      </p:sp>
      <p:sp>
        <p:nvSpPr>
          <p:cNvPr id="19" name="TextBox 18"/>
          <p:cNvSpPr txBox="1"/>
          <p:nvPr/>
        </p:nvSpPr>
        <p:spPr>
          <a:xfrm>
            <a:off x="2806514" y="4563044"/>
            <a:ext cx="2391039" cy="369332"/>
          </a:xfrm>
          <a:prstGeom prst="rect">
            <a:avLst/>
          </a:prstGeom>
          <a:noFill/>
        </p:spPr>
        <p:txBody>
          <a:bodyPr wrap="none" rtlCol="0">
            <a:spAutoFit/>
          </a:bodyPr>
          <a:lstStyle/>
          <a:p>
            <a:pPr algn="ctr"/>
            <a:r>
              <a:rPr lang="en-US" dirty="0"/>
              <a:t>Redirect to success URL</a:t>
            </a:r>
          </a:p>
        </p:txBody>
      </p:sp>
      <p:sp>
        <p:nvSpPr>
          <p:cNvPr id="20" name="TextBox 19"/>
          <p:cNvSpPr txBox="1"/>
          <p:nvPr/>
        </p:nvSpPr>
        <p:spPr>
          <a:xfrm>
            <a:off x="3135449" y="4985767"/>
            <a:ext cx="1733168" cy="369332"/>
          </a:xfrm>
          <a:prstGeom prst="rect">
            <a:avLst/>
          </a:prstGeom>
          <a:noFill/>
        </p:spPr>
        <p:txBody>
          <a:bodyPr wrap="none" rtlCol="0">
            <a:spAutoFit/>
          </a:bodyPr>
          <a:lstStyle/>
          <a:p>
            <a:pPr algn="ctr"/>
            <a:r>
              <a:rPr lang="en-US"/>
              <a:t>GET success URL</a:t>
            </a:r>
            <a:endParaRPr lang="en-US" dirty="0"/>
          </a:p>
        </p:txBody>
      </p:sp>
      <p:sp>
        <p:nvSpPr>
          <p:cNvPr id="74" name="TextBox 73"/>
          <p:cNvSpPr txBox="1"/>
          <p:nvPr/>
        </p:nvSpPr>
        <p:spPr>
          <a:xfrm>
            <a:off x="6343214" y="5355099"/>
            <a:ext cx="1204497" cy="369332"/>
          </a:xfrm>
          <a:prstGeom prst="rect">
            <a:avLst/>
          </a:prstGeom>
          <a:noFill/>
        </p:spPr>
        <p:txBody>
          <a:bodyPr wrap="none" rtlCol="0">
            <a:spAutoFit/>
          </a:bodyPr>
          <a:lstStyle/>
          <a:p>
            <a:pPr algn="ctr"/>
            <a:r>
              <a:rPr lang="en-US" dirty="0">
                <a:solidFill>
                  <a:schemeClr val="bg1"/>
                </a:solidFill>
              </a:rPr>
              <a:t>Make Page</a:t>
            </a:r>
          </a:p>
        </p:txBody>
      </p:sp>
      <p:sp>
        <p:nvSpPr>
          <p:cNvPr id="21" name="TextBox 20"/>
          <p:cNvSpPr txBox="1"/>
          <p:nvPr/>
        </p:nvSpPr>
        <p:spPr>
          <a:xfrm>
            <a:off x="3078639" y="5653793"/>
            <a:ext cx="1846789" cy="369332"/>
          </a:xfrm>
          <a:prstGeom prst="rect">
            <a:avLst/>
          </a:prstGeom>
          <a:noFill/>
        </p:spPr>
        <p:txBody>
          <a:bodyPr wrap="none" rtlCol="0">
            <a:spAutoFit/>
          </a:bodyPr>
          <a:lstStyle/>
          <a:p>
            <a:pPr algn="ctr"/>
            <a:r>
              <a:rPr lang="en-US" dirty="0"/>
              <a:t>Success page Yay!</a:t>
            </a:r>
          </a:p>
        </p:txBody>
      </p:sp>
      <p:cxnSp>
        <p:nvCxnSpPr>
          <p:cNvPr id="26" name="Elbow Connector 25">
            <a:extLst>
              <a:ext uri="{C183D7F6-B498-43B3-948B-1728B52AA6E4}">
                <adec:decorative xmlns:adec="http://schemas.microsoft.com/office/drawing/2017/decorative" val="1"/>
              </a:ext>
            </a:extLst>
          </p:cNvPr>
          <p:cNvCxnSpPr>
            <a:stCxn id="6" idx="3"/>
            <a:endCxn id="13" idx="0"/>
          </p:cNvCxnSpPr>
          <p:nvPr/>
        </p:nvCxnSpPr>
        <p:spPr>
          <a:xfrm>
            <a:off x="4685842" y="885026"/>
            <a:ext cx="2281317" cy="198954"/>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C183D7F6-B498-43B3-948B-1728B52AA6E4}">
                <adec:decorative xmlns:adec="http://schemas.microsoft.com/office/drawing/2017/decorative" val="1"/>
              </a:ext>
            </a:extLst>
          </p:cNvPr>
          <p:cNvCxnSpPr>
            <a:stCxn id="22" idx="1"/>
            <a:endCxn id="14" idx="3"/>
          </p:cNvCxnSpPr>
          <p:nvPr/>
        </p:nvCxnSpPr>
        <p:spPr>
          <a:xfrm rot="10800000" flipV="1">
            <a:off x="4781640" y="1574832"/>
            <a:ext cx="1804101" cy="4886"/>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Can 31">
            <a:extLst>
              <a:ext uri="{C183D7F6-B498-43B3-948B-1728B52AA6E4}">
                <adec:decorative xmlns:adec="http://schemas.microsoft.com/office/drawing/2017/decorative" val="1"/>
              </a:ext>
            </a:extLst>
          </p:cNvPr>
          <p:cNvSpPr/>
          <p:nvPr/>
        </p:nvSpPr>
        <p:spPr>
          <a:xfrm>
            <a:off x="9328211" y="2211302"/>
            <a:ext cx="1257300" cy="147346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model</a:t>
            </a:r>
          </a:p>
        </p:txBody>
      </p:sp>
      <p:cxnSp>
        <p:nvCxnSpPr>
          <p:cNvPr id="34" name="Straight Arrow Connector 33">
            <a:extLst>
              <a:ext uri="{C183D7F6-B498-43B3-948B-1728B52AA6E4}">
                <adec:decorative xmlns:adec="http://schemas.microsoft.com/office/drawing/2017/decorative" val="1"/>
              </a:ext>
            </a:extLst>
          </p:cNvPr>
          <p:cNvCxnSpPr>
            <a:stCxn id="32" idx="2"/>
            <a:endCxn id="13" idx="3"/>
          </p:cNvCxnSpPr>
          <p:nvPr/>
        </p:nvCxnSpPr>
        <p:spPr>
          <a:xfrm flipH="1" flipV="1">
            <a:off x="7529973" y="1268646"/>
            <a:ext cx="1798238" cy="16793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C183D7F6-B498-43B3-948B-1728B52AA6E4}">
                <adec:decorative xmlns:adec="http://schemas.microsoft.com/office/drawing/2017/decorative" val="1"/>
              </a:ext>
            </a:extLst>
          </p:cNvPr>
          <p:cNvCxnSpPr>
            <a:stCxn id="22" idx="2"/>
            <a:endCxn id="8" idx="3"/>
          </p:cNvCxnSpPr>
          <p:nvPr/>
        </p:nvCxnSpPr>
        <p:spPr>
          <a:xfrm rot="5400000">
            <a:off x="5839237" y="903592"/>
            <a:ext cx="272016" cy="1983828"/>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C183D7F6-B498-43B3-948B-1728B52AA6E4}">
                <adec:decorative xmlns:adec="http://schemas.microsoft.com/office/drawing/2017/decorative" val="1"/>
              </a:ext>
            </a:extLst>
          </p:cNvPr>
          <p:cNvCxnSpPr>
            <a:stCxn id="8" idx="1"/>
            <a:endCxn id="9" idx="0"/>
          </p:cNvCxnSpPr>
          <p:nvPr/>
        </p:nvCxnSpPr>
        <p:spPr>
          <a:xfrm rot="10800000" flipV="1">
            <a:off x="1733394" y="2031514"/>
            <a:ext cx="1287349" cy="252842"/>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C183D7F6-B498-43B3-948B-1728B52AA6E4}">
                <adec:decorative xmlns:adec="http://schemas.microsoft.com/office/drawing/2017/decorative" val="1"/>
              </a:ext>
            </a:extLst>
          </p:cNvPr>
          <p:cNvCxnSpPr>
            <a:stCxn id="9" idx="2"/>
            <a:endCxn id="11" idx="1"/>
          </p:cNvCxnSpPr>
          <p:nvPr/>
        </p:nvCxnSpPr>
        <p:spPr>
          <a:xfrm rot="16200000" flipH="1">
            <a:off x="2378137" y="2008943"/>
            <a:ext cx="224266" cy="1513755"/>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C183D7F6-B498-43B3-948B-1728B52AA6E4}">
                <adec:decorative xmlns:adec="http://schemas.microsoft.com/office/drawing/2017/decorative" val="1"/>
              </a:ext>
            </a:extLst>
          </p:cNvPr>
          <p:cNvCxnSpPr>
            <a:stCxn id="8" idx="1"/>
            <a:endCxn id="44" idx="3"/>
          </p:cNvCxnSpPr>
          <p:nvPr/>
        </p:nvCxnSpPr>
        <p:spPr>
          <a:xfrm flipH="1" flipV="1">
            <a:off x="2222704" y="1638756"/>
            <a:ext cx="798038" cy="392758"/>
          </a:xfrm>
          <a:prstGeom prst="straightConnector1">
            <a:avLst/>
          </a:prstGeom>
          <a:ln w="38100">
            <a:solidFill>
              <a:srgbClr val="00FDF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C183D7F6-B498-43B3-948B-1728B52AA6E4}">
                <adec:decorative xmlns:adec="http://schemas.microsoft.com/office/drawing/2017/decorative" val="1"/>
              </a:ext>
            </a:extLst>
          </p:cNvPr>
          <p:cNvCxnSpPr>
            <a:stCxn id="11" idx="3"/>
            <a:endCxn id="15" idx="0"/>
          </p:cNvCxnSpPr>
          <p:nvPr/>
        </p:nvCxnSpPr>
        <p:spPr>
          <a:xfrm>
            <a:off x="4756921" y="2877954"/>
            <a:ext cx="2210239" cy="308708"/>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C183D7F6-B498-43B3-948B-1728B52AA6E4}">
                <adec:decorative xmlns:adec="http://schemas.microsoft.com/office/drawing/2017/decorative" val="1"/>
              </a:ext>
            </a:extLst>
          </p:cNvPr>
          <p:cNvCxnSpPr>
            <a:stCxn id="23" idx="1"/>
            <a:endCxn id="16" idx="3"/>
          </p:cNvCxnSpPr>
          <p:nvPr/>
        </p:nvCxnSpPr>
        <p:spPr>
          <a:xfrm rot="10800000" flipV="1">
            <a:off x="4781642" y="3755983"/>
            <a:ext cx="1804098" cy="991"/>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C183D7F6-B498-43B3-948B-1728B52AA6E4}">
                <adec:decorative xmlns:adec="http://schemas.microsoft.com/office/drawing/2017/decorative" val="1"/>
              </a:ext>
            </a:extLst>
          </p:cNvPr>
          <p:cNvCxnSpPr>
            <a:stCxn id="18" idx="3"/>
            <a:endCxn id="32" idx="2"/>
          </p:cNvCxnSpPr>
          <p:nvPr/>
        </p:nvCxnSpPr>
        <p:spPr>
          <a:xfrm flipV="1">
            <a:off x="7367144" y="2948033"/>
            <a:ext cx="1961067" cy="13911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C183D7F6-B498-43B3-948B-1728B52AA6E4}">
                <adec:decorative xmlns:adec="http://schemas.microsoft.com/office/drawing/2017/decorative" val="1"/>
              </a:ext>
            </a:extLst>
          </p:cNvPr>
          <p:cNvCxnSpPr>
            <a:endCxn id="18" idx="0"/>
          </p:cNvCxnSpPr>
          <p:nvPr/>
        </p:nvCxnSpPr>
        <p:spPr>
          <a:xfrm rot="16200000" flipH="1">
            <a:off x="6860184" y="4047566"/>
            <a:ext cx="213894" cy="64"/>
          </a:xfrm>
          <a:prstGeom prst="bentConnector3">
            <a:avLst>
              <a:gd name="adj1" fmla="val 50000"/>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C183D7F6-B498-43B3-948B-1728B52AA6E4}">
                <adec:decorative xmlns:adec="http://schemas.microsoft.com/office/drawing/2017/decorative" val="1"/>
              </a:ext>
            </a:extLst>
          </p:cNvPr>
          <p:cNvCxnSpPr>
            <a:stCxn id="18" idx="2"/>
            <a:endCxn id="19" idx="3"/>
          </p:cNvCxnSpPr>
          <p:nvPr/>
        </p:nvCxnSpPr>
        <p:spPr>
          <a:xfrm rot="5400000">
            <a:off x="5970442" y="3750988"/>
            <a:ext cx="223833" cy="1769610"/>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C183D7F6-B498-43B3-948B-1728B52AA6E4}">
                <adec:decorative xmlns:adec="http://schemas.microsoft.com/office/drawing/2017/decorative" val="1"/>
              </a:ext>
            </a:extLst>
          </p:cNvPr>
          <p:cNvCxnSpPr>
            <a:stCxn id="19" idx="1"/>
            <a:endCxn id="20" idx="1"/>
          </p:cNvCxnSpPr>
          <p:nvPr/>
        </p:nvCxnSpPr>
        <p:spPr>
          <a:xfrm rot="10800000" flipH="1" flipV="1">
            <a:off x="2806513" y="4747709"/>
            <a:ext cx="328935" cy="422723"/>
          </a:xfrm>
          <a:prstGeom prst="bentConnector3">
            <a:avLst>
              <a:gd name="adj1" fmla="val -69497"/>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C183D7F6-B498-43B3-948B-1728B52AA6E4}">
                <adec:decorative xmlns:adec="http://schemas.microsoft.com/office/drawing/2017/decorative" val="1"/>
              </a:ext>
            </a:extLst>
          </p:cNvPr>
          <p:cNvCxnSpPr>
            <a:stCxn id="20" idx="3"/>
            <a:endCxn id="74" idx="0"/>
          </p:cNvCxnSpPr>
          <p:nvPr/>
        </p:nvCxnSpPr>
        <p:spPr>
          <a:xfrm>
            <a:off x="4868617" y="5170433"/>
            <a:ext cx="2076846" cy="184666"/>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C183D7F6-B498-43B3-948B-1728B52AA6E4}">
                <adec:decorative xmlns:adec="http://schemas.microsoft.com/office/drawing/2017/decorative" val="1"/>
              </a:ext>
            </a:extLst>
          </p:cNvPr>
          <p:cNvCxnSpPr>
            <a:stCxn id="74" idx="2"/>
            <a:endCxn id="21" idx="3"/>
          </p:cNvCxnSpPr>
          <p:nvPr/>
        </p:nvCxnSpPr>
        <p:spPr>
          <a:xfrm rot="5400000">
            <a:off x="5878432" y="4771428"/>
            <a:ext cx="114028" cy="2020035"/>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urved Connector 93">
            <a:extLst>
              <a:ext uri="{C183D7F6-B498-43B3-948B-1728B52AA6E4}">
                <adec:decorative xmlns:adec="http://schemas.microsoft.com/office/drawing/2017/decorative" val="1"/>
              </a:ext>
            </a:extLst>
          </p:cNvPr>
          <p:cNvCxnSpPr>
            <a:stCxn id="18" idx="3"/>
            <a:endCxn id="74" idx="3"/>
          </p:cNvCxnSpPr>
          <p:nvPr/>
        </p:nvCxnSpPr>
        <p:spPr>
          <a:xfrm>
            <a:off x="7367144" y="4339211"/>
            <a:ext cx="180567" cy="1200554"/>
          </a:xfrm>
          <a:prstGeom prst="curvedConnector3">
            <a:avLst>
              <a:gd name="adj1" fmla="val 226601"/>
            </a:avLst>
          </a:prstGeom>
          <a:ln w="38100">
            <a:solidFill>
              <a:srgbClr val="FF7F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C183D7F6-B498-43B3-948B-1728B52AA6E4}">
                <adec:decorative xmlns:adec="http://schemas.microsoft.com/office/drawing/2017/decorative" val="1"/>
              </a:ext>
            </a:extLst>
          </p:cNvPr>
          <p:cNvCxnSpPr>
            <a:stCxn id="32" idx="2"/>
            <a:endCxn id="15" idx="3"/>
          </p:cNvCxnSpPr>
          <p:nvPr/>
        </p:nvCxnSpPr>
        <p:spPr>
          <a:xfrm flipH="1">
            <a:off x="7529974" y="2948033"/>
            <a:ext cx="1798237" cy="4232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0234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Django forms act as "glue"</a:t>
            </a:r>
          </a:p>
        </p:txBody>
      </p:sp>
      <p:sp>
        <p:nvSpPr>
          <p:cNvPr id="3" name="Content Placeholder 2"/>
          <p:cNvSpPr>
            <a:spLocks noGrp="1"/>
          </p:cNvSpPr>
          <p:nvPr>
            <p:ph idx="1"/>
          </p:nvPr>
        </p:nvSpPr>
        <p:spPr>
          <a:xfrm>
            <a:off x="838200" y="1825625"/>
            <a:ext cx="10515600" cy="3246438"/>
          </a:xfrm>
        </p:spPr>
        <p:txBody>
          <a:bodyPr/>
          <a:lstStyle/>
          <a:p>
            <a:r>
              <a:rPr lang="en-US" dirty="0"/>
              <a:t>Generate the necessary HTML to send to the browser</a:t>
            </a:r>
          </a:p>
          <a:p>
            <a:pPr lvl="1"/>
            <a:r>
              <a:rPr lang="en-US" dirty="0"/>
              <a:t>Allow for consistent look and feel across all the forms in an application</a:t>
            </a:r>
          </a:p>
          <a:p>
            <a:r>
              <a:rPr lang="en-US" dirty="0"/>
              <a:t>Receive the POST data coming back from the browser</a:t>
            </a:r>
          </a:p>
          <a:p>
            <a:r>
              <a:rPr lang="en-US" dirty="0"/>
              <a:t>Validate the incoming POST data and produce HTML for an error screen if necessary</a:t>
            </a:r>
          </a:p>
          <a:p>
            <a:r>
              <a:rPr lang="en-US" dirty="0"/>
              <a:t>Move the data from the form into a model and then store it in the database automatically</a:t>
            </a:r>
          </a:p>
        </p:txBody>
      </p:sp>
      <p:sp>
        <p:nvSpPr>
          <p:cNvPr id="4" name="Rectangle 3"/>
          <p:cNvSpPr/>
          <p:nvPr/>
        </p:nvSpPr>
        <p:spPr>
          <a:xfrm>
            <a:off x="2205038" y="5369778"/>
            <a:ext cx="8305800" cy="369332"/>
          </a:xfrm>
          <a:prstGeom prst="rect">
            <a:avLst/>
          </a:prstGeom>
        </p:spPr>
        <p:txBody>
          <a:bodyPr wrap="square">
            <a:spAutoFit/>
          </a:bodyPr>
          <a:lstStyle/>
          <a:p>
            <a:r>
              <a:rPr lang="en-US" dirty="0">
                <a:solidFill>
                  <a:srgbClr val="FFFF00"/>
                </a:solidFill>
              </a:rPr>
              <a:t>https://</a:t>
            </a:r>
            <a:r>
              <a:rPr lang="en-US" dirty="0" err="1">
                <a:solidFill>
                  <a:srgbClr val="FFFF00"/>
                </a:solidFill>
              </a:rPr>
              <a:t>docs.djangoproject.com</a:t>
            </a:r>
            <a:r>
              <a:rPr lang="en-US" dirty="0">
                <a:solidFill>
                  <a:srgbClr val="FFFF00"/>
                </a:solidFill>
              </a:rPr>
              <a:t>/</a:t>
            </a:r>
            <a:r>
              <a:rPr lang="en-US" dirty="0" err="1">
                <a:solidFill>
                  <a:srgbClr val="FFFF00"/>
                </a:solidFill>
              </a:rPr>
              <a:t>en</a:t>
            </a:r>
            <a:r>
              <a:rPr lang="en-US" dirty="0">
                <a:solidFill>
                  <a:srgbClr val="FFFF00"/>
                </a:solidFill>
              </a:rPr>
              <a:t>/4.0/topics/forms/#</a:t>
            </a:r>
            <a:r>
              <a:rPr lang="en-US" dirty="0" err="1">
                <a:solidFill>
                  <a:srgbClr val="FFFF00"/>
                </a:solidFill>
              </a:rPr>
              <a:t>django</a:t>
            </a:r>
            <a:r>
              <a:rPr lang="en-US" dirty="0">
                <a:solidFill>
                  <a:srgbClr val="FFFF00"/>
                </a:solidFill>
              </a:rPr>
              <a:t>-s-role-in-forms</a:t>
            </a:r>
          </a:p>
        </p:txBody>
      </p:sp>
    </p:spTree>
    <p:extLst>
      <p:ext uri="{BB962C8B-B14F-4D97-AF65-F5344CB8AC3E}">
        <p14:creationId xmlns:p14="http://schemas.microsoft.com/office/powerpoint/2010/main" val="1803327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8750" y="4763739"/>
            <a:ext cx="4336200" cy="1325563"/>
          </a:xfrm>
        </p:spPr>
        <p:txBody>
          <a:bodyPr/>
          <a:lstStyle/>
          <a:p>
            <a:r>
              <a:rPr lang="en-US" dirty="0"/>
              <a:t>A simple form</a:t>
            </a:r>
          </a:p>
        </p:txBody>
      </p:sp>
      <p:sp>
        <p:nvSpPr>
          <p:cNvPr id="5" name="Rectangle 4"/>
          <p:cNvSpPr/>
          <p:nvPr/>
        </p:nvSpPr>
        <p:spPr>
          <a:xfrm>
            <a:off x="978750" y="683617"/>
            <a:ext cx="3810659" cy="369332"/>
          </a:xfrm>
          <a:prstGeom prst="rect">
            <a:avLst/>
          </a:prstGeom>
        </p:spPr>
        <p:txBody>
          <a:bodyPr wrap="none">
            <a:spAutoFit/>
          </a:bodyPr>
          <a:lstStyle/>
          <a:p>
            <a:r>
              <a:rPr lang="en-US" dirty="0">
                <a:solidFill>
                  <a:srgbClr val="FFFF00"/>
                </a:solidFill>
                <a:latin typeface="Menlo" charset="0"/>
              </a:rPr>
              <a:t>dj4e-samples/form/</a:t>
            </a:r>
            <a:r>
              <a:rPr lang="en-US" dirty="0" err="1">
                <a:solidFill>
                  <a:srgbClr val="FFFF00"/>
                </a:solidFill>
                <a:latin typeface="Menlo" charset="0"/>
              </a:rPr>
              <a:t>forms.py</a:t>
            </a:r>
            <a:endParaRPr lang="en-US" dirty="0">
              <a:solidFill>
                <a:srgbClr val="FFFF00"/>
              </a:solidFill>
              <a:effectLst/>
              <a:latin typeface="Menlo" charset="0"/>
            </a:endParaRPr>
          </a:p>
        </p:txBody>
      </p:sp>
      <p:sp>
        <p:nvSpPr>
          <p:cNvPr id="4" name="Rectangle 3"/>
          <p:cNvSpPr/>
          <p:nvPr/>
        </p:nvSpPr>
        <p:spPr>
          <a:xfrm>
            <a:off x="978750" y="1269947"/>
            <a:ext cx="9900048" cy="2308324"/>
          </a:xfrm>
          <a:prstGeom prst="rect">
            <a:avLst/>
          </a:prstGeom>
          <a:solidFill>
            <a:schemeClr val="tx1"/>
          </a:solidFill>
        </p:spPr>
        <p:txBody>
          <a:bodyPr wrap="square">
            <a:spAutoFit/>
          </a:bodyPr>
          <a:lstStyle/>
          <a:p>
            <a:r>
              <a:rPr lang="en-US" sz="1600" b="1" dirty="0">
                <a:solidFill>
                  <a:srgbClr val="C814C9"/>
                </a:solidFill>
                <a:latin typeface="Courier" charset="0"/>
                <a:ea typeface="Courier" charset="0"/>
                <a:cs typeface="Courier" charset="0"/>
              </a:rPr>
              <a:t>from</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django</a:t>
            </a:r>
            <a:r>
              <a:rPr lang="en-US" sz="1600" b="1" dirty="0">
                <a:solidFill>
                  <a:srgbClr val="000000"/>
                </a:solidFill>
                <a:latin typeface="Courier" charset="0"/>
                <a:ea typeface="Courier" charset="0"/>
                <a:cs typeface="Courier" charset="0"/>
              </a:rPr>
              <a:t> </a:t>
            </a:r>
            <a:r>
              <a:rPr lang="en-US" sz="1600" b="1" dirty="0">
                <a:solidFill>
                  <a:srgbClr val="C814C9"/>
                </a:solidFill>
                <a:latin typeface="Courier" charset="0"/>
                <a:ea typeface="Courier" charset="0"/>
                <a:cs typeface="Courier" charset="0"/>
              </a:rPr>
              <a:t>import</a:t>
            </a:r>
            <a:r>
              <a:rPr lang="en-US" sz="1600" b="1" dirty="0">
                <a:solidFill>
                  <a:srgbClr val="000000"/>
                </a:solidFill>
                <a:latin typeface="Courier" charset="0"/>
                <a:ea typeface="Courier" charset="0"/>
                <a:cs typeface="Courier" charset="0"/>
              </a:rPr>
              <a:t> forms</a:t>
            </a:r>
          </a:p>
          <a:p>
            <a:r>
              <a:rPr lang="en-US" sz="1600" b="1" dirty="0">
                <a:solidFill>
                  <a:srgbClr val="C814C9"/>
                </a:solidFill>
                <a:latin typeface="Courier" charset="0"/>
                <a:ea typeface="Courier" charset="0"/>
                <a:cs typeface="Courier" charset="0"/>
              </a:rPr>
              <a:t>from</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django.core.exceptions</a:t>
            </a:r>
            <a:r>
              <a:rPr lang="en-US" sz="1600" b="1" dirty="0">
                <a:solidFill>
                  <a:srgbClr val="000000"/>
                </a:solidFill>
                <a:latin typeface="Courier" charset="0"/>
                <a:ea typeface="Courier" charset="0"/>
                <a:cs typeface="Courier" charset="0"/>
              </a:rPr>
              <a:t> </a:t>
            </a:r>
            <a:r>
              <a:rPr lang="en-US" sz="1600" b="1" dirty="0">
                <a:solidFill>
                  <a:srgbClr val="C814C9"/>
                </a:solidFill>
                <a:latin typeface="Courier" charset="0"/>
                <a:ea typeface="Courier" charset="0"/>
                <a:cs typeface="Courier" charset="0"/>
              </a:rPr>
              <a:t>import</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ValidationError</a:t>
            </a:r>
            <a:endParaRPr lang="en-US" sz="1600" b="1" dirty="0">
              <a:solidFill>
                <a:srgbClr val="000000"/>
              </a:solidFill>
              <a:latin typeface="Courier" charset="0"/>
              <a:ea typeface="Courier" charset="0"/>
              <a:cs typeface="Courier" charset="0"/>
            </a:endParaRPr>
          </a:p>
          <a:p>
            <a:r>
              <a:rPr lang="en-US" sz="1600" b="1" dirty="0">
                <a:solidFill>
                  <a:srgbClr val="C814C9"/>
                </a:solidFill>
                <a:latin typeface="Courier" charset="0"/>
                <a:ea typeface="Courier" charset="0"/>
                <a:cs typeface="Courier" charset="0"/>
              </a:rPr>
              <a:t>from</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django.core</a:t>
            </a:r>
            <a:r>
              <a:rPr lang="en-US" sz="1600" b="1" dirty="0">
                <a:solidFill>
                  <a:srgbClr val="000000"/>
                </a:solidFill>
                <a:latin typeface="Courier" charset="0"/>
                <a:ea typeface="Courier" charset="0"/>
                <a:cs typeface="Courier" charset="0"/>
              </a:rPr>
              <a:t> </a:t>
            </a:r>
            <a:r>
              <a:rPr lang="en-US" sz="1600" b="1" dirty="0">
                <a:solidFill>
                  <a:srgbClr val="C814C9"/>
                </a:solidFill>
                <a:latin typeface="Courier" charset="0"/>
                <a:ea typeface="Courier" charset="0"/>
                <a:cs typeface="Courier" charset="0"/>
              </a:rPr>
              <a:t>import</a:t>
            </a:r>
            <a:r>
              <a:rPr lang="en-US" sz="1600" b="1" dirty="0">
                <a:solidFill>
                  <a:srgbClr val="000000"/>
                </a:solidFill>
                <a:latin typeface="Courier" charset="0"/>
                <a:ea typeface="Courier" charset="0"/>
                <a:cs typeface="Courier" charset="0"/>
              </a:rPr>
              <a:t> validators</a:t>
            </a:r>
          </a:p>
          <a:p>
            <a:endParaRPr lang="en-US" sz="1600" b="1" dirty="0">
              <a:solidFill>
                <a:srgbClr val="000000"/>
              </a:solidFill>
              <a:latin typeface="Courier" charset="0"/>
              <a:ea typeface="Courier" charset="0"/>
              <a:cs typeface="Courier" charset="0"/>
            </a:endParaRPr>
          </a:p>
          <a:p>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err="1">
                <a:solidFill>
                  <a:schemeClr val="bg1"/>
                </a:solidFill>
                <a:latin typeface="Courier" charset="0"/>
                <a:ea typeface="Courier" charset="0"/>
                <a:cs typeface="Courier" charset="0"/>
              </a:rPr>
              <a:t>BasicForm</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forms.Form</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title = </a:t>
            </a:r>
            <a:r>
              <a:rPr lang="en-US" sz="1600" b="1" dirty="0" err="1">
                <a:solidFill>
                  <a:srgbClr val="000000"/>
                </a:solidFill>
                <a:latin typeface="Courier" charset="0"/>
                <a:ea typeface="Courier" charset="0"/>
                <a:cs typeface="Courier" charset="0"/>
              </a:rPr>
              <a:t>forms.CharField</a:t>
            </a:r>
            <a:r>
              <a:rPr lang="en-US" sz="1600" b="1" dirty="0">
                <a:solidFill>
                  <a:srgbClr val="000000"/>
                </a:solidFill>
                <a:latin typeface="Courier" charset="0"/>
                <a:ea typeface="Courier" charset="0"/>
                <a:cs typeface="Courier" charset="0"/>
              </a:rPr>
              <a:t>(validators=[</a:t>
            </a:r>
          </a:p>
          <a:p>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validators.MinLengthValidator</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2</a:t>
            </a:r>
            <a:r>
              <a:rPr lang="en-US" sz="1600" b="1" dirty="0">
                <a:solidFill>
                  <a:srgbClr val="000000"/>
                </a:solidFill>
                <a:latin typeface="Courier" charset="0"/>
                <a:ea typeface="Courier" charset="0"/>
                <a:cs typeface="Courier" charset="0"/>
              </a:rPr>
              <a:t>, </a:t>
            </a:r>
            <a:r>
              <a:rPr lang="en-US" sz="1600" b="1" dirty="0">
                <a:solidFill>
                  <a:srgbClr val="B42419"/>
                </a:solidFill>
                <a:latin typeface="Courier" charset="0"/>
                <a:ea typeface="Courier" charset="0"/>
                <a:cs typeface="Courier" charset="0"/>
              </a:rPr>
              <a:t>"Please enter 2 or more characters"</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mileage = </a:t>
            </a:r>
            <a:r>
              <a:rPr lang="en-US" sz="1600" b="1" dirty="0" err="1">
                <a:solidFill>
                  <a:srgbClr val="000000"/>
                </a:solidFill>
                <a:latin typeface="Courier" charset="0"/>
                <a:ea typeface="Courier" charset="0"/>
                <a:cs typeface="Courier" charset="0"/>
              </a:rPr>
              <a:t>forms.IntegerField</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purchase_date</a:t>
            </a:r>
            <a:r>
              <a:rPr lang="en-US" sz="1600" b="1" dirty="0">
                <a:solidFill>
                  <a:srgbClr val="000000"/>
                </a:solidFill>
                <a:latin typeface="Courier" charset="0"/>
                <a:ea typeface="Courier" charset="0"/>
                <a:cs typeface="Courier" charset="0"/>
              </a:rPr>
              <a:t> = </a:t>
            </a:r>
            <a:r>
              <a:rPr lang="en-US" sz="1600" b="1" dirty="0" err="1">
                <a:solidFill>
                  <a:srgbClr val="000000"/>
                </a:solidFill>
                <a:latin typeface="Courier" charset="0"/>
                <a:ea typeface="Courier" charset="0"/>
                <a:cs typeface="Courier" charset="0"/>
              </a:rPr>
              <a:t>forms.DateField</a:t>
            </a:r>
            <a:r>
              <a:rPr lang="en-US" sz="1600" b="1" dirty="0">
                <a:solidFill>
                  <a:srgbClr val="000000"/>
                </a:solidFill>
                <a:latin typeface="Courier" charset="0"/>
                <a:ea typeface="Courier" charset="0"/>
                <a:cs typeface="Courier" charset="0"/>
              </a:rPr>
              <a:t>()</a:t>
            </a:r>
          </a:p>
        </p:txBody>
      </p:sp>
      <p:sp>
        <p:nvSpPr>
          <p:cNvPr id="7" name="Rectangle 6"/>
          <p:cNvSpPr/>
          <p:nvPr/>
        </p:nvSpPr>
        <p:spPr>
          <a:xfrm>
            <a:off x="1777548" y="4156236"/>
            <a:ext cx="5285421" cy="369332"/>
          </a:xfrm>
          <a:prstGeom prst="rect">
            <a:avLst/>
          </a:prstGeom>
        </p:spPr>
        <p:txBody>
          <a:bodyPr wrap="none">
            <a:spAutoFit/>
          </a:bodyPr>
          <a:lstStyle/>
          <a:p>
            <a:r>
              <a:rPr lang="en-US" dirty="0">
                <a:solidFill>
                  <a:srgbClr val="FFFF00"/>
                </a:solidFill>
                <a:latin typeface="Courier" charset="0"/>
                <a:ea typeface="Courier" charset="0"/>
                <a:cs typeface="Courier" charset="0"/>
              </a:rPr>
              <a:t>https://samples.dj4e.com/form/create</a:t>
            </a:r>
          </a:p>
        </p:txBody>
      </p:sp>
      <p:pic>
        <p:nvPicPr>
          <p:cNvPr id="6" name="Picture 5" descr="A simple HMTL form with title, mileage, purchase data, and submit and cancel butt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624" y="3022005"/>
            <a:ext cx="4726726" cy="3483468"/>
          </a:xfrm>
          <a:prstGeom prst="rect">
            <a:avLst/>
          </a:prstGeom>
        </p:spPr>
      </p:pic>
    </p:spTree>
    <p:extLst>
      <p:ext uri="{BB962C8B-B14F-4D97-AF65-F5344CB8AC3E}">
        <p14:creationId xmlns:p14="http://schemas.microsoft.com/office/powerpoint/2010/main" val="1402587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Dumping a form object</a:t>
            </a:r>
          </a:p>
        </p:txBody>
      </p:sp>
      <p:sp>
        <p:nvSpPr>
          <p:cNvPr id="7" name="Rectangle 6"/>
          <p:cNvSpPr/>
          <p:nvPr/>
        </p:nvSpPr>
        <p:spPr>
          <a:xfrm>
            <a:off x="588752" y="1531392"/>
            <a:ext cx="381065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forms.py</a:t>
            </a:r>
            <a:endParaRPr lang="en-US" dirty="0">
              <a:solidFill>
                <a:srgbClr val="FFFF00"/>
              </a:solidFill>
              <a:effectLst/>
              <a:latin typeface="Courier" charset="0"/>
              <a:ea typeface="Courier" charset="0"/>
              <a:cs typeface="Courier" charset="0"/>
            </a:endParaRPr>
          </a:p>
        </p:txBody>
      </p:sp>
      <p:sp>
        <p:nvSpPr>
          <p:cNvPr id="6" name="Rectangle 5"/>
          <p:cNvSpPr/>
          <p:nvPr/>
        </p:nvSpPr>
        <p:spPr>
          <a:xfrm>
            <a:off x="588753" y="1958954"/>
            <a:ext cx="6096000" cy="1323439"/>
          </a:xfrm>
          <a:prstGeom prst="rect">
            <a:avLst/>
          </a:prstGeom>
          <a:solidFill>
            <a:schemeClr val="tx1"/>
          </a:solidFill>
        </p:spPr>
        <p:txBody>
          <a:bodyPr wrap="square">
            <a:spAutoFit/>
          </a:bodyPr>
          <a:lstStyle/>
          <a:p>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err="1">
                <a:solidFill>
                  <a:schemeClr val="bg1"/>
                </a:solidFill>
                <a:latin typeface="Courier" charset="0"/>
                <a:ea typeface="Courier" charset="0"/>
                <a:cs typeface="Courier" charset="0"/>
              </a:rPr>
              <a:t>BasicForm</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forms.Form</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title = </a:t>
            </a:r>
            <a:r>
              <a:rPr lang="en-US" sz="1600" b="1" dirty="0" err="1">
                <a:solidFill>
                  <a:srgbClr val="000000"/>
                </a:solidFill>
                <a:latin typeface="Courier" charset="0"/>
                <a:ea typeface="Courier" charset="0"/>
                <a:cs typeface="Courier" charset="0"/>
              </a:rPr>
              <a:t>forms.CharField</a:t>
            </a:r>
            <a:r>
              <a:rPr lang="en-US" sz="1600" b="1" dirty="0">
                <a:solidFill>
                  <a:srgbClr val="000000"/>
                </a:solidFill>
                <a:latin typeface="Courier" charset="0"/>
                <a:ea typeface="Courier" charset="0"/>
                <a:cs typeface="Courier" charset="0"/>
              </a:rPr>
              <a:t>(validators=[</a:t>
            </a:r>
          </a:p>
          <a:p>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validators.MinLengthValidator</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2</a:t>
            </a:r>
            <a:r>
              <a:rPr lang="en-US" sz="1600" b="1" dirty="0">
                <a:solidFill>
                  <a:srgbClr val="000000"/>
                </a:solidFill>
                <a:latin typeface="Courier" charset="0"/>
                <a:ea typeface="Courier" charset="0"/>
                <a:cs typeface="Courier" charset="0"/>
              </a:rPr>
              <a:t>, </a:t>
            </a:r>
            <a:r>
              <a:rPr lang="en-US" sz="1600" b="1" dirty="0">
                <a:solidFill>
                  <a:srgbClr val="B42419"/>
                </a:solidFill>
                <a:latin typeface="Courier" charset="0"/>
                <a:ea typeface="Courier" charset="0"/>
                <a:cs typeface="Courier" charset="0"/>
              </a:rPr>
              <a:t>"..."</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mileage = </a:t>
            </a:r>
            <a:r>
              <a:rPr lang="en-US" sz="1600" b="1" dirty="0" err="1">
                <a:solidFill>
                  <a:srgbClr val="000000"/>
                </a:solidFill>
                <a:latin typeface="Courier" charset="0"/>
                <a:ea typeface="Courier" charset="0"/>
                <a:cs typeface="Courier" charset="0"/>
              </a:rPr>
              <a:t>forms.IntegerField</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purchase_date</a:t>
            </a:r>
            <a:r>
              <a:rPr lang="en-US" sz="1600" b="1" dirty="0">
                <a:solidFill>
                  <a:srgbClr val="000000"/>
                </a:solidFill>
                <a:latin typeface="Courier" charset="0"/>
                <a:ea typeface="Courier" charset="0"/>
                <a:cs typeface="Courier" charset="0"/>
              </a:rPr>
              <a:t> = </a:t>
            </a:r>
            <a:r>
              <a:rPr lang="en-US" sz="1600" b="1" dirty="0" err="1">
                <a:solidFill>
                  <a:srgbClr val="000000"/>
                </a:solidFill>
                <a:latin typeface="Courier" charset="0"/>
                <a:ea typeface="Courier" charset="0"/>
                <a:cs typeface="Courier" charset="0"/>
              </a:rPr>
              <a:t>forms.DateField</a:t>
            </a:r>
            <a:r>
              <a:rPr lang="en-US" sz="1600" b="1" dirty="0">
                <a:solidFill>
                  <a:srgbClr val="000000"/>
                </a:solidFill>
                <a:latin typeface="Courier" charset="0"/>
                <a:ea typeface="Courier" charset="0"/>
                <a:cs typeface="Courier" charset="0"/>
              </a:rPr>
              <a:t>()</a:t>
            </a:r>
          </a:p>
        </p:txBody>
      </p:sp>
      <p:sp>
        <p:nvSpPr>
          <p:cNvPr id="8" name="Rectangle 7"/>
          <p:cNvSpPr/>
          <p:nvPr/>
        </p:nvSpPr>
        <p:spPr>
          <a:xfrm>
            <a:off x="588752" y="3492429"/>
            <a:ext cx="381065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views.py</a:t>
            </a:r>
            <a:endParaRPr lang="en-US" dirty="0">
              <a:solidFill>
                <a:srgbClr val="FFFF00"/>
              </a:solidFill>
              <a:effectLst/>
              <a:latin typeface="Courier" charset="0"/>
              <a:ea typeface="Courier" charset="0"/>
              <a:cs typeface="Courier" charset="0"/>
            </a:endParaRPr>
          </a:p>
        </p:txBody>
      </p:sp>
      <p:sp>
        <p:nvSpPr>
          <p:cNvPr id="5" name="Rectangle 4"/>
          <p:cNvSpPr/>
          <p:nvPr/>
        </p:nvSpPr>
        <p:spPr>
          <a:xfrm>
            <a:off x="588752" y="3880582"/>
            <a:ext cx="6096000" cy="1477328"/>
          </a:xfrm>
          <a:prstGeom prst="rect">
            <a:avLst/>
          </a:prstGeom>
          <a:solidFill>
            <a:schemeClr val="tx1"/>
          </a:solidFill>
        </p:spPr>
        <p:txBody>
          <a:bodyPr>
            <a:spAutoFit/>
          </a:bodyPr>
          <a:lstStyle/>
          <a:p>
            <a:r>
              <a:rPr lang="en-US" b="1" dirty="0">
                <a:solidFill>
                  <a:srgbClr val="C814C9"/>
                </a:solidFill>
                <a:latin typeface="Courier" charset="0"/>
                <a:ea typeface="Courier" charset="0"/>
                <a:cs typeface="Courier" charset="0"/>
              </a:rPr>
              <a:t>from</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form.forms</a:t>
            </a:r>
            <a:r>
              <a:rPr lang="en-US" b="1" dirty="0">
                <a:solidFill>
                  <a:srgbClr val="000000"/>
                </a:solidFill>
                <a:latin typeface="Courier" charset="0"/>
                <a:ea typeface="Courier" charset="0"/>
                <a:cs typeface="Courier" charset="0"/>
              </a:rPr>
              <a:t> </a:t>
            </a:r>
            <a:r>
              <a:rPr lang="en-US" b="1" dirty="0">
                <a:solidFill>
                  <a:srgbClr val="C814C9"/>
                </a:solidFill>
                <a:latin typeface="Courier" charset="0"/>
                <a:ea typeface="Courier" charset="0"/>
                <a:cs typeface="Courier" charset="0"/>
              </a:rPr>
              <a:t>import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BasicForm</a:t>
            </a:r>
            <a:endParaRPr lang="en-US" b="1" dirty="0">
              <a:solidFill>
                <a:srgbClr val="000000"/>
              </a:solidFill>
              <a:latin typeface="Courier" charset="0"/>
              <a:ea typeface="Courier" charset="0"/>
              <a:cs typeface="Courier" charset="0"/>
            </a:endParaRPr>
          </a:p>
          <a:p>
            <a:endParaRPr lang="en-US" b="1" dirty="0">
              <a:solidFill>
                <a:srgbClr val="000000"/>
              </a:solidFill>
              <a:latin typeface="Courier" charset="0"/>
              <a:ea typeface="Courier" charset="0"/>
              <a:cs typeface="Courier" charset="0"/>
            </a:endParaRPr>
          </a:p>
          <a:p>
            <a:r>
              <a:rPr lang="en-US" b="1" dirty="0" err="1">
                <a:solidFill>
                  <a:srgbClr val="C1651C"/>
                </a:solidFill>
                <a:latin typeface="Courier" charset="0"/>
                <a:ea typeface="Courier" charset="0"/>
                <a:cs typeface="Courier" charset="0"/>
              </a:rPr>
              <a:t>def</a:t>
            </a:r>
            <a:r>
              <a:rPr lang="en-US" b="1" dirty="0">
                <a:solidFill>
                  <a:srgbClr val="000000"/>
                </a:solidFill>
                <a:latin typeface="Courier" charset="0"/>
                <a:ea typeface="Courier" charset="0"/>
                <a:cs typeface="Courier" charset="0"/>
              </a:rPr>
              <a:t> </a:t>
            </a:r>
            <a:r>
              <a:rPr lang="en-US" b="1" dirty="0">
                <a:solidFill>
                  <a:schemeClr val="bg1"/>
                </a:solidFill>
                <a:latin typeface="Courier" charset="0"/>
                <a:ea typeface="Courier" charset="0"/>
                <a:cs typeface="Courier" charset="0"/>
              </a:rPr>
              <a:t>example</a:t>
            </a:r>
            <a:r>
              <a:rPr lang="en-US" b="1" dirty="0">
                <a:solidFill>
                  <a:srgbClr val="000000"/>
                </a:solidFill>
                <a:latin typeface="Courier" charset="0"/>
                <a:ea typeface="Courier" charset="0"/>
                <a:cs typeface="Courier" charset="0"/>
              </a:rPr>
              <a:t>(request) :</a:t>
            </a:r>
          </a:p>
          <a:p>
            <a:r>
              <a:rPr lang="en-US" b="1" dirty="0">
                <a:solidFill>
                  <a:srgbClr val="000000"/>
                </a:solidFill>
                <a:latin typeface="Courier" charset="0"/>
                <a:ea typeface="Courier" charset="0"/>
                <a:cs typeface="Courier" charset="0"/>
              </a:rPr>
              <a:t>    form = </a:t>
            </a:r>
            <a:r>
              <a:rPr lang="en-US" b="1" dirty="0" err="1">
                <a:solidFill>
                  <a:srgbClr val="000000"/>
                </a:solidFill>
                <a:latin typeface="Courier" charset="0"/>
                <a:ea typeface="Courier" charset="0"/>
                <a:cs typeface="Courier" charset="0"/>
              </a:rPr>
              <a:t>BasicForm</a:t>
            </a:r>
            <a:r>
              <a:rPr lang="en-US"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HttpResponse</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form.as_table</a:t>
            </a:r>
            <a:r>
              <a:rPr lang="en-US" b="1" dirty="0">
                <a:solidFill>
                  <a:srgbClr val="000000"/>
                </a:solidFill>
                <a:latin typeface="Courier" charset="0"/>
                <a:ea typeface="Courier" charset="0"/>
                <a:cs typeface="Courier" charset="0"/>
              </a:rPr>
              <a:t>())</a:t>
            </a:r>
            <a:endParaRPr lang="en-US" b="1" dirty="0">
              <a:latin typeface="Courier" charset="0"/>
              <a:ea typeface="Courier" charset="0"/>
              <a:cs typeface="Courier" charset="0"/>
            </a:endParaRPr>
          </a:p>
        </p:txBody>
      </p:sp>
      <p:sp>
        <p:nvSpPr>
          <p:cNvPr id="10" name="Rectangle 9"/>
          <p:cNvSpPr/>
          <p:nvPr/>
        </p:nvSpPr>
        <p:spPr>
          <a:xfrm>
            <a:off x="6767073" y="1027906"/>
            <a:ext cx="5285421" cy="369332"/>
          </a:xfrm>
          <a:prstGeom prst="rect">
            <a:avLst/>
          </a:prstGeom>
        </p:spPr>
        <p:txBody>
          <a:bodyPr wrap="none">
            <a:spAutoFit/>
          </a:bodyPr>
          <a:lstStyle/>
          <a:p>
            <a:r>
              <a:rPr lang="en-US">
                <a:solidFill>
                  <a:srgbClr val="FFFF00"/>
                </a:solidFill>
                <a:latin typeface="Courier" charset="0"/>
                <a:ea typeface="Courier" charset="0"/>
                <a:cs typeface="Courier" charset="0"/>
              </a:rPr>
              <a:t>https://samples.dj4e.com/form/example</a:t>
            </a:r>
          </a:p>
        </p:txBody>
      </p:sp>
      <p:sp>
        <p:nvSpPr>
          <p:cNvPr id="9" name="Rectangle 8"/>
          <p:cNvSpPr/>
          <p:nvPr/>
        </p:nvSpPr>
        <p:spPr>
          <a:xfrm>
            <a:off x="6941901" y="1602832"/>
            <a:ext cx="4935767" cy="3754874"/>
          </a:xfrm>
          <a:prstGeom prst="rect">
            <a:avLst/>
          </a:prstGeom>
          <a:solidFill>
            <a:schemeClr val="tx1"/>
          </a:solidFill>
        </p:spPr>
        <p:txBody>
          <a:bodyPr wrap="square">
            <a:spAutoFit/>
          </a:bodyPr>
          <a:lstStyle/>
          <a:p>
            <a:r>
              <a:rPr lang="en-US" sz="1400" b="1" dirty="0">
                <a:solidFill>
                  <a:srgbClr val="000000"/>
                </a:solidFill>
                <a:latin typeface="Courier" charset="0"/>
                <a:ea typeface="Courier" charset="0"/>
                <a:cs typeface="Courier" charset="0"/>
              </a:rPr>
              <a:t>&lt;</a:t>
            </a:r>
            <a:r>
              <a:rPr lang="en-US" sz="1400" b="1" dirty="0" err="1">
                <a:solidFill>
                  <a:srgbClr val="000000"/>
                </a:solidFill>
                <a:latin typeface="Courier" charset="0"/>
                <a:ea typeface="Courier" charset="0"/>
                <a:cs typeface="Courier" charset="0"/>
              </a:rPr>
              <a:t>tr</a:t>
            </a:r>
            <a:r>
              <a:rPr lang="en-US" sz="1400" b="1" dirty="0">
                <a:solidFill>
                  <a:srgbClr val="000000"/>
                </a:solidFill>
                <a:latin typeface="Courier" charset="0"/>
                <a:ea typeface="Courier" charset="0"/>
                <a:cs typeface="Courier" charset="0"/>
              </a:rPr>
              <a:t>&gt;&lt;</a:t>
            </a:r>
            <a:r>
              <a:rPr lang="en-US" sz="1400" b="1" dirty="0" err="1">
                <a:solidFill>
                  <a:srgbClr val="000000"/>
                </a:solidFill>
                <a:latin typeface="Courier" charset="0"/>
                <a:ea typeface="Courier" charset="0"/>
                <a:cs typeface="Courier" charset="0"/>
              </a:rPr>
              <a:t>th</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&lt;label for="</a:t>
            </a:r>
            <a:r>
              <a:rPr lang="en-US" sz="1400" b="1" dirty="0" err="1">
                <a:solidFill>
                  <a:srgbClr val="000000"/>
                </a:solidFill>
                <a:latin typeface="Courier" charset="0"/>
                <a:ea typeface="Courier" charset="0"/>
                <a:cs typeface="Courier" charset="0"/>
              </a:rPr>
              <a:t>id_title</a:t>
            </a:r>
            <a:r>
              <a:rPr lang="en-US" sz="1400" b="1" dirty="0">
                <a:solidFill>
                  <a:srgbClr val="000000"/>
                </a:solidFill>
                <a:latin typeface="Courier" charset="0"/>
                <a:ea typeface="Courier" charset="0"/>
                <a:cs typeface="Courier" charset="0"/>
              </a:rPr>
              <a:t>"&gt;Title:&lt;/label&gt;&lt;/</a:t>
            </a:r>
            <a:r>
              <a:rPr lang="en-US" sz="1400" b="1" dirty="0" err="1">
                <a:solidFill>
                  <a:srgbClr val="000000"/>
                </a:solidFill>
                <a:latin typeface="Courier" charset="0"/>
                <a:ea typeface="Courier" charset="0"/>
                <a:cs typeface="Courier" charset="0"/>
              </a:rPr>
              <a:t>th</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&lt;td&gt;&lt;input type="text" name="title"</a:t>
            </a:r>
          </a:p>
          <a:p>
            <a:r>
              <a:rPr lang="en-US" sz="1400" b="1" dirty="0">
                <a:solidFill>
                  <a:srgbClr val="000000"/>
                </a:solidFill>
                <a:latin typeface="Courier" charset="0"/>
                <a:ea typeface="Courier" charset="0"/>
                <a:cs typeface="Courier" charset="0"/>
              </a:rPr>
              <a:t>required id="</a:t>
            </a:r>
            <a:r>
              <a:rPr lang="en-US" sz="1400" b="1" dirty="0" err="1">
                <a:solidFill>
                  <a:srgbClr val="000000"/>
                </a:solidFill>
                <a:latin typeface="Courier" charset="0"/>
                <a:ea typeface="Courier" charset="0"/>
                <a:cs typeface="Courier" charset="0"/>
              </a:rPr>
              <a:t>id_title</a:t>
            </a:r>
            <a:r>
              <a:rPr lang="en-US" sz="1400" b="1" dirty="0">
                <a:solidFill>
                  <a:srgbClr val="000000"/>
                </a:solidFill>
                <a:latin typeface="Courier" charset="0"/>
                <a:ea typeface="Courier" charset="0"/>
                <a:cs typeface="Courier" charset="0"/>
              </a:rPr>
              <a:t>"&gt;&lt;/td&gt;&lt;/</a:t>
            </a:r>
            <a:r>
              <a:rPr lang="en-US" sz="1400" b="1" dirty="0" err="1">
                <a:solidFill>
                  <a:srgbClr val="000000"/>
                </a:solidFill>
                <a:latin typeface="Courier" charset="0"/>
                <a:ea typeface="Courier" charset="0"/>
                <a:cs typeface="Courier" charset="0"/>
              </a:rPr>
              <a:t>tr</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a:t>
            </a:r>
            <a:r>
              <a:rPr lang="en-US" sz="1400" b="1" dirty="0" err="1">
                <a:solidFill>
                  <a:srgbClr val="000000"/>
                </a:solidFill>
                <a:latin typeface="Courier" charset="0"/>
                <a:ea typeface="Courier" charset="0"/>
                <a:cs typeface="Courier" charset="0"/>
              </a:rPr>
              <a:t>tr</a:t>
            </a:r>
            <a:r>
              <a:rPr lang="en-US" sz="1400" b="1" dirty="0">
                <a:solidFill>
                  <a:srgbClr val="000000"/>
                </a:solidFill>
                <a:latin typeface="Courier" charset="0"/>
                <a:ea typeface="Courier" charset="0"/>
                <a:cs typeface="Courier" charset="0"/>
              </a:rPr>
              <a:t>&gt;&lt;</a:t>
            </a:r>
            <a:r>
              <a:rPr lang="en-US" sz="1400" b="1" dirty="0" err="1">
                <a:solidFill>
                  <a:srgbClr val="000000"/>
                </a:solidFill>
                <a:latin typeface="Courier" charset="0"/>
                <a:ea typeface="Courier" charset="0"/>
                <a:cs typeface="Courier" charset="0"/>
              </a:rPr>
              <a:t>th</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&lt;label for="</a:t>
            </a:r>
            <a:r>
              <a:rPr lang="en-US" sz="1400" b="1" dirty="0" err="1">
                <a:solidFill>
                  <a:srgbClr val="000000"/>
                </a:solidFill>
                <a:latin typeface="Courier" charset="0"/>
                <a:ea typeface="Courier" charset="0"/>
                <a:cs typeface="Courier" charset="0"/>
              </a:rPr>
              <a:t>id_mileage</a:t>
            </a:r>
            <a:r>
              <a:rPr lang="en-US" sz="1400" b="1" dirty="0">
                <a:solidFill>
                  <a:srgbClr val="000000"/>
                </a:solidFill>
                <a:latin typeface="Courier" charset="0"/>
                <a:ea typeface="Courier" charset="0"/>
                <a:cs typeface="Courier" charset="0"/>
              </a:rPr>
              <a:t>"&gt;Mileage:&lt;/label&gt;</a:t>
            </a:r>
          </a:p>
          <a:p>
            <a:r>
              <a:rPr lang="en-US" sz="1400" b="1" dirty="0">
                <a:solidFill>
                  <a:srgbClr val="000000"/>
                </a:solidFill>
                <a:latin typeface="Courier" charset="0"/>
                <a:ea typeface="Courier" charset="0"/>
                <a:cs typeface="Courier" charset="0"/>
              </a:rPr>
              <a:t>&lt;/</a:t>
            </a:r>
            <a:r>
              <a:rPr lang="en-US" sz="1400" b="1" dirty="0" err="1">
                <a:solidFill>
                  <a:srgbClr val="000000"/>
                </a:solidFill>
                <a:latin typeface="Courier" charset="0"/>
                <a:ea typeface="Courier" charset="0"/>
                <a:cs typeface="Courier" charset="0"/>
              </a:rPr>
              <a:t>th</a:t>
            </a:r>
            <a:r>
              <a:rPr lang="en-US" sz="1400" b="1" dirty="0">
                <a:solidFill>
                  <a:srgbClr val="000000"/>
                </a:solidFill>
                <a:latin typeface="Courier" charset="0"/>
                <a:ea typeface="Courier" charset="0"/>
                <a:cs typeface="Courier" charset="0"/>
              </a:rPr>
              <a:t>&gt;&lt;td&gt;</a:t>
            </a:r>
          </a:p>
          <a:p>
            <a:r>
              <a:rPr lang="en-US" sz="1400" b="1" dirty="0">
                <a:solidFill>
                  <a:srgbClr val="000000"/>
                </a:solidFill>
                <a:latin typeface="Courier" charset="0"/>
                <a:ea typeface="Courier" charset="0"/>
                <a:cs typeface="Courier" charset="0"/>
              </a:rPr>
              <a:t>&lt;input type="number" name="mileage" required id="</a:t>
            </a:r>
            <a:r>
              <a:rPr lang="en-US" sz="1400" b="1" dirty="0" err="1">
                <a:solidFill>
                  <a:srgbClr val="000000"/>
                </a:solidFill>
                <a:latin typeface="Courier" charset="0"/>
                <a:ea typeface="Courier" charset="0"/>
                <a:cs typeface="Courier" charset="0"/>
              </a:rPr>
              <a:t>id_mileage</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&lt;/td&gt;&lt;/</a:t>
            </a:r>
            <a:r>
              <a:rPr lang="en-US" sz="1400" b="1" dirty="0" err="1">
                <a:solidFill>
                  <a:srgbClr val="000000"/>
                </a:solidFill>
                <a:latin typeface="Courier" charset="0"/>
                <a:ea typeface="Courier" charset="0"/>
                <a:cs typeface="Courier" charset="0"/>
              </a:rPr>
              <a:t>tr</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a:t>
            </a:r>
            <a:r>
              <a:rPr lang="en-US" sz="1400" b="1" dirty="0" err="1">
                <a:solidFill>
                  <a:srgbClr val="000000"/>
                </a:solidFill>
                <a:latin typeface="Courier" charset="0"/>
                <a:ea typeface="Courier" charset="0"/>
                <a:cs typeface="Courier" charset="0"/>
              </a:rPr>
              <a:t>tr</a:t>
            </a:r>
            <a:r>
              <a:rPr lang="en-US" sz="1400" b="1" dirty="0">
                <a:solidFill>
                  <a:srgbClr val="000000"/>
                </a:solidFill>
                <a:latin typeface="Courier" charset="0"/>
                <a:ea typeface="Courier" charset="0"/>
                <a:cs typeface="Courier" charset="0"/>
              </a:rPr>
              <a:t>&gt;&lt;</a:t>
            </a:r>
            <a:r>
              <a:rPr lang="en-US" sz="1400" b="1" dirty="0" err="1">
                <a:solidFill>
                  <a:srgbClr val="000000"/>
                </a:solidFill>
                <a:latin typeface="Courier" charset="0"/>
                <a:ea typeface="Courier" charset="0"/>
                <a:cs typeface="Courier" charset="0"/>
              </a:rPr>
              <a:t>th</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&lt;label for="</a:t>
            </a:r>
            <a:r>
              <a:rPr lang="en-US" sz="1400" b="1" dirty="0" err="1">
                <a:solidFill>
                  <a:srgbClr val="000000"/>
                </a:solidFill>
                <a:latin typeface="Courier" charset="0"/>
                <a:ea typeface="Courier" charset="0"/>
                <a:cs typeface="Courier" charset="0"/>
              </a:rPr>
              <a:t>id_purchase_date</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Purchase date:&lt;/label&gt;</a:t>
            </a:r>
          </a:p>
          <a:p>
            <a:r>
              <a:rPr lang="en-US" sz="1400" b="1" dirty="0">
                <a:solidFill>
                  <a:srgbClr val="000000"/>
                </a:solidFill>
                <a:latin typeface="Courier" charset="0"/>
                <a:ea typeface="Courier" charset="0"/>
                <a:cs typeface="Courier" charset="0"/>
              </a:rPr>
              <a:t>&lt;/</a:t>
            </a:r>
            <a:r>
              <a:rPr lang="en-US" sz="1400" b="1" dirty="0" err="1">
                <a:solidFill>
                  <a:srgbClr val="000000"/>
                </a:solidFill>
                <a:latin typeface="Courier" charset="0"/>
                <a:ea typeface="Courier" charset="0"/>
                <a:cs typeface="Courier" charset="0"/>
              </a:rPr>
              <a:t>th</a:t>
            </a:r>
            <a:r>
              <a:rPr lang="en-US" sz="1400" b="1" dirty="0">
                <a:solidFill>
                  <a:srgbClr val="000000"/>
                </a:solidFill>
                <a:latin typeface="Courier" charset="0"/>
                <a:ea typeface="Courier" charset="0"/>
                <a:cs typeface="Courier" charset="0"/>
              </a:rPr>
              <a:t>&gt;&lt;td&gt;</a:t>
            </a:r>
          </a:p>
          <a:p>
            <a:r>
              <a:rPr lang="en-US" sz="1400" b="1" dirty="0">
                <a:solidFill>
                  <a:srgbClr val="000000"/>
                </a:solidFill>
                <a:latin typeface="Courier" charset="0"/>
                <a:ea typeface="Courier" charset="0"/>
                <a:cs typeface="Courier" charset="0"/>
              </a:rPr>
              <a:t>&lt;input type="text" name="</a:t>
            </a:r>
            <a:r>
              <a:rPr lang="en-US" sz="1400" b="1" dirty="0" err="1">
                <a:solidFill>
                  <a:srgbClr val="000000"/>
                </a:solidFill>
                <a:latin typeface="Courier" charset="0"/>
                <a:ea typeface="Courier" charset="0"/>
                <a:cs typeface="Courier" charset="0"/>
              </a:rPr>
              <a:t>purchase_date</a:t>
            </a:r>
            <a:r>
              <a:rPr lang="en-US" sz="1400" b="1" dirty="0">
                <a:solidFill>
                  <a:srgbClr val="000000"/>
                </a:solidFill>
                <a:latin typeface="Courier" charset="0"/>
                <a:ea typeface="Courier" charset="0"/>
                <a:cs typeface="Courier" charset="0"/>
              </a:rPr>
              <a:t>"</a:t>
            </a:r>
          </a:p>
          <a:p>
            <a:r>
              <a:rPr lang="en-US" sz="1400" b="1" dirty="0">
                <a:solidFill>
                  <a:srgbClr val="000000"/>
                </a:solidFill>
                <a:latin typeface="Courier" charset="0"/>
                <a:ea typeface="Courier" charset="0"/>
                <a:cs typeface="Courier" charset="0"/>
              </a:rPr>
              <a:t>required id="</a:t>
            </a:r>
            <a:r>
              <a:rPr lang="en-US" sz="1400" b="1" dirty="0" err="1">
                <a:solidFill>
                  <a:srgbClr val="000000"/>
                </a:solidFill>
                <a:latin typeface="Courier" charset="0"/>
                <a:ea typeface="Courier" charset="0"/>
                <a:cs typeface="Courier" charset="0"/>
              </a:rPr>
              <a:t>id_purchase_date</a:t>
            </a:r>
            <a:r>
              <a:rPr lang="en-US" sz="1400" b="1" dirty="0">
                <a:solidFill>
                  <a:srgbClr val="000000"/>
                </a:solidFill>
                <a:latin typeface="Courier" charset="0"/>
                <a:ea typeface="Courier" charset="0"/>
                <a:cs typeface="Courier" charset="0"/>
              </a:rPr>
              <a:t>"&gt;</a:t>
            </a:r>
          </a:p>
          <a:p>
            <a:r>
              <a:rPr lang="en-US" sz="1400" b="1" dirty="0">
                <a:solidFill>
                  <a:srgbClr val="000000"/>
                </a:solidFill>
                <a:latin typeface="Courier" charset="0"/>
                <a:ea typeface="Courier" charset="0"/>
                <a:cs typeface="Courier" charset="0"/>
              </a:rPr>
              <a:t>&lt;/td&gt;&lt;/</a:t>
            </a:r>
            <a:r>
              <a:rPr lang="en-US" sz="1400" b="1" dirty="0" err="1">
                <a:solidFill>
                  <a:srgbClr val="000000"/>
                </a:solidFill>
                <a:latin typeface="Courier" charset="0"/>
                <a:ea typeface="Courier" charset="0"/>
                <a:cs typeface="Courier" charset="0"/>
              </a:rPr>
              <a:t>tr</a:t>
            </a:r>
            <a:r>
              <a:rPr lang="en-US" sz="1400" b="1" dirty="0">
                <a:solidFill>
                  <a:srgbClr val="000000"/>
                </a:solidFill>
                <a:latin typeface="Courier" charset="0"/>
                <a:ea typeface="Courier" charset="0"/>
                <a:cs typeface="Courier" charset="0"/>
              </a:rPr>
              <a:t>&gt;</a:t>
            </a:r>
          </a:p>
        </p:txBody>
      </p:sp>
    </p:spTree>
    <p:extLst>
      <p:ext uri="{BB962C8B-B14F-4D97-AF65-F5344CB8AC3E}">
        <p14:creationId xmlns:p14="http://schemas.microsoft.com/office/powerpoint/2010/main" val="389573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form in a template</a:t>
            </a:r>
          </a:p>
        </p:txBody>
      </p:sp>
      <p:sp>
        <p:nvSpPr>
          <p:cNvPr id="3" name="Rectangle 2"/>
          <p:cNvSpPr/>
          <p:nvPr/>
        </p:nvSpPr>
        <p:spPr>
          <a:xfrm>
            <a:off x="838200" y="2290764"/>
            <a:ext cx="9777413" cy="3416320"/>
          </a:xfrm>
          <a:prstGeom prst="rect">
            <a:avLst/>
          </a:prstGeom>
          <a:solidFill>
            <a:schemeClr val="tx1"/>
          </a:solidFill>
        </p:spPr>
        <p:txBody>
          <a:bodyPr wrap="square">
            <a:spAutoFit/>
          </a:bodyPr>
          <a:lstStyle/>
          <a:p>
            <a:r>
              <a:rPr lang="mr-IN" b="1" dirty="0">
                <a:solidFill>
                  <a:schemeClr val="bg1"/>
                </a:solidFill>
                <a:latin typeface="Courier" charset="0"/>
                <a:ea typeface="Courier" charset="0"/>
                <a:cs typeface="Courier" charset="0"/>
              </a:rPr>
              <a:t>&lt;</a:t>
            </a:r>
            <a:r>
              <a:rPr lang="mr-IN" b="1" dirty="0" err="1">
                <a:solidFill>
                  <a:schemeClr val="bg1"/>
                </a:solidFill>
                <a:latin typeface="Courier" charset="0"/>
                <a:ea typeface="Courier" charset="0"/>
                <a:cs typeface="Courier" charset="0"/>
              </a:rPr>
              <a:t>p</a:t>
            </a:r>
            <a:r>
              <a:rPr lang="mr-IN" b="1" dirty="0">
                <a:solidFill>
                  <a:schemeClr val="bg1"/>
                </a:solidFill>
                <a:latin typeface="Courier" charset="0"/>
                <a:ea typeface="Courier" charset="0"/>
                <a:cs typeface="Courier" charset="0"/>
              </a:rPr>
              <a:t>&gt;</a:t>
            </a:r>
          </a:p>
          <a:p>
            <a:r>
              <a:rPr lang="en-US" b="1" dirty="0">
                <a:solidFill>
                  <a:schemeClr val="bg1"/>
                </a:solidFill>
                <a:latin typeface="Courier" charset="0"/>
                <a:ea typeface="Courier" charset="0"/>
                <a:cs typeface="Courier" charset="0"/>
              </a:rPr>
              <a:t>  &lt;form action="" method="post"&gt;</a:t>
            </a:r>
          </a:p>
          <a:p>
            <a:r>
              <a:rPr lang="mr-IN" b="1" dirty="0">
                <a:solidFill>
                  <a:schemeClr val="bg1"/>
                </a:solidFill>
                <a:latin typeface="Courier" charset="0"/>
                <a:ea typeface="Courier" charset="0"/>
                <a:cs typeface="Courier" charset="0"/>
              </a:rPr>
              <a:t>    {% </a:t>
            </a:r>
            <a:r>
              <a:rPr lang="mr-IN" b="1" dirty="0" err="1">
                <a:solidFill>
                  <a:schemeClr val="bg1"/>
                </a:solidFill>
                <a:latin typeface="Courier" charset="0"/>
                <a:ea typeface="Courier" charset="0"/>
                <a:cs typeface="Courier" charset="0"/>
              </a:rPr>
              <a:t>csrf_token</a:t>
            </a:r>
            <a:r>
              <a:rPr lang="mr-IN" b="1" dirty="0">
                <a:solidFill>
                  <a:schemeClr val="bg1"/>
                </a:solidFill>
                <a:latin typeface="Courier" charset="0"/>
                <a:ea typeface="Courier" charset="0"/>
                <a:cs typeface="Courier" charset="0"/>
              </a:rPr>
              <a:t> %}</a:t>
            </a:r>
          </a:p>
          <a:p>
            <a:r>
              <a:rPr lang="mr-IN" b="1" dirty="0">
                <a:solidFill>
                  <a:schemeClr val="bg1"/>
                </a:solidFill>
                <a:latin typeface="Courier" charset="0"/>
                <a:ea typeface="Courier" charset="0"/>
                <a:cs typeface="Courier" charset="0"/>
              </a:rPr>
              <a:t>    &lt;</a:t>
            </a:r>
            <a:r>
              <a:rPr lang="mr-IN" b="1" dirty="0" err="1">
                <a:solidFill>
                  <a:schemeClr val="bg1"/>
                </a:solidFill>
                <a:latin typeface="Courier" charset="0"/>
                <a:ea typeface="Courier" charset="0"/>
                <a:cs typeface="Courier" charset="0"/>
              </a:rPr>
              <a:t>table</a:t>
            </a:r>
            <a:r>
              <a:rPr lang="mr-IN" b="1" dirty="0">
                <a:solidFill>
                  <a:schemeClr val="bg1"/>
                </a:solidFill>
                <a:latin typeface="Courier" charset="0"/>
                <a:ea typeface="Courier" charset="0"/>
                <a:cs typeface="Courier" charset="0"/>
              </a:rPr>
              <a:t>&gt;</a:t>
            </a:r>
          </a:p>
          <a:p>
            <a:r>
              <a:rPr lang="mr-IN" b="1" dirty="0">
                <a:solidFill>
                  <a:schemeClr val="bg1"/>
                </a:solidFill>
                <a:latin typeface="Courier" charset="0"/>
                <a:ea typeface="Courier" charset="0"/>
                <a:cs typeface="Courier" charset="0"/>
              </a:rPr>
              <a:t>    {{ </a:t>
            </a:r>
            <a:r>
              <a:rPr lang="mr-IN" b="1" dirty="0" err="1">
                <a:solidFill>
                  <a:schemeClr val="bg1"/>
                </a:solidFill>
                <a:latin typeface="Courier" charset="0"/>
                <a:ea typeface="Courier" charset="0"/>
                <a:cs typeface="Courier" charset="0"/>
              </a:rPr>
              <a:t>form.as_table</a:t>
            </a:r>
            <a:r>
              <a:rPr lang="mr-IN" b="1" dirty="0">
                <a:solidFill>
                  <a:schemeClr val="bg1"/>
                </a:solidFill>
                <a:latin typeface="Courier" charset="0"/>
                <a:ea typeface="Courier" charset="0"/>
                <a:cs typeface="Courier" charset="0"/>
              </a:rPr>
              <a:t> }}</a:t>
            </a:r>
          </a:p>
          <a:p>
            <a:r>
              <a:rPr lang="mr-IN" b="1" dirty="0">
                <a:solidFill>
                  <a:schemeClr val="bg1"/>
                </a:solidFill>
                <a:latin typeface="Courier" charset="0"/>
                <a:ea typeface="Courier" charset="0"/>
                <a:cs typeface="Courier" charset="0"/>
              </a:rPr>
              <a:t>    &lt;/</a:t>
            </a:r>
            <a:r>
              <a:rPr lang="mr-IN" b="1" dirty="0" err="1">
                <a:solidFill>
                  <a:schemeClr val="bg1"/>
                </a:solidFill>
                <a:latin typeface="Courier" charset="0"/>
                <a:ea typeface="Courier" charset="0"/>
                <a:cs typeface="Courier" charset="0"/>
              </a:rPr>
              <a:t>table</a:t>
            </a:r>
            <a:r>
              <a:rPr lang="mr-IN" b="1" dirty="0">
                <a:solidFill>
                  <a:schemeClr val="bg1"/>
                </a:solidFill>
                <a:latin typeface="Courier" charset="0"/>
                <a:ea typeface="Courier" charset="0"/>
                <a:cs typeface="Courier" charset="0"/>
              </a:rPr>
              <a:t>&gt;</a:t>
            </a:r>
          </a:p>
          <a:p>
            <a:r>
              <a:rPr lang="en-US" b="1" dirty="0">
                <a:solidFill>
                  <a:schemeClr val="bg1"/>
                </a:solidFill>
                <a:latin typeface="Courier" charset="0"/>
                <a:ea typeface="Courier" charset="0"/>
                <a:cs typeface="Courier" charset="0"/>
              </a:rPr>
              <a:t>    &lt;input type="submit" value="Submit"&gt;</a:t>
            </a:r>
          </a:p>
          <a:p>
            <a:r>
              <a:rPr lang="en-US" b="1" dirty="0">
                <a:solidFill>
                  <a:schemeClr val="bg1"/>
                </a:solidFill>
                <a:latin typeface="Courier" charset="0"/>
                <a:ea typeface="Courier" charset="0"/>
                <a:cs typeface="Courier" charset="0"/>
              </a:rPr>
              <a:t>    &lt;input type="submit" </a:t>
            </a:r>
          </a:p>
          <a:p>
            <a:r>
              <a:rPr lang="en-US" b="1" dirty="0">
                <a:solidFill>
                  <a:schemeClr val="bg1"/>
                </a:solidFill>
                <a:latin typeface="Courier" charset="0"/>
                <a:ea typeface="Courier" charset="0"/>
                <a:cs typeface="Courier" charset="0"/>
              </a:rPr>
              <a:t>    </a:t>
            </a:r>
            <a:r>
              <a:rPr lang="en-US" b="1" dirty="0" err="1">
                <a:solidFill>
                  <a:schemeClr val="bg1"/>
                </a:solidFill>
                <a:latin typeface="Courier" charset="0"/>
                <a:ea typeface="Courier" charset="0"/>
                <a:cs typeface="Courier" charset="0"/>
              </a:rPr>
              <a:t>onclick</a:t>
            </a:r>
            <a:r>
              <a:rPr lang="en-US" b="1" dirty="0">
                <a:solidFill>
                  <a:schemeClr val="bg1"/>
                </a:solidFill>
                <a:latin typeface="Courier" charset="0"/>
                <a:ea typeface="Courier" charset="0"/>
                <a:cs typeface="Courier" charset="0"/>
              </a:rPr>
              <a:t>="</a:t>
            </a:r>
            <a:r>
              <a:rPr lang="en-US" b="1" dirty="0" err="1">
                <a:solidFill>
                  <a:schemeClr val="bg1"/>
                </a:solidFill>
                <a:latin typeface="Courier" charset="0"/>
                <a:ea typeface="Courier" charset="0"/>
                <a:cs typeface="Courier" charset="0"/>
              </a:rPr>
              <a:t>window.location</a:t>
            </a:r>
            <a:r>
              <a:rPr lang="en-US" b="1" dirty="0">
                <a:solidFill>
                  <a:schemeClr val="bg1"/>
                </a:solidFill>
                <a:latin typeface="Courier" charset="0"/>
                <a:ea typeface="Courier" charset="0"/>
                <a:cs typeface="Courier" charset="0"/>
              </a:rPr>
              <a:t>='{% </a:t>
            </a:r>
            <a:r>
              <a:rPr lang="en-US" b="1" dirty="0" err="1">
                <a:solidFill>
                  <a:schemeClr val="bg1"/>
                </a:solidFill>
                <a:latin typeface="Courier" charset="0"/>
                <a:ea typeface="Courier" charset="0"/>
                <a:cs typeface="Courier" charset="0"/>
              </a:rPr>
              <a:t>url</a:t>
            </a:r>
            <a:r>
              <a:rPr lang="en-US" b="1" dirty="0">
                <a:solidFill>
                  <a:schemeClr val="bg1"/>
                </a:solidFill>
                <a:latin typeface="Courier" charset="0"/>
                <a:ea typeface="Courier" charset="0"/>
                <a:cs typeface="Courier" charset="0"/>
              </a:rPr>
              <a:t> '</a:t>
            </a:r>
            <a:r>
              <a:rPr lang="en-US" b="1" dirty="0" err="1">
                <a:solidFill>
                  <a:schemeClr val="bg1"/>
                </a:solidFill>
                <a:latin typeface="Courier" charset="0"/>
                <a:ea typeface="Courier" charset="0"/>
                <a:cs typeface="Courier" charset="0"/>
              </a:rPr>
              <a:t>form:main</a:t>
            </a:r>
            <a:r>
              <a:rPr lang="en-US" b="1" dirty="0">
                <a:solidFill>
                  <a:schemeClr val="bg1"/>
                </a:solidFill>
                <a:latin typeface="Courier" charset="0"/>
                <a:ea typeface="Courier" charset="0"/>
                <a:cs typeface="Courier" charset="0"/>
              </a:rPr>
              <a:t>' %}' ; return false;"</a:t>
            </a:r>
          </a:p>
          <a:p>
            <a:r>
              <a:rPr lang="en-US" b="1" dirty="0">
                <a:solidFill>
                  <a:schemeClr val="bg1"/>
                </a:solidFill>
                <a:latin typeface="Courier" charset="0"/>
                <a:ea typeface="Courier" charset="0"/>
                <a:cs typeface="Courier" charset="0"/>
              </a:rPr>
              <a:t>    value="Cancel"&gt;</a:t>
            </a:r>
          </a:p>
          <a:p>
            <a:r>
              <a:rPr lang="mr-IN" b="1" dirty="0">
                <a:solidFill>
                  <a:schemeClr val="bg1"/>
                </a:solidFill>
                <a:latin typeface="Courier" charset="0"/>
                <a:ea typeface="Courier" charset="0"/>
                <a:cs typeface="Courier" charset="0"/>
              </a:rPr>
              <a:t>  &lt;/</a:t>
            </a:r>
            <a:r>
              <a:rPr lang="mr-IN" b="1" dirty="0" err="1">
                <a:solidFill>
                  <a:schemeClr val="bg1"/>
                </a:solidFill>
                <a:latin typeface="Courier" charset="0"/>
                <a:ea typeface="Courier" charset="0"/>
                <a:cs typeface="Courier" charset="0"/>
              </a:rPr>
              <a:t>form</a:t>
            </a:r>
            <a:r>
              <a:rPr lang="mr-IN" b="1" dirty="0">
                <a:solidFill>
                  <a:schemeClr val="bg1"/>
                </a:solidFill>
                <a:latin typeface="Courier" charset="0"/>
                <a:ea typeface="Courier" charset="0"/>
                <a:cs typeface="Courier" charset="0"/>
              </a:rPr>
              <a:t>&gt;</a:t>
            </a:r>
          </a:p>
          <a:p>
            <a:r>
              <a:rPr lang="mr-IN" b="1" dirty="0">
                <a:solidFill>
                  <a:schemeClr val="bg1"/>
                </a:solidFill>
                <a:latin typeface="Courier" charset="0"/>
                <a:ea typeface="Courier" charset="0"/>
                <a:cs typeface="Courier" charset="0"/>
              </a:rPr>
              <a:t>&lt;/</a:t>
            </a:r>
            <a:r>
              <a:rPr lang="mr-IN" b="1" dirty="0" err="1">
                <a:solidFill>
                  <a:schemeClr val="bg1"/>
                </a:solidFill>
                <a:latin typeface="Courier" charset="0"/>
                <a:ea typeface="Courier" charset="0"/>
                <a:cs typeface="Courier" charset="0"/>
              </a:rPr>
              <a:t>p</a:t>
            </a:r>
            <a:r>
              <a:rPr lang="mr-IN" b="1" dirty="0">
                <a:solidFill>
                  <a:schemeClr val="bg1"/>
                </a:solidFill>
                <a:latin typeface="Courier" charset="0"/>
                <a:ea typeface="Courier" charset="0"/>
                <a:cs typeface="Courier" charset="0"/>
              </a:rPr>
              <a:t>&gt;</a:t>
            </a:r>
            <a:endParaRPr lang="en-US" b="1" dirty="0">
              <a:solidFill>
                <a:schemeClr val="bg1"/>
              </a:solidFill>
              <a:latin typeface="Courier" charset="0"/>
              <a:ea typeface="Courier" charset="0"/>
              <a:cs typeface="Courier" charset="0"/>
            </a:endParaRPr>
          </a:p>
        </p:txBody>
      </p:sp>
      <p:sp>
        <p:nvSpPr>
          <p:cNvPr id="4" name="Rectangle 3"/>
          <p:cNvSpPr/>
          <p:nvPr/>
        </p:nvSpPr>
        <p:spPr>
          <a:xfrm>
            <a:off x="838200" y="1806060"/>
            <a:ext cx="604203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dj4e-samples/form/templates/form/</a:t>
            </a:r>
            <a:r>
              <a:rPr lang="en-US" dirty="0" err="1">
                <a:solidFill>
                  <a:srgbClr val="FFFF00"/>
                </a:solidFill>
                <a:latin typeface="Courier" charset="0"/>
                <a:ea typeface="Courier" charset="0"/>
                <a:cs typeface="Courier" charset="0"/>
              </a:rPr>
              <a:t>form.html</a:t>
            </a:r>
            <a:endParaRPr lang="en-US" dirty="0">
              <a:solidFill>
                <a:srgbClr val="FFFF00"/>
              </a:solidFill>
              <a:effectLst/>
              <a:latin typeface="Courier" charset="0"/>
              <a:ea typeface="Courier" charset="0"/>
              <a:cs typeface="Courier" charset="0"/>
            </a:endParaRPr>
          </a:p>
        </p:txBody>
      </p:sp>
    </p:spTree>
    <p:extLst>
      <p:ext uri="{BB962C8B-B14F-4D97-AF65-F5344CB8AC3E}">
        <p14:creationId xmlns:p14="http://schemas.microsoft.com/office/powerpoint/2010/main" val="401651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a form template</a:t>
            </a:r>
          </a:p>
        </p:txBody>
      </p:sp>
      <p:sp>
        <p:nvSpPr>
          <p:cNvPr id="3" name="Rectangle 2"/>
          <p:cNvSpPr/>
          <p:nvPr/>
        </p:nvSpPr>
        <p:spPr>
          <a:xfrm>
            <a:off x="838200" y="3590917"/>
            <a:ext cx="7548563" cy="1477328"/>
          </a:xfrm>
          <a:prstGeom prst="rect">
            <a:avLst/>
          </a:prstGeom>
          <a:solidFill>
            <a:schemeClr val="tx1"/>
          </a:solidFill>
        </p:spPr>
        <p:txBody>
          <a:bodyPr wrap="square">
            <a:spAutoFit/>
          </a:bodyPr>
          <a:lstStyle/>
          <a:p>
            <a:r>
              <a:rPr lang="en-US" b="1" dirty="0">
                <a:solidFill>
                  <a:srgbClr val="C1651C"/>
                </a:solidFill>
                <a:latin typeface="Courier" charset="0"/>
                <a:ea typeface="Courier" charset="0"/>
                <a:cs typeface="Courier" charset="0"/>
              </a:rPr>
              <a:t>class</a:t>
            </a:r>
            <a:r>
              <a:rPr lang="en-US" b="1" dirty="0">
                <a:solidFill>
                  <a:srgbClr val="000000"/>
                </a:solidFill>
                <a:latin typeface="Courier" charset="0"/>
                <a:ea typeface="Courier" charset="0"/>
                <a:cs typeface="Courier" charset="0"/>
              </a:rPr>
              <a:t> </a:t>
            </a:r>
            <a:r>
              <a:rPr lang="en-US" b="1" dirty="0" err="1">
                <a:solidFill>
                  <a:schemeClr val="bg1"/>
                </a:solidFill>
                <a:latin typeface="Courier" charset="0"/>
                <a:ea typeface="Courier" charset="0"/>
                <a:cs typeface="Courier" charset="0"/>
              </a:rPr>
              <a:t>SimpleCreate</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DumpPostView</a:t>
            </a:r>
            <a:r>
              <a:rPr lang="en-US"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err="1">
                <a:solidFill>
                  <a:srgbClr val="C1651C"/>
                </a:solidFill>
                <a:latin typeface="Courier" charset="0"/>
                <a:ea typeface="Courier" charset="0"/>
                <a:cs typeface="Courier" charset="0"/>
              </a:rPr>
              <a:t>def</a:t>
            </a:r>
            <a:r>
              <a:rPr lang="en-US" b="1" dirty="0">
                <a:solidFill>
                  <a:srgbClr val="000000"/>
                </a:solidFill>
                <a:latin typeface="Courier" charset="0"/>
                <a:ea typeface="Courier" charset="0"/>
                <a:cs typeface="Courier" charset="0"/>
              </a:rPr>
              <a:t> </a:t>
            </a:r>
            <a:r>
              <a:rPr lang="en-US" b="1" dirty="0">
                <a:solidFill>
                  <a:schemeClr val="bg1"/>
                </a:solidFill>
                <a:latin typeface="Courier" charset="0"/>
                <a:ea typeface="Courier" charset="0"/>
                <a:cs typeface="Courier" charset="0"/>
              </a:rPr>
              <a:t>get</a:t>
            </a:r>
            <a:r>
              <a:rPr lang="en-US" b="1" dirty="0">
                <a:solidFill>
                  <a:srgbClr val="000000"/>
                </a:solidFill>
                <a:latin typeface="Courier" charset="0"/>
                <a:ea typeface="Courier" charset="0"/>
                <a:cs typeface="Courier" charset="0"/>
              </a:rPr>
              <a:t>(self, request) :</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BasicForm</a:t>
            </a:r>
            <a:r>
              <a:rPr lang="mr-IN"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ctx</a:t>
            </a:r>
            <a:r>
              <a:rPr lang="mr-IN" b="1" dirty="0">
                <a:solidFill>
                  <a:srgbClr val="000000"/>
                </a:solidFill>
                <a:latin typeface="Courier" charset="0"/>
                <a:ea typeface="Courier" charset="0"/>
                <a:cs typeface="Courier" charset="0"/>
              </a:rPr>
              <a:t> =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render(request, </a:t>
            </a:r>
            <a:r>
              <a:rPr lang="en-US" b="1" dirty="0">
                <a:solidFill>
                  <a:srgbClr val="B42419"/>
                </a:solidFill>
                <a:latin typeface="Courier" charset="0"/>
                <a:ea typeface="Courier" charset="0"/>
                <a:cs typeface="Courier" charset="0"/>
              </a:rPr>
              <a:t>'form/</a:t>
            </a:r>
            <a:r>
              <a:rPr lang="en-US" b="1" dirty="0" err="1">
                <a:solidFill>
                  <a:srgbClr val="B42419"/>
                </a:solidFill>
                <a:latin typeface="Courier" charset="0"/>
                <a:ea typeface="Courier" charset="0"/>
                <a:cs typeface="Courier" charset="0"/>
              </a:rPr>
              <a:t>form.html</a:t>
            </a:r>
            <a:r>
              <a:rPr lang="en-US" b="1" dirty="0">
                <a:solidFill>
                  <a:srgbClr val="B42419"/>
                </a:solidFill>
                <a:latin typeface="Courier" charset="0"/>
                <a:ea typeface="Courier" charset="0"/>
                <a:cs typeface="Courier" charset="0"/>
              </a:rPr>
              <a: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ctx</a:t>
            </a:r>
            <a:r>
              <a:rPr lang="en-US" b="1" dirty="0">
                <a:solidFill>
                  <a:srgbClr val="000000"/>
                </a:solidFill>
                <a:latin typeface="Courier" charset="0"/>
                <a:ea typeface="Courier" charset="0"/>
                <a:cs typeface="Courier" charset="0"/>
              </a:rPr>
              <a:t>)</a:t>
            </a:r>
            <a:endParaRPr lang="en-US" b="1" dirty="0">
              <a:latin typeface="Courier" charset="0"/>
              <a:ea typeface="Courier" charset="0"/>
              <a:cs typeface="Courier" charset="0"/>
            </a:endParaRPr>
          </a:p>
        </p:txBody>
      </p:sp>
      <p:sp>
        <p:nvSpPr>
          <p:cNvPr id="4" name="Rectangle 3"/>
          <p:cNvSpPr/>
          <p:nvPr/>
        </p:nvSpPr>
        <p:spPr>
          <a:xfrm>
            <a:off x="838200" y="3064423"/>
            <a:ext cx="381065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views.py</a:t>
            </a:r>
            <a:endParaRPr lang="en-US" dirty="0">
              <a:solidFill>
                <a:srgbClr val="FFFF00"/>
              </a:solidFill>
              <a:effectLst/>
              <a:latin typeface="Courier" charset="0"/>
              <a:ea typeface="Courier" charset="0"/>
              <a:cs typeface="Courier" charset="0"/>
            </a:endParaRPr>
          </a:p>
        </p:txBody>
      </p:sp>
      <p:sp>
        <p:nvSpPr>
          <p:cNvPr id="6" name="Rectangle 5"/>
          <p:cNvSpPr/>
          <p:nvPr/>
        </p:nvSpPr>
        <p:spPr>
          <a:xfrm>
            <a:off x="2006148" y="1984536"/>
            <a:ext cx="5285421" cy="369332"/>
          </a:xfrm>
          <a:prstGeom prst="rect">
            <a:avLst/>
          </a:prstGeom>
        </p:spPr>
        <p:txBody>
          <a:bodyPr wrap="none">
            <a:spAutoFit/>
          </a:bodyPr>
          <a:lstStyle/>
          <a:p>
            <a:r>
              <a:rPr lang="en-US" dirty="0">
                <a:solidFill>
                  <a:srgbClr val="FFFF00"/>
                </a:solidFill>
                <a:latin typeface="Courier" charset="0"/>
                <a:ea typeface="Courier" charset="0"/>
                <a:cs typeface="Courier" charset="0"/>
              </a:rPr>
              <a:t>https://samples.dj4e.com/form/create</a:t>
            </a:r>
          </a:p>
        </p:txBody>
      </p:sp>
      <p:pic>
        <p:nvPicPr>
          <p:cNvPr id="5" name="Picture 4" descr="A simple HMTL form with title, mileage, purchase data, and submit and cancel butt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2849" y="1126718"/>
            <a:ext cx="4726726" cy="3483468"/>
          </a:xfrm>
          <a:prstGeom prst="rect">
            <a:avLst/>
          </a:prstGeom>
        </p:spPr>
      </p:pic>
    </p:spTree>
    <p:extLst>
      <p:ext uri="{BB962C8B-B14F-4D97-AF65-F5344CB8AC3E}">
        <p14:creationId xmlns:p14="http://schemas.microsoft.com/office/powerpoint/2010/main" val="72458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Pulling existing data into a form</a:t>
            </a:r>
          </a:p>
        </p:txBody>
      </p:sp>
      <p:sp>
        <p:nvSpPr>
          <p:cNvPr id="3" name="Rectangle 2"/>
          <p:cNvSpPr/>
          <p:nvPr/>
        </p:nvSpPr>
        <p:spPr>
          <a:xfrm>
            <a:off x="838200" y="2936458"/>
            <a:ext cx="7781925" cy="2862322"/>
          </a:xfrm>
          <a:prstGeom prst="rect">
            <a:avLst/>
          </a:prstGeom>
          <a:solidFill>
            <a:schemeClr val="tx1"/>
          </a:solidFill>
        </p:spPr>
        <p:txBody>
          <a:bodyPr wrap="square">
            <a:spAutoFit/>
          </a:bodyPr>
          <a:lstStyle/>
          <a:p>
            <a:r>
              <a:rPr lang="en-US" b="1" dirty="0">
                <a:solidFill>
                  <a:srgbClr val="C1651C"/>
                </a:solidFill>
                <a:latin typeface="Courier" charset="0"/>
                <a:ea typeface="Courier" charset="0"/>
                <a:cs typeface="Courier" charset="0"/>
              </a:rPr>
              <a:t>class</a:t>
            </a:r>
            <a:r>
              <a:rPr lang="en-US" b="1" dirty="0">
                <a:solidFill>
                  <a:srgbClr val="000000"/>
                </a:solidFill>
                <a:latin typeface="Courier" charset="0"/>
                <a:ea typeface="Courier" charset="0"/>
                <a:cs typeface="Courier" charset="0"/>
              </a:rPr>
              <a:t> </a:t>
            </a:r>
            <a:r>
              <a:rPr lang="en-US" b="1" dirty="0" err="1">
                <a:solidFill>
                  <a:schemeClr val="bg1"/>
                </a:solidFill>
                <a:latin typeface="Courier" charset="0"/>
                <a:ea typeface="Courier" charset="0"/>
                <a:cs typeface="Courier" charset="0"/>
              </a:rPr>
              <a:t>SimpleUpdate</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DumpPostView</a:t>
            </a:r>
            <a:r>
              <a:rPr lang="en-US"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err="1">
                <a:solidFill>
                  <a:srgbClr val="C1651C"/>
                </a:solidFill>
                <a:latin typeface="Courier" charset="0"/>
                <a:ea typeface="Courier" charset="0"/>
                <a:cs typeface="Courier" charset="0"/>
              </a:rPr>
              <a:t>def</a:t>
            </a:r>
            <a:r>
              <a:rPr lang="en-US" b="1" dirty="0">
                <a:solidFill>
                  <a:srgbClr val="000000"/>
                </a:solidFill>
                <a:latin typeface="Courier" charset="0"/>
                <a:ea typeface="Courier" charset="0"/>
                <a:cs typeface="Courier" charset="0"/>
              </a:rPr>
              <a:t> </a:t>
            </a:r>
            <a:r>
              <a:rPr lang="en-US" b="1" dirty="0">
                <a:solidFill>
                  <a:schemeClr val="bg1"/>
                </a:solidFill>
                <a:latin typeface="Courier" charset="0"/>
                <a:ea typeface="Courier" charset="0"/>
                <a:cs typeface="Courier" charset="0"/>
              </a:rPr>
              <a:t>get</a:t>
            </a:r>
            <a:r>
              <a:rPr lang="en-US" b="1" dirty="0">
                <a:solidFill>
                  <a:srgbClr val="000000"/>
                </a:solidFill>
                <a:latin typeface="Courier" charset="0"/>
                <a:ea typeface="Courier" charset="0"/>
                <a:cs typeface="Courier" charset="0"/>
              </a:rPr>
              <a:t>(self, request) :</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old_data</a:t>
            </a:r>
            <a:r>
              <a:rPr lang="mr-IN" b="1" dirty="0">
                <a:solidFill>
                  <a:srgbClr val="000000"/>
                </a:solidFill>
                <a:latin typeface="Courier" charset="0"/>
                <a:ea typeface="Courier" charset="0"/>
                <a:cs typeface="Courier" charset="0"/>
              </a:rPr>
              <a:t> = {</a:t>
            </a:r>
          </a:p>
          <a:p>
            <a:r>
              <a:rPr lang="mr-IN" b="1" dirty="0">
                <a:solidFill>
                  <a:srgbClr val="000000"/>
                </a:solidFill>
                <a:latin typeface="Courier" charset="0"/>
                <a:ea typeface="Courier" charset="0"/>
                <a:cs typeface="Courier" charset="0"/>
              </a:rPr>
              <a:t>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title</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SakaiCar</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mileage</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a:solidFill>
                  <a:srgbClr val="B42419"/>
                </a:solidFill>
                <a:latin typeface="Courier" charset="0"/>
                <a:ea typeface="Courier" charset="0"/>
                <a:cs typeface="Courier" charset="0"/>
              </a:rPr>
              <a:t>42</a:t>
            </a:r>
            <a:r>
              <a:rPr lang="mr-IN"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purchase_date</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a:t>
            </a:r>
            <a:r>
              <a:rPr lang="mr-IN" b="1" dirty="0">
                <a:solidFill>
                  <a:srgbClr val="B42419"/>
                </a:solidFill>
                <a:latin typeface="Courier" charset="0"/>
                <a:ea typeface="Courier" charset="0"/>
                <a:cs typeface="Courier" charset="0"/>
              </a:rPr>
              <a:t>'2018-08-14'</a:t>
            </a:r>
            <a:endParaRPr lang="mr-IN" b="1" dirty="0">
              <a:solidFill>
                <a:srgbClr val="000000"/>
              </a:solidFill>
              <a:latin typeface="Courier" charset="0"/>
              <a:ea typeface="Courier" charset="0"/>
              <a:cs typeface="Courier" charset="0"/>
            </a:endParaRPr>
          </a:p>
          <a:p>
            <a:r>
              <a:rPr lang="mr-IN" b="1" dirty="0">
                <a:solidFill>
                  <a:srgbClr val="000000"/>
                </a:solidFill>
                <a:latin typeface="Courier" charset="0"/>
                <a:ea typeface="Courier" charset="0"/>
                <a:cs typeface="Courier" charset="0"/>
              </a:rPr>
              <a:t>        }</a:t>
            </a:r>
          </a:p>
          <a:p>
            <a:r>
              <a:rPr lang="en-US" b="1" dirty="0">
                <a:solidFill>
                  <a:srgbClr val="000000"/>
                </a:solidFill>
                <a:latin typeface="Courier" charset="0"/>
                <a:ea typeface="Courier" charset="0"/>
                <a:cs typeface="Courier" charset="0"/>
              </a:rPr>
              <a:t>        form = </a:t>
            </a:r>
            <a:r>
              <a:rPr lang="en-US" b="1" dirty="0" err="1">
                <a:solidFill>
                  <a:srgbClr val="000000"/>
                </a:solidFill>
                <a:latin typeface="Courier" charset="0"/>
                <a:ea typeface="Courier" charset="0"/>
                <a:cs typeface="Courier" charset="0"/>
              </a:rPr>
              <a:t>BasicForm</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old_data</a:t>
            </a:r>
            <a:r>
              <a:rPr lang="en-US"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ctx</a:t>
            </a:r>
            <a:r>
              <a:rPr lang="mr-IN" b="1" dirty="0">
                <a:solidFill>
                  <a:srgbClr val="000000"/>
                </a:solidFill>
                <a:latin typeface="Courier" charset="0"/>
                <a:ea typeface="Courier" charset="0"/>
                <a:cs typeface="Courier" charset="0"/>
              </a:rPr>
              <a:t> =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render(request, </a:t>
            </a:r>
            <a:r>
              <a:rPr lang="en-US" b="1" dirty="0">
                <a:solidFill>
                  <a:srgbClr val="B42419"/>
                </a:solidFill>
                <a:latin typeface="Courier" charset="0"/>
                <a:ea typeface="Courier" charset="0"/>
                <a:cs typeface="Courier" charset="0"/>
              </a:rPr>
              <a:t>'form/</a:t>
            </a:r>
            <a:r>
              <a:rPr lang="en-US" b="1" dirty="0" err="1">
                <a:solidFill>
                  <a:srgbClr val="B42419"/>
                </a:solidFill>
                <a:latin typeface="Courier" charset="0"/>
                <a:ea typeface="Courier" charset="0"/>
                <a:cs typeface="Courier" charset="0"/>
              </a:rPr>
              <a:t>form.html</a:t>
            </a:r>
            <a:r>
              <a:rPr lang="en-US" b="1" dirty="0">
                <a:solidFill>
                  <a:srgbClr val="B42419"/>
                </a:solidFill>
                <a:latin typeface="Courier" charset="0"/>
                <a:ea typeface="Courier" charset="0"/>
                <a:cs typeface="Courier" charset="0"/>
              </a:rPr>
              <a: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ctx</a:t>
            </a:r>
            <a:r>
              <a:rPr lang="en-US" b="1" dirty="0">
                <a:solidFill>
                  <a:srgbClr val="000000"/>
                </a:solidFill>
                <a:latin typeface="Courier" charset="0"/>
                <a:ea typeface="Courier" charset="0"/>
                <a:cs typeface="Courier" charset="0"/>
              </a:rPr>
              <a:t>)</a:t>
            </a:r>
            <a:endParaRPr lang="en-US" b="1" dirty="0">
              <a:latin typeface="Courier" charset="0"/>
              <a:ea typeface="Courier" charset="0"/>
              <a:cs typeface="Courier" charset="0"/>
            </a:endParaRPr>
          </a:p>
        </p:txBody>
      </p:sp>
      <p:sp>
        <p:nvSpPr>
          <p:cNvPr id="4" name="Rectangle 3"/>
          <p:cNvSpPr/>
          <p:nvPr/>
        </p:nvSpPr>
        <p:spPr>
          <a:xfrm>
            <a:off x="838200" y="2353469"/>
            <a:ext cx="381065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views.py</a:t>
            </a:r>
            <a:endParaRPr lang="en-US" dirty="0">
              <a:solidFill>
                <a:srgbClr val="FFFF00"/>
              </a:solidFill>
              <a:effectLst/>
              <a:latin typeface="Courier" charset="0"/>
              <a:ea typeface="Courier" charset="0"/>
              <a:cs typeface="Courier" charset="0"/>
            </a:endParaRPr>
          </a:p>
        </p:txBody>
      </p:sp>
      <p:pic>
        <p:nvPicPr>
          <p:cNvPr id="5" name="Picture 4" descr="A simple HMTL form with title, mileage, purchase data, and submit and cancel buttons.  This form has filled in data from the existing row."/>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9104" y="1313658"/>
            <a:ext cx="5118100" cy="4178300"/>
          </a:xfrm>
          <a:prstGeom prst="rect">
            <a:avLst/>
          </a:prstGeom>
          <a:ln>
            <a:noFill/>
          </a:ln>
        </p:spPr>
      </p:pic>
      <p:sp>
        <p:nvSpPr>
          <p:cNvPr id="6" name="Rectangle 5"/>
          <p:cNvSpPr/>
          <p:nvPr/>
        </p:nvSpPr>
        <p:spPr>
          <a:xfrm>
            <a:off x="1881557" y="1665961"/>
            <a:ext cx="5147563" cy="369332"/>
          </a:xfrm>
          <a:prstGeom prst="rect">
            <a:avLst/>
          </a:prstGeom>
        </p:spPr>
        <p:txBody>
          <a:bodyPr wrap="none">
            <a:spAutoFit/>
          </a:bodyPr>
          <a:lstStyle/>
          <a:p>
            <a:r>
              <a:rPr lang="en-US" dirty="0">
                <a:solidFill>
                  <a:srgbClr val="FFFF00"/>
                </a:solidFill>
                <a:latin typeface="Courier" charset="0"/>
                <a:ea typeface="Courier" charset="0"/>
                <a:cs typeface="Courier" charset="0"/>
              </a:rPr>
              <a:t>https://samples.dj4e.com/form/update</a:t>
            </a:r>
          </a:p>
        </p:txBody>
      </p:sp>
    </p:spTree>
    <p:extLst>
      <p:ext uri="{BB962C8B-B14F-4D97-AF65-F5344CB8AC3E}">
        <p14:creationId xmlns:p14="http://schemas.microsoft.com/office/powerpoint/2010/main" val="1631136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Validation in FORMS</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3641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124CB-2856-C570-A369-BE0C39BEC4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B798FF-8322-487A-BD11-8ED0E42E6D34}"/>
              </a:ext>
            </a:extLst>
          </p:cNvPr>
          <p:cNvSpPr>
            <a:spLocks noGrp="1"/>
          </p:cNvSpPr>
          <p:nvPr>
            <p:ph type="title"/>
          </p:nvPr>
        </p:nvSpPr>
        <p:spPr>
          <a:xfrm>
            <a:off x="8712586" y="5157788"/>
            <a:ext cx="3155563" cy="1325563"/>
          </a:xfrm>
        </p:spPr>
        <p:txBody>
          <a:bodyPr>
            <a:normAutofit fontScale="90000"/>
          </a:bodyPr>
          <a:lstStyle/>
          <a:p>
            <a:pPr algn="r"/>
            <a:r>
              <a:rPr lang="en-US" dirty="0"/>
              <a:t>Create Form Flow (Review)</a:t>
            </a:r>
          </a:p>
        </p:txBody>
      </p:sp>
      <p:sp>
        <p:nvSpPr>
          <p:cNvPr id="48" name="Rounded Rectangle 47">
            <a:extLst>
              <a:ext uri="{FF2B5EF4-FFF2-40B4-BE49-F238E27FC236}">
                <a16:creationId xmlns:a16="http://schemas.microsoft.com/office/drawing/2014/main" id="{E613000B-B2E4-3117-8238-6409751C20D3}"/>
              </a:ext>
              <a:ext uri="{C183D7F6-B498-43B3-948B-1728B52AA6E4}">
                <adec:decorative xmlns:adec="http://schemas.microsoft.com/office/drawing/2017/decorative" val="1"/>
              </a:ext>
            </a:extLst>
          </p:cNvPr>
          <p:cNvSpPr/>
          <p:nvPr/>
        </p:nvSpPr>
        <p:spPr>
          <a:xfrm>
            <a:off x="5876163" y="700359"/>
            <a:ext cx="2181995" cy="5322765"/>
          </a:xfrm>
          <a:prstGeom prst="roundRect">
            <a:avLst/>
          </a:prstGeom>
          <a:solidFill>
            <a:schemeClr val="tx1"/>
          </a:solidFill>
        </p:spPr>
        <p:style>
          <a:lnRef idx="1">
            <a:schemeClr val="dk1"/>
          </a:lnRef>
          <a:fillRef idx="2">
            <a:schemeClr val="dk1"/>
          </a:fillRef>
          <a:effectRef idx="1">
            <a:schemeClr val="dk1"/>
          </a:effectRef>
          <a:fontRef idx="minor">
            <a:schemeClr val="dk1"/>
          </a:fontRef>
        </p:style>
        <p:txBody>
          <a:bodyPr rtlCol="0" anchor="t"/>
          <a:lstStyle/>
          <a:p>
            <a:pPr algn="ctr"/>
            <a:endParaRPr lang="en-US" dirty="0">
              <a:solidFill>
                <a:schemeClr val="bg1"/>
              </a:solidFill>
            </a:endParaRPr>
          </a:p>
        </p:txBody>
      </p:sp>
      <p:sp>
        <p:nvSpPr>
          <p:cNvPr id="6" name="TextBox 5">
            <a:extLst>
              <a:ext uri="{FF2B5EF4-FFF2-40B4-BE49-F238E27FC236}">
                <a16:creationId xmlns:a16="http://schemas.microsoft.com/office/drawing/2014/main" id="{8DFC227F-23CC-A3F4-415A-4A49DC1C88D7}"/>
              </a:ext>
            </a:extLst>
          </p:cNvPr>
          <p:cNvSpPr txBox="1"/>
          <p:nvPr/>
        </p:nvSpPr>
        <p:spPr>
          <a:xfrm>
            <a:off x="3318225" y="828952"/>
            <a:ext cx="1367617" cy="369332"/>
          </a:xfrm>
          <a:prstGeom prst="rect">
            <a:avLst/>
          </a:prstGeom>
          <a:noFill/>
        </p:spPr>
        <p:txBody>
          <a:bodyPr wrap="none" rtlCol="0">
            <a:spAutoFit/>
          </a:bodyPr>
          <a:lstStyle/>
          <a:p>
            <a:pPr algn="ctr"/>
            <a:r>
              <a:rPr lang="en-US" dirty="0"/>
              <a:t>GET Request</a:t>
            </a:r>
          </a:p>
        </p:txBody>
      </p:sp>
      <p:cxnSp>
        <p:nvCxnSpPr>
          <p:cNvPr id="26" name="Elbow Connector 25">
            <a:extLst>
              <a:ext uri="{FF2B5EF4-FFF2-40B4-BE49-F238E27FC236}">
                <a16:creationId xmlns:a16="http://schemas.microsoft.com/office/drawing/2014/main" id="{574E1853-5A83-9164-A567-B0299E501C3B}"/>
              </a:ext>
              <a:ext uri="{C183D7F6-B498-43B3-948B-1728B52AA6E4}">
                <adec:decorative xmlns:adec="http://schemas.microsoft.com/office/drawing/2017/decorative" val="1"/>
              </a:ext>
            </a:extLst>
          </p:cNvPr>
          <p:cNvCxnSpPr>
            <a:stCxn id="6" idx="3"/>
            <a:endCxn id="8" idx="3"/>
          </p:cNvCxnSpPr>
          <p:nvPr/>
        </p:nvCxnSpPr>
        <p:spPr>
          <a:xfrm flipH="1">
            <a:off x="4664684" y="1013618"/>
            <a:ext cx="21158" cy="760722"/>
          </a:xfrm>
          <a:prstGeom prst="bentConnector3">
            <a:avLst>
              <a:gd name="adj1" fmla="val -11074534"/>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86F05C6-1D8B-F36E-93BD-1C01D3FD0384}"/>
              </a:ext>
            </a:extLst>
          </p:cNvPr>
          <p:cNvSpPr txBox="1"/>
          <p:nvPr/>
        </p:nvSpPr>
        <p:spPr>
          <a:xfrm>
            <a:off x="3339385" y="1589674"/>
            <a:ext cx="1325299" cy="369332"/>
          </a:xfrm>
          <a:prstGeom prst="rect">
            <a:avLst/>
          </a:prstGeom>
          <a:noFill/>
        </p:spPr>
        <p:txBody>
          <a:bodyPr wrap="none" rtlCol="0">
            <a:spAutoFit/>
          </a:bodyPr>
          <a:lstStyle/>
          <a:p>
            <a:pPr algn="ctr"/>
            <a:r>
              <a:rPr lang="en-US" dirty="0"/>
              <a:t>Empty Form</a:t>
            </a:r>
          </a:p>
        </p:txBody>
      </p:sp>
      <p:cxnSp>
        <p:nvCxnSpPr>
          <p:cNvPr id="46" name="Straight Arrow Connector 45">
            <a:extLst>
              <a:ext uri="{FF2B5EF4-FFF2-40B4-BE49-F238E27FC236}">
                <a16:creationId xmlns:a16="http://schemas.microsoft.com/office/drawing/2014/main" id="{DD37CDD3-EC77-8816-FBA3-59C8FDF671E5}"/>
              </a:ext>
              <a:ext uri="{C183D7F6-B498-43B3-948B-1728B52AA6E4}">
                <adec:decorative xmlns:adec="http://schemas.microsoft.com/office/drawing/2017/decorative" val="1"/>
              </a:ext>
            </a:extLst>
          </p:cNvPr>
          <p:cNvCxnSpPr>
            <a:stCxn id="8" idx="1"/>
            <a:endCxn id="44" idx="3"/>
          </p:cNvCxnSpPr>
          <p:nvPr/>
        </p:nvCxnSpPr>
        <p:spPr>
          <a:xfrm flipH="1" flipV="1">
            <a:off x="2222704" y="1381582"/>
            <a:ext cx="1116681" cy="392758"/>
          </a:xfrm>
          <a:prstGeom prst="straightConnector1">
            <a:avLst/>
          </a:prstGeom>
          <a:ln w="38100">
            <a:solidFill>
              <a:srgbClr val="00FDFF"/>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E509AC7-45CC-FB79-871B-0F835E3150CB}"/>
              </a:ext>
            </a:extLst>
          </p:cNvPr>
          <p:cNvSpPr txBox="1"/>
          <p:nvPr/>
        </p:nvSpPr>
        <p:spPr>
          <a:xfrm>
            <a:off x="1416073" y="1196916"/>
            <a:ext cx="806631" cy="369332"/>
          </a:xfrm>
          <a:prstGeom prst="rect">
            <a:avLst/>
          </a:prstGeom>
          <a:noFill/>
        </p:spPr>
        <p:txBody>
          <a:bodyPr wrap="none" rtlCol="0">
            <a:spAutoFit/>
          </a:bodyPr>
          <a:lstStyle/>
          <a:p>
            <a:r>
              <a:rPr lang="en-US" dirty="0"/>
              <a:t>Cancel</a:t>
            </a:r>
          </a:p>
        </p:txBody>
      </p:sp>
      <p:cxnSp>
        <p:nvCxnSpPr>
          <p:cNvPr id="38" name="Elbow Connector 37">
            <a:extLst>
              <a:ext uri="{FF2B5EF4-FFF2-40B4-BE49-F238E27FC236}">
                <a16:creationId xmlns:a16="http://schemas.microsoft.com/office/drawing/2014/main" id="{70D1ECE3-D9C7-18CC-27FC-A13B87C10821}"/>
              </a:ext>
              <a:ext uri="{C183D7F6-B498-43B3-948B-1728B52AA6E4}">
                <adec:decorative xmlns:adec="http://schemas.microsoft.com/office/drawing/2017/decorative" val="1"/>
              </a:ext>
            </a:extLst>
          </p:cNvPr>
          <p:cNvCxnSpPr>
            <a:stCxn id="8" idx="1"/>
            <a:endCxn id="9" idx="0"/>
          </p:cNvCxnSpPr>
          <p:nvPr/>
        </p:nvCxnSpPr>
        <p:spPr>
          <a:xfrm rot="10800000" flipV="1">
            <a:off x="2021305" y="1774340"/>
            <a:ext cx="1318081" cy="252842"/>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B588965-5AC3-592E-7931-BF64FC3D3332}"/>
              </a:ext>
            </a:extLst>
          </p:cNvPr>
          <p:cNvSpPr txBox="1"/>
          <p:nvPr/>
        </p:nvSpPr>
        <p:spPr>
          <a:xfrm>
            <a:off x="1433418" y="2027182"/>
            <a:ext cx="1175771" cy="369332"/>
          </a:xfrm>
          <a:prstGeom prst="rect">
            <a:avLst/>
          </a:prstGeom>
          <a:noFill/>
        </p:spPr>
        <p:txBody>
          <a:bodyPr wrap="none" rtlCol="0">
            <a:spAutoFit/>
          </a:bodyPr>
          <a:lstStyle/>
          <a:p>
            <a:r>
              <a:rPr lang="en-US"/>
              <a:t>Enter </a:t>
            </a:r>
            <a:r>
              <a:rPr lang="en-US" dirty="0"/>
              <a:t>Data</a:t>
            </a:r>
          </a:p>
        </p:txBody>
      </p:sp>
      <p:cxnSp>
        <p:nvCxnSpPr>
          <p:cNvPr id="41" name="Elbow Connector 40">
            <a:extLst>
              <a:ext uri="{FF2B5EF4-FFF2-40B4-BE49-F238E27FC236}">
                <a16:creationId xmlns:a16="http://schemas.microsoft.com/office/drawing/2014/main" id="{BB289196-2B8B-1EA2-66BD-08858677CF3C}"/>
              </a:ext>
              <a:ext uri="{C183D7F6-B498-43B3-948B-1728B52AA6E4}">
                <adec:decorative xmlns:adec="http://schemas.microsoft.com/office/drawing/2017/decorative" val="1"/>
              </a:ext>
            </a:extLst>
          </p:cNvPr>
          <p:cNvCxnSpPr>
            <a:stCxn id="9" idx="2"/>
            <a:endCxn id="11" idx="1"/>
          </p:cNvCxnSpPr>
          <p:nvPr/>
        </p:nvCxnSpPr>
        <p:spPr>
          <a:xfrm rot="16200000" flipH="1">
            <a:off x="2497053" y="1920764"/>
            <a:ext cx="224266" cy="1175765"/>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6457F72-F699-DDE9-5E8F-BECE9497C3D8}"/>
              </a:ext>
            </a:extLst>
          </p:cNvPr>
          <p:cNvSpPr txBox="1"/>
          <p:nvPr/>
        </p:nvSpPr>
        <p:spPr>
          <a:xfrm>
            <a:off x="3197069" y="2436114"/>
            <a:ext cx="1609929" cy="369332"/>
          </a:xfrm>
          <a:prstGeom prst="rect">
            <a:avLst/>
          </a:prstGeom>
          <a:noFill/>
        </p:spPr>
        <p:txBody>
          <a:bodyPr wrap="none" rtlCol="0">
            <a:spAutoFit/>
          </a:bodyPr>
          <a:lstStyle/>
          <a:p>
            <a:pPr algn="ctr"/>
            <a:r>
              <a:rPr lang="en-US" dirty="0"/>
              <a:t>POST with data</a:t>
            </a:r>
          </a:p>
        </p:txBody>
      </p:sp>
      <p:cxnSp>
        <p:nvCxnSpPr>
          <p:cNvPr id="49" name="Elbow Connector 48">
            <a:extLst>
              <a:ext uri="{FF2B5EF4-FFF2-40B4-BE49-F238E27FC236}">
                <a16:creationId xmlns:a16="http://schemas.microsoft.com/office/drawing/2014/main" id="{5E52C237-50EF-DF62-3051-68CA66D40BC0}"/>
              </a:ext>
              <a:ext uri="{C183D7F6-B498-43B3-948B-1728B52AA6E4}">
                <adec:decorative xmlns:adec="http://schemas.microsoft.com/office/drawing/2017/decorative" val="1"/>
              </a:ext>
            </a:extLst>
          </p:cNvPr>
          <p:cNvCxnSpPr>
            <a:stCxn id="11" idx="3"/>
            <a:endCxn id="15" idx="0"/>
          </p:cNvCxnSpPr>
          <p:nvPr/>
        </p:nvCxnSpPr>
        <p:spPr>
          <a:xfrm>
            <a:off x="4806998" y="2620780"/>
            <a:ext cx="2160162" cy="308708"/>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E5B0BB7-C3D0-2EE8-9FC4-C43EB801A1E8}"/>
              </a:ext>
            </a:extLst>
          </p:cNvPr>
          <p:cNvSpPr txBox="1"/>
          <p:nvPr/>
        </p:nvSpPr>
        <p:spPr>
          <a:xfrm>
            <a:off x="6252573" y="2929488"/>
            <a:ext cx="1429174" cy="369332"/>
          </a:xfrm>
          <a:prstGeom prst="rect">
            <a:avLst/>
          </a:prstGeom>
          <a:noFill/>
        </p:spPr>
        <p:txBody>
          <a:bodyPr wrap="none" rtlCol="0">
            <a:spAutoFit/>
          </a:bodyPr>
          <a:lstStyle/>
          <a:p>
            <a:pPr algn="ctr"/>
            <a:r>
              <a:rPr lang="en-US" dirty="0">
                <a:solidFill>
                  <a:schemeClr val="bg1"/>
                </a:solidFill>
              </a:rPr>
              <a:t>Validate Data</a:t>
            </a:r>
          </a:p>
        </p:txBody>
      </p:sp>
      <p:sp>
        <p:nvSpPr>
          <p:cNvPr id="23" name="Rectangle 22">
            <a:extLst>
              <a:ext uri="{FF2B5EF4-FFF2-40B4-BE49-F238E27FC236}">
                <a16:creationId xmlns:a16="http://schemas.microsoft.com/office/drawing/2014/main" id="{25E15793-5FCB-2B1A-535C-F2BB9FAD1F91}"/>
              </a:ext>
            </a:extLst>
          </p:cNvPr>
          <p:cNvSpPr/>
          <p:nvPr/>
        </p:nvSpPr>
        <p:spPr>
          <a:xfrm>
            <a:off x="6585740" y="3314144"/>
            <a:ext cx="762837" cy="369332"/>
          </a:xfrm>
          <a:prstGeom prst="rect">
            <a:avLst/>
          </a:prstGeom>
        </p:spPr>
        <p:txBody>
          <a:bodyPr wrap="none">
            <a:spAutoFit/>
          </a:bodyPr>
          <a:lstStyle/>
          <a:p>
            <a:pPr algn="ctr"/>
            <a:r>
              <a:rPr lang="en-US">
                <a:solidFill>
                  <a:schemeClr val="bg1"/>
                </a:solidFill>
              </a:rPr>
              <a:t>Error?</a:t>
            </a:r>
            <a:endParaRPr lang="en-US" dirty="0">
              <a:solidFill>
                <a:schemeClr val="bg1"/>
              </a:solidFill>
            </a:endParaRPr>
          </a:p>
        </p:txBody>
      </p:sp>
      <p:cxnSp>
        <p:nvCxnSpPr>
          <p:cNvPr id="53" name="Elbow Connector 52">
            <a:extLst>
              <a:ext uri="{FF2B5EF4-FFF2-40B4-BE49-F238E27FC236}">
                <a16:creationId xmlns:a16="http://schemas.microsoft.com/office/drawing/2014/main" id="{29356531-0246-5590-A979-90E6932D251C}"/>
              </a:ext>
              <a:ext uri="{C183D7F6-B498-43B3-948B-1728B52AA6E4}">
                <adec:decorative xmlns:adec="http://schemas.microsoft.com/office/drawing/2017/decorative" val="1"/>
              </a:ext>
            </a:extLst>
          </p:cNvPr>
          <p:cNvCxnSpPr>
            <a:stCxn id="23" idx="1"/>
            <a:endCxn id="16" idx="3"/>
          </p:cNvCxnSpPr>
          <p:nvPr/>
        </p:nvCxnSpPr>
        <p:spPr>
          <a:xfrm rot="10800000" flipV="1">
            <a:off x="4982526" y="3498809"/>
            <a:ext cx="1603214" cy="991"/>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3DD0858-6801-3E1C-B863-3E2A62A90F5D}"/>
              </a:ext>
            </a:extLst>
          </p:cNvPr>
          <p:cNvSpPr txBox="1"/>
          <p:nvPr/>
        </p:nvSpPr>
        <p:spPr>
          <a:xfrm>
            <a:off x="3021540" y="3315135"/>
            <a:ext cx="1960986" cy="369332"/>
          </a:xfrm>
          <a:prstGeom prst="rect">
            <a:avLst/>
          </a:prstGeom>
          <a:noFill/>
        </p:spPr>
        <p:txBody>
          <a:bodyPr wrap="none" rtlCol="0">
            <a:spAutoFit/>
          </a:bodyPr>
          <a:lstStyle/>
          <a:p>
            <a:pPr algn="ctr"/>
            <a:r>
              <a:rPr lang="en-US" dirty="0"/>
              <a:t>Form with old data</a:t>
            </a:r>
          </a:p>
        </p:txBody>
      </p:sp>
      <p:cxnSp>
        <p:nvCxnSpPr>
          <p:cNvPr id="76" name="Straight Arrow Connector 75">
            <a:extLst>
              <a:ext uri="{FF2B5EF4-FFF2-40B4-BE49-F238E27FC236}">
                <a16:creationId xmlns:a16="http://schemas.microsoft.com/office/drawing/2014/main" id="{BBE9B5E3-ADB1-391C-8C8B-C1C10E1E35DA}"/>
              </a:ext>
              <a:ext uri="{C183D7F6-B498-43B3-948B-1728B52AA6E4}">
                <adec:decorative xmlns:adec="http://schemas.microsoft.com/office/drawing/2017/decorative" val="1"/>
              </a:ext>
            </a:extLst>
          </p:cNvPr>
          <p:cNvCxnSpPr>
            <a:stCxn id="16" idx="1"/>
          </p:cNvCxnSpPr>
          <p:nvPr/>
        </p:nvCxnSpPr>
        <p:spPr>
          <a:xfrm flipH="1">
            <a:off x="2076654" y="3499801"/>
            <a:ext cx="944886" cy="446826"/>
          </a:xfrm>
          <a:prstGeom prst="straightConnector1">
            <a:avLst/>
          </a:prstGeom>
          <a:ln w="38100">
            <a:solidFill>
              <a:srgbClr val="00FDFF"/>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2EBF8ABB-A81C-E566-802F-DE7F66F22B32}"/>
              </a:ext>
            </a:extLst>
          </p:cNvPr>
          <p:cNvSpPr txBox="1"/>
          <p:nvPr/>
        </p:nvSpPr>
        <p:spPr>
          <a:xfrm>
            <a:off x="1270022" y="3761961"/>
            <a:ext cx="806631" cy="369332"/>
          </a:xfrm>
          <a:prstGeom prst="rect">
            <a:avLst/>
          </a:prstGeom>
          <a:noFill/>
        </p:spPr>
        <p:txBody>
          <a:bodyPr wrap="square" rtlCol="0">
            <a:spAutoFit/>
          </a:bodyPr>
          <a:lstStyle/>
          <a:p>
            <a:r>
              <a:rPr lang="en-US" dirty="0"/>
              <a:t>Cancel</a:t>
            </a:r>
          </a:p>
        </p:txBody>
      </p:sp>
      <p:cxnSp>
        <p:nvCxnSpPr>
          <p:cNvPr id="57" name="Elbow Connector 56">
            <a:extLst>
              <a:ext uri="{FF2B5EF4-FFF2-40B4-BE49-F238E27FC236}">
                <a16:creationId xmlns:a16="http://schemas.microsoft.com/office/drawing/2014/main" id="{FACF8EE2-F3E7-309E-683B-5443B5F59B2B}"/>
              </a:ext>
              <a:ext uri="{C183D7F6-B498-43B3-948B-1728B52AA6E4}">
                <adec:decorative xmlns:adec="http://schemas.microsoft.com/office/drawing/2017/decorative" val="1"/>
              </a:ext>
            </a:extLst>
          </p:cNvPr>
          <p:cNvCxnSpPr>
            <a:stCxn id="16" idx="1"/>
            <a:endCxn id="17" idx="2"/>
          </p:cNvCxnSpPr>
          <p:nvPr/>
        </p:nvCxnSpPr>
        <p:spPr>
          <a:xfrm rot="10800000">
            <a:off x="2020212" y="3220993"/>
            <a:ext cx="1001328" cy="278809"/>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4DB371F-758E-571B-3CB5-9900E94B5E4F}"/>
              </a:ext>
            </a:extLst>
          </p:cNvPr>
          <p:cNvSpPr txBox="1"/>
          <p:nvPr/>
        </p:nvSpPr>
        <p:spPr>
          <a:xfrm>
            <a:off x="1554379" y="2851660"/>
            <a:ext cx="931665" cy="369332"/>
          </a:xfrm>
          <a:prstGeom prst="rect">
            <a:avLst/>
          </a:prstGeom>
          <a:noFill/>
        </p:spPr>
        <p:txBody>
          <a:bodyPr wrap="none" rtlCol="0">
            <a:spAutoFit/>
          </a:bodyPr>
          <a:lstStyle/>
          <a:p>
            <a:r>
              <a:rPr lang="en-US" dirty="0"/>
              <a:t>Fix Data</a:t>
            </a:r>
          </a:p>
        </p:txBody>
      </p:sp>
      <p:cxnSp>
        <p:nvCxnSpPr>
          <p:cNvPr id="60" name="Elbow Connector 59">
            <a:extLst>
              <a:ext uri="{FF2B5EF4-FFF2-40B4-BE49-F238E27FC236}">
                <a16:creationId xmlns:a16="http://schemas.microsoft.com/office/drawing/2014/main" id="{216C7F13-D242-D092-AD1D-9C6C1E2B676E}"/>
              </a:ext>
              <a:ext uri="{C183D7F6-B498-43B3-948B-1728B52AA6E4}">
                <adec:decorative xmlns:adec="http://schemas.microsoft.com/office/drawing/2017/decorative" val="1"/>
              </a:ext>
            </a:extLst>
          </p:cNvPr>
          <p:cNvCxnSpPr>
            <a:stCxn id="17" idx="0"/>
            <a:endCxn id="11" idx="1"/>
          </p:cNvCxnSpPr>
          <p:nvPr/>
        </p:nvCxnSpPr>
        <p:spPr>
          <a:xfrm rot="5400000" flipH="1" flipV="1">
            <a:off x="2493200" y="2147792"/>
            <a:ext cx="230880" cy="1176857"/>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65F90ED8-C787-84A2-8028-DD103711ED23}"/>
              </a:ext>
              <a:ext uri="{C183D7F6-B498-43B3-948B-1728B52AA6E4}">
                <adec:decorative xmlns:adec="http://schemas.microsoft.com/office/drawing/2017/decorative" val="1"/>
              </a:ext>
            </a:extLst>
          </p:cNvPr>
          <p:cNvCxnSpPr>
            <a:endCxn id="18" idx="0"/>
          </p:cNvCxnSpPr>
          <p:nvPr/>
        </p:nvCxnSpPr>
        <p:spPr>
          <a:xfrm rot="16200000" flipH="1">
            <a:off x="6860186" y="3790393"/>
            <a:ext cx="213893" cy="62"/>
          </a:xfrm>
          <a:prstGeom prst="bentConnector3">
            <a:avLst>
              <a:gd name="adj1" fmla="val 50000"/>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EE172EB-CC0C-33A0-2B11-82C432E4A643}"/>
              </a:ext>
            </a:extLst>
          </p:cNvPr>
          <p:cNvSpPr txBox="1"/>
          <p:nvPr/>
        </p:nvSpPr>
        <p:spPr>
          <a:xfrm>
            <a:off x="6382836" y="3897371"/>
            <a:ext cx="1168653" cy="369332"/>
          </a:xfrm>
          <a:prstGeom prst="rect">
            <a:avLst/>
          </a:prstGeom>
          <a:noFill/>
        </p:spPr>
        <p:txBody>
          <a:bodyPr wrap="none" rtlCol="0">
            <a:spAutoFit/>
          </a:bodyPr>
          <a:lstStyle/>
          <a:p>
            <a:pPr algn="ctr"/>
            <a:r>
              <a:rPr lang="en-US" dirty="0">
                <a:solidFill>
                  <a:schemeClr val="bg1"/>
                </a:solidFill>
              </a:rPr>
              <a:t>Store Data</a:t>
            </a:r>
          </a:p>
        </p:txBody>
      </p:sp>
      <p:cxnSp>
        <p:nvCxnSpPr>
          <p:cNvPr id="63" name="Straight Arrow Connector 62">
            <a:extLst>
              <a:ext uri="{FF2B5EF4-FFF2-40B4-BE49-F238E27FC236}">
                <a16:creationId xmlns:a16="http://schemas.microsoft.com/office/drawing/2014/main" id="{B201FF80-C9CC-853F-5D1E-D676429977DD}"/>
              </a:ext>
              <a:ext uri="{C183D7F6-B498-43B3-948B-1728B52AA6E4}">
                <adec:decorative xmlns:adec="http://schemas.microsoft.com/office/drawing/2017/decorative" val="1"/>
              </a:ext>
            </a:extLst>
          </p:cNvPr>
          <p:cNvCxnSpPr>
            <a:stCxn id="18" idx="3"/>
            <a:endCxn id="32" idx="2"/>
          </p:cNvCxnSpPr>
          <p:nvPr/>
        </p:nvCxnSpPr>
        <p:spPr>
          <a:xfrm flipV="1">
            <a:off x="7551489" y="2948033"/>
            <a:ext cx="1776722" cy="11340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Can 31">
            <a:extLst>
              <a:ext uri="{FF2B5EF4-FFF2-40B4-BE49-F238E27FC236}">
                <a16:creationId xmlns:a16="http://schemas.microsoft.com/office/drawing/2014/main" id="{B0EF102C-794D-1662-8805-070581D9FF7F}"/>
              </a:ext>
            </a:extLst>
          </p:cNvPr>
          <p:cNvSpPr/>
          <p:nvPr/>
        </p:nvSpPr>
        <p:spPr>
          <a:xfrm>
            <a:off x="9328211" y="2211302"/>
            <a:ext cx="1257300" cy="147346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model</a:t>
            </a:r>
          </a:p>
        </p:txBody>
      </p:sp>
      <p:cxnSp>
        <p:nvCxnSpPr>
          <p:cNvPr id="94" name="Curved Connector 93">
            <a:extLst>
              <a:ext uri="{FF2B5EF4-FFF2-40B4-BE49-F238E27FC236}">
                <a16:creationId xmlns:a16="http://schemas.microsoft.com/office/drawing/2014/main" id="{4564E9E6-6664-4BE3-5FF4-02E1D2D39EC7}"/>
              </a:ext>
              <a:ext uri="{C183D7F6-B498-43B3-948B-1728B52AA6E4}">
                <adec:decorative xmlns:adec="http://schemas.microsoft.com/office/drawing/2017/decorative" val="1"/>
              </a:ext>
            </a:extLst>
          </p:cNvPr>
          <p:cNvCxnSpPr>
            <a:stCxn id="18" idx="3"/>
            <a:endCxn id="74" idx="3"/>
          </p:cNvCxnSpPr>
          <p:nvPr/>
        </p:nvCxnSpPr>
        <p:spPr>
          <a:xfrm flipH="1">
            <a:off x="7547711" y="4082037"/>
            <a:ext cx="3778" cy="1200554"/>
          </a:xfrm>
          <a:prstGeom prst="curvedConnector3">
            <a:avLst>
              <a:gd name="adj1" fmla="val -9076231"/>
            </a:avLst>
          </a:prstGeom>
          <a:ln w="38100">
            <a:solidFill>
              <a:srgbClr val="FF7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F9B0BCB-A351-F9C8-BD6C-11994B0B303F}"/>
              </a:ext>
            </a:extLst>
          </p:cNvPr>
          <p:cNvSpPr txBox="1"/>
          <p:nvPr/>
        </p:nvSpPr>
        <p:spPr>
          <a:xfrm>
            <a:off x="7970415" y="4517230"/>
            <a:ext cx="1009956" cy="369332"/>
          </a:xfrm>
          <a:prstGeom prst="rect">
            <a:avLst/>
          </a:prstGeom>
          <a:solidFill>
            <a:schemeClr val="tx1"/>
          </a:solidFill>
          <a:ln>
            <a:solidFill>
              <a:srgbClr val="FF7F00"/>
            </a:solidFill>
          </a:ln>
        </p:spPr>
        <p:txBody>
          <a:bodyPr wrap="none" rtlCol="0">
            <a:spAutoFit/>
          </a:bodyPr>
          <a:lstStyle/>
          <a:p>
            <a:pPr algn="ctr"/>
            <a:r>
              <a:rPr lang="en-US">
                <a:solidFill>
                  <a:schemeClr val="bg1"/>
                </a:solidFill>
              </a:rPr>
              <a:t>Message</a:t>
            </a:r>
            <a:endParaRPr lang="en-US" dirty="0">
              <a:solidFill>
                <a:schemeClr val="bg1"/>
              </a:solidFill>
            </a:endParaRPr>
          </a:p>
        </p:txBody>
      </p:sp>
      <p:cxnSp>
        <p:nvCxnSpPr>
          <p:cNvPr id="71" name="Elbow Connector 70">
            <a:extLst>
              <a:ext uri="{FF2B5EF4-FFF2-40B4-BE49-F238E27FC236}">
                <a16:creationId xmlns:a16="http://schemas.microsoft.com/office/drawing/2014/main" id="{98E2F9F5-10E5-8BB8-D5C9-A20FB964D22E}"/>
              </a:ext>
              <a:ext uri="{C183D7F6-B498-43B3-948B-1728B52AA6E4}">
                <adec:decorative xmlns:adec="http://schemas.microsoft.com/office/drawing/2017/decorative" val="1"/>
              </a:ext>
            </a:extLst>
          </p:cNvPr>
          <p:cNvCxnSpPr>
            <a:stCxn id="18" idx="2"/>
            <a:endCxn id="19" idx="3"/>
          </p:cNvCxnSpPr>
          <p:nvPr/>
        </p:nvCxnSpPr>
        <p:spPr>
          <a:xfrm rot="5400000">
            <a:off x="5970442" y="3493814"/>
            <a:ext cx="223833" cy="1769610"/>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851B746-B3A3-4BEE-26F6-54C14054AD75}"/>
              </a:ext>
            </a:extLst>
          </p:cNvPr>
          <p:cNvSpPr txBox="1"/>
          <p:nvPr/>
        </p:nvSpPr>
        <p:spPr>
          <a:xfrm>
            <a:off x="2806514" y="4305870"/>
            <a:ext cx="2391039" cy="369332"/>
          </a:xfrm>
          <a:prstGeom prst="rect">
            <a:avLst/>
          </a:prstGeom>
          <a:noFill/>
        </p:spPr>
        <p:txBody>
          <a:bodyPr wrap="none" rtlCol="0">
            <a:spAutoFit/>
          </a:bodyPr>
          <a:lstStyle/>
          <a:p>
            <a:pPr algn="ctr"/>
            <a:r>
              <a:rPr lang="en-US" dirty="0"/>
              <a:t>Redirect to success URL</a:t>
            </a:r>
          </a:p>
        </p:txBody>
      </p:sp>
      <p:cxnSp>
        <p:nvCxnSpPr>
          <p:cNvPr id="79" name="Elbow Connector 78">
            <a:extLst>
              <a:ext uri="{FF2B5EF4-FFF2-40B4-BE49-F238E27FC236}">
                <a16:creationId xmlns:a16="http://schemas.microsoft.com/office/drawing/2014/main" id="{C4390285-2343-62A8-D68A-4BECC070C21A}"/>
              </a:ext>
              <a:ext uri="{C183D7F6-B498-43B3-948B-1728B52AA6E4}">
                <adec:decorative xmlns:adec="http://schemas.microsoft.com/office/drawing/2017/decorative" val="1"/>
              </a:ext>
            </a:extLst>
          </p:cNvPr>
          <p:cNvCxnSpPr>
            <a:stCxn id="19" idx="1"/>
            <a:endCxn id="20" idx="1"/>
          </p:cNvCxnSpPr>
          <p:nvPr/>
        </p:nvCxnSpPr>
        <p:spPr>
          <a:xfrm rot="10800000" flipH="1" flipV="1">
            <a:off x="2806513" y="4490535"/>
            <a:ext cx="328935" cy="422723"/>
          </a:xfrm>
          <a:prstGeom prst="bentConnector3">
            <a:avLst>
              <a:gd name="adj1" fmla="val -69497"/>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4F10E68-B5DE-CFB7-3950-46038022EB5F}"/>
              </a:ext>
            </a:extLst>
          </p:cNvPr>
          <p:cNvSpPr txBox="1"/>
          <p:nvPr/>
        </p:nvSpPr>
        <p:spPr>
          <a:xfrm>
            <a:off x="3135449" y="4728593"/>
            <a:ext cx="1733168" cy="369332"/>
          </a:xfrm>
          <a:prstGeom prst="rect">
            <a:avLst/>
          </a:prstGeom>
          <a:noFill/>
        </p:spPr>
        <p:txBody>
          <a:bodyPr wrap="none" rtlCol="0">
            <a:spAutoFit/>
          </a:bodyPr>
          <a:lstStyle/>
          <a:p>
            <a:pPr algn="ctr"/>
            <a:r>
              <a:rPr lang="en-US" dirty="0"/>
              <a:t>GET success URL</a:t>
            </a:r>
          </a:p>
        </p:txBody>
      </p:sp>
      <p:cxnSp>
        <p:nvCxnSpPr>
          <p:cNvPr id="83" name="Elbow Connector 82">
            <a:extLst>
              <a:ext uri="{FF2B5EF4-FFF2-40B4-BE49-F238E27FC236}">
                <a16:creationId xmlns:a16="http://schemas.microsoft.com/office/drawing/2014/main" id="{D6F6C6A5-9B40-BF09-28C7-13A11DCFF53F}"/>
              </a:ext>
              <a:ext uri="{C183D7F6-B498-43B3-948B-1728B52AA6E4}">
                <adec:decorative xmlns:adec="http://schemas.microsoft.com/office/drawing/2017/decorative" val="1"/>
              </a:ext>
            </a:extLst>
          </p:cNvPr>
          <p:cNvCxnSpPr>
            <a:stCxn id="20" idx="3"/>
            <a:endCxn id="74" idx="0"/>
          </p:cNvCxnSpPr>
          <p:nvPr/>
        </p:nvCxnSpPr>
        <p:spPr>
          <a:xfrm>
            <a:off x="4868617" y="4913259"/>
            <a:ext cx="2076846" cy="184666"/>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F1F6210D-BC7C-C1FF-BF5C-BE0A5E15C6D8}"/>
              </a:ext>
            </a:extLst>
          </p:cNvPr>
          <p:cNvSpPr txBox="1"/>
          <p:nvPr/>
        </p:nvSpPr>
        <p:spPr>
          <a:xfrm>
            <a:off x="6343214" y="5097925"/>
            <a:ext cx="1204497" cy="369332"/>
          </a:xfrm>
          <a:prstGeom prst="rect">
            <a:avLst/>
          </a:prstGeom>
          <a:noFill/>
        </p:spPr>
        <p:txBody>
          <a:bodyPr wrap="none" rtlCol="0">
            <a:spAutoFit/>
          </a:bodyPr>
          <a:lstStyle/>
          <a:p>
            <a:pPr algn="ctr"/>
            <a:r>
              <a:rPr lang="en-US" dirty="0">
                <a:solidFill>
                  <a:schemeClr val="bg1"/>
                </a:solidFill>
              </a:rPr>
              <a:t>Make Page</a:t>
            </a:r>
          </a:p>
        </p:txBody>
      </p:sp>
      <p:cxnSp>
        <p:nvCxnSpPr>
          <p:cNvPr id="88" name="Elbow Connector 87">
            <a:extLst>
              <a:ext uri="{FF2B5EF4-FFF2-40B4-BE49-F238E27FC236}">
                <a16:creationId xmlns:a16="http://schemas.microsoft.com/office/drawing/2014/main" id="{43F046AD-CF8F-2FFD-6DE1-9491D0946691}"/>
              </a:ext>
              <a:ext uri="{C183D7F6-B498-43B3-948B-1728B52AA6E4}">
                <adec:decorative xmlns:adec="http://schemas.microsoft.com/office/drawing/2017/decorative" val="1"/>
              </a:ext>
            </a:extLst>
          </p:cNvPr>
          <p:cNvCxnSpPr>
            <a:stCxn id="74" idx="2"/>
            <a:endCxn id="21" idx="3"/>
          </p:cNvCxnSpPr>
          <p:nvPr/>
        </p:nvCxnSpPr>
        <p:spPr>
          <a:xfrm rot="5400000">
            <a:off x="5842715" y="4549971"/>
            <a:ext cx="185462" cy="2020035"/>
          </a:xfrm>
          <a:prstGeom prst="bentConnector2">
            <a:avLst/>
          </a:prstGeom>
          <a:ln w="38100">
            <a:solidFill>
              <a:srgbClr val="FF40FF"/>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1C1B437-2D14-F2A4-3D1D-62D0F1C7B57A}"/>
              </a:ext>
            </a:extLst>
          </p:cNvPr>
          <p:cNvSpPr txBox="1"/>
          <p:nvPr/>
        </p:nvSpPr>
        <p:spPr>
          <a:xfrm>
            <a:off x="3078639" y="5468053"/>
            <a:ext cx="1846789" cy="369332"/>
          </a:xfrm>
          <a:prstGeom prst="rect">
            <a:avLst/>
          </a:prstGeom>
          <a:noFill/>
        </p:spPr>
        <p:txBody>
          <a:bodyPr wrap="none" rtlCol="0">
            <a:spAutoFit/>
          </a:bodyPr>
          <a:lstStyle/>
          <a:p>
            <a:pPr algn="ctr"/>
            <a:r>
              <a:rPr lang="en-US" dirty="0"/>
              <a:t>Success page Yay!</a:t>
            </a:r>
          </a:p>
        </p:txBody>
      </p:sp>
    </p:spTree>
    <p:extLst>
      <p:ext uri="{BB962C8B-B14F-4D97-AF65-F5344CB8AC3E}">
        <p14:creationId xmlns:p14="http://schemas.microsoft.com/office/powerpoint/2010/main" val="228173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Form Data Errors</a:t>
            </a:r>
          </a:p>
        </p:txBody>
      </p:sp>
      <p:sp>
        <p:nvSpPr>
          <p:cNvPr id="5" name="Content Placeholder 4"/>
          <p:cNvSpPr>
            <a:spLocks noGrp="1"/>
          </p:cNvSpPr>
          <p:nvPr>
            <p:ph idx="1"/>
          </p:nvPr>
        </p:nvSpPr>
        <p:spPr>
          <a:xfrm>
            <a:off x="838200" y="1825625"/>
            <a:ext cx="5067423" cy="4351338"/>
          </a:xfrm>
        </p:spPr>
        <p:txBody>
          <a:bodyPr/>
          <a:lstStyle/>
          <a:p>
            <a:r>
              <a:rPr lang="en-US" dirty="0"/>
              <a:t>Sometimes there are validation rules when you are filling out a form.</a:t>
            </a:r>
          </a:p>
          <a:p>
            <a:r>
              <a:rPr lang="en-US" dirty="0"/>
              <a:t>When you submit the form, the view code checks the data to see if there are errors</a:t>
            </a:r>
          </a:p>
          <a:p>
            <a:r>
              <a:rPr lang="en-US" dirty="0"/>
              <a:t>If there are errors, data is not saved and the user is notified and usually given a chance to edit and resubmit</a:t>
            </a:r>
          </a:p>
        </p:txBody>
      </p:sp>
      <p:pic>
        <p:nvPicPr>
          <p:cNvPr id="6" name="Picture 5" descr="This is out data form showing a validation error “Please enter two or more character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5623" y="2026444"/>
            <a:ext cx="6781800" cy="3949700"/>
          </a:xfrm>
          <a:prstGeom prst="rect">
            <a:avLst/>
          </a:prstGeom>
        </p:spPr>
      </p:pic>
      <p:sp>
        <p:nvSpPr>
          <p:cNvPr id="7" name="Rectangle 6"/>
          <p:cNvSpPr/>
          <p:nvPr/>
        </p:nvSpPr>
        <p:spPr>
          <a:xfrm>
            <a:off x="6230558" y="1522175"/>
            <a:ext cx="5423280" cy="369332"/>
          </a:xfrm>
          <a:prstGeom prst="rect">
            <a:avLst/>
          </a:prstGeom>
        </p:spPr>
        <p:txBody>
          <a:bodyPr wrap="none">
            <a:spAutoFit/>
          </a:bodyPr>
          <a:lstStyle/>
          <a:p>
            <a:r>
              <a:rPr lang="en-US">
                <a:solidFill>
                  <a:srgbClr val="FFFF00"/>
                </a:solidFill>
                <a:latin typeface="Courier" charset="0"/>
                <a:ea typeface="Courier" charset="0"/>
                <a:cs typeface="Courier" charset="0"/>
              </a:rPr>
              <a:t>https://samples.dj4e.com/form/validate</a:t>
            </a:r>
          </a:p>
        </p:txBody>
      </p:sp>
    </p:spTree>
    <p:extLst>
      <p:ext uri="{BB962C8B-B14F-4D97-AF65-F5344CB8AC3E}">
        <p14:creationId xmlns:p14="http://schemas.microsoft.com/office/powerpoint/2010/main" val="1405277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Django form validation</a:t>
            </a:r>
          </a:p>
        </p:txBody>
      </p:sp>
      <p:sp>
        <p:nvSpPr>
          <p:cNvPr id="8" name="Rectangle 7"/>
          <p:cNvSpPr/>
          <p:nvPr/>
        </p:nvSpPr>
        <p:spPr>
          <a:xfrm>
            <a:off x="709539" y="1732239"/>
            <a:ext cx="3768980"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forms.py</a:t>
            </a:r>
            <a:endParaRPr lang="en-US" dirty="0">
              <a:solidFill>
                <a:srgbClr val="FFFF00"/>
              </a:solidFill>
              <a:effectLst/>
              <a:latin typeface="Courier" charset="0"/>
              <a:ea typeface="Courier" charset="0"/>
              <a:cs typeface="Courier" charset="0"/>
            </a:endParaRPr>
          </a:p>
        </p:txBody>
      </p:sp>
      <p:sp>
        <p:nvSpPr>
          <p:cNvPr id="5" name="TextBox 4"/>
          <p:cNvSpPr txBox="1"/>
          <p:nvPr/>
        </p:nvSpPr>
        <p:spPr>
          <a:xfrm>
            <a:off x="709539" y="2257424"/>
            <a:ext cx="11020499" cy="1754326"/>
          </a:xfrm>
          <a:prstGeom prst="rect">
            <a:avLst/>
          </a:prstGeom>
          <a:solidFill>
            <a:schemeClr val="tx1"/>
          </a:solidFill>
        </p:spPr>
        <p:txBody>
          <a:bodyPr wrap="square" rtlCol="0">
            <a:spAutoFit/>
          </a:bodyPr>
          <a:lstStyle/>
          <a:p>
            <a:r>
              <a:rPr lang="en-US" dirty="0">
                <a:solidFill>
                  <a:srgbClr val="C1651C"/>
                </a:solidFill>
                <a:latin typeface="Menlo-Regular" charset="0"/>
              </a:rPr>
              <a:t>class</a:t>
            </a:r>
            <a:r>
              <a:rPr lang="en-US" dirty="0">
                <a:solidFill>
                  <a:srgbClr val="000000"/>
                </a:solidFill>
                <a:latin typeface="Menlo-Regular" charset="0"/>
              </a:rPr>
              <a:t> </a:t>
            </a:r>
            <a:r>
              <a:rPr lang="en-US" dirty="0" err="1">
                <a:solidFill>
                  <a:schemeClr val="bg1"/>
                </a:solidFill>
                <a:latin typeface="Menlo-Regular" charset="0"/>
              </a:rPr>
              <a:t>BasicForm</a:t>
            </a:r>
            <a:r>
              <a:rPr lang="en-US" dirty="0">
                <a:solidFill>
                  <a:srgbClr val="000000"/>
                </a:solidFill>
                <a:latin typeface="Menlo-Regular" charset="0"/>
              </a:rPr>
              <a:t>(</a:t>
            </a:r>
            <a:r>
              <a:rPr lang="en-US" dirty="0" err="1">
                <a:solidFill>
                  <a:srgbClr val="000000"/>
                </a:solidFill>
                <a:latin typeface="Menlo-Regular" charset="0"/>
              </a:rPr>
              <a:t>forms.Form</a:t>
            </a:r>
            <a:r>
              <a:rPr lang="en-US" dirty="0">
                <a:solidFill>
                  <a:srgbClr val="000000"/>
                </a:solidFill>
                <a:latin typeface="Menlo-Regular" charset="0"/>
              </a:rPr>
              <a:t>):</a:t>
            </a:r>
          </a:p>
          <a:p>
            <a:r>
              <a:rPr lang="en-US" dirty="0">
                <a:solidFill>
                  <a:srgbClr val="000000"/>
                </a:solidFill>
                <a:latin typeface="Menlo-Regular" charset="0"/>
              </a:rPr>
              <a:t>    title = </a:t>
            </a:r>
            <a:r>
              <a:rPr lang="en-US" dirty="0" err="1">
                <a:solidFill>
                  <a:srgbClr val="000000"/>
                </a:solidFill>
                <a:latin typeface="Menlo-Regular" charset="0"/>
              </a:rPr>
              <a:t>forms.CharField</a:t>
            </a:r>
            <a:r>
              <a:rPr lang="en-US" dirty="0">
                <a:solidFill>
                  <a:srgbClr val="000000"/>
                </a:solidFill>
                <a:latin typeface="Menlo-Regular" charset="0"/>
              </a:rPr>
              <a:t>(validators=[</a:t>
            </a:r>
          </a:p>
          <a:p>
            <a:r>
              <a:rPr lang="en-US" dirty="0">
                <a:solidFill>
                  <a:srgbClr val="000000"/>
                </a:solidFill>
                <a:latin typeface="Menlo-Regular" charset="0"/>
              </a:rPr>
              <a:t>      </a:t>
            </a:r>
            <a:r>
              <a:rPr lang="en-US" dirty="0" err="1">
                <a:solidFill>
                  <a:srgbClr val="000000"/>
                </a:solidFill>
                <a:latin typeface="Menlo-Regular" charset="0"/>
              </a:rPr>
              <a:t>validators.MinLengthValidator</a:t>
            </a:r>
            <a:r>
              <a:rPr lang="en-US" dirty="0">
                <a:solidFill>
                  <a:srgbClr val="000000"/>
                </a:solidFill>
                <a:latin typeface="Menlo-Regular" charset="0"/>
              </a:rPr>
              <a:t>(</a:t>
            </a:r>
            <a:r>
              <a:rPr lang="en-US" dirty="0">
                <a:solidFill>
                  <a:srgbClr val="B42419"/>
                </a:solidFill>
                <a:latin typeface="Menlo-Regular" charset="0"/>
              </a:rPr>
              <a:t>2</a:t>
            </a:r>
            <a:r>
              <a:rPr lang="en-US" dirty="0">
                <a:solidFill>
                  <a:srgbClr val="000000"/>
                </a:solidFill>
                <a:latin typeface="Menlo-Regular" charset="0"/>
              </a:rPr>
              <a:t>, </a:t>
            </a:r>
            <a:r>
              <a:rPr lang="en-US" dirty="0">
                <a:solidFill>
                  <a:srgbClr val="B42419"/>
                </a:solidFill>
                <a:latin typeface="Menlo-Regular" charset="0"/>
              </a:rPr>
              <a:t>"Please enter 2 or more characters"</a:t>
            </a:r>
            <a:r>
              <a:rPr lang="en-US" dirty="0">
                <a:solidFill>
                  <a:srgbClr val="000000"/>
                </a:solidFill>
                <a:latin typeface="Menlo-Regular" charset="0"/>
              </a:rPr>
              <a:t>)</a:t>
            </a:r>
          </a:p>
          <a:p>
            <a:r>
              <a:rPr lang="en-US" dirty="0">
                <a:solidFill>
                  <a:srgbClr val="000000"/>
                </a:solidFill>
                <a:latin typeface="Menlo-Regular" charset="0"/>
              </a:rPr>
              <a:t>    ])</a:t>
            </a:r>
          </a:p>
          <a:p>
            <a:r>
              <a:rPr lang="en-US" dirty="0">
                <a:solidFill>
                  <a:srgbClr val="000000"/>
                </a:solidFill>
                <a:latin typeface="Menlo-Regular" charset="0"/>
              </a:rPr>
              <a:t>    mileage = </a:t>
            </a:r>
            <a:r>
              <a:rPr lang="en-US" dirty="0" err="1">
                <a:solidFill>
                  <a:srgbClr val="000000"/>
                </a:solidFill>
                <a:latin typeface="Menlo-Regular" charset="0"/>
              </a:rPr>
              <a:t>forms.IntegerField</a:t>
            </a:r>
            <a:r>
              <a:rPr lang="en-US" dirty="0">
                <a:solidFill>
                  <a:srgbClr val="000000"/>
                </a:solidFill>
                <a:latin typeface="Menlo-Regular" charset="0"/>
              </a:rPr>
              <a:t>()</a:t>
            </a:r>
          </a:p>
          <a:p>
            <a:r>
              <a:rPr lang="en-US" dirty="0">
                <a:solidFill>
                  <a:srgbClr val="000000"/>
                </a:solidFill>
                <a:latin typeface="Menlo-Regular" charset="0"/>
              </a:rPr>
              <a:t>    </a:t>
            </a:r>
            <a:r>
              <a:rPr lang="en-US" dirty="0" err="1">
                <a:solidFill>
                  <a:srgbClr val="000000"/>
                </a:solidFill>
                <a:latin typeface="Menlo-Regular" charset="0"/>
              </a:rPr>
              <a:t>purchase_date</a:t>
            </a:r>
            <a:r>
              <a:rPr lang="en-US" dirty="0">
                <a:solidFill>
                  <a:srgbClr val="000000"/>
                </a:solidFill>
                <a:latin typeface="Menlo-Regular" charset="0"/>
              </a:rPr>
              <a:t> = </a:t>
            </a:r>
            <a:r>
              <a:rPr lang="en-US" dirty="0" err="1">
                <a:solidFill>
                  <a:srgbClr val="000000"/>
                </a:solidFill>
                <a:latin typeface="Menlo-Regular" charset="0"/>
              </a:rPr>
              <a:t>forms.DateField</a:t>
            </a:r>
            <a:r>
              <a:rPr lang="en-US" dirty="0">
                <a:solidFill>
                  <a:srgbClr val="000000"/>
                </a:solidFill>
                <a:latin typeface="Menlo-Regular" charset="0"/>
              </a:rPr>
              <a:t>()</a:t>
            </a:r>
            <a:endParaRPr lang="en-US" dirty="0"/>
          </a:p>
        </p:txBody>
      </p:sp>
      <p:sp>
        <p:nvSpPr>
          <p:cNvPr id="7" name="TextBox 6"/>
          <p:cNvSpPr txBox="1"/>
          <p:nvPr/>
        </p:nvSpPr>
        <p:spPr>
          <a:xfrm>
            <a:off x="4484648" y="5614987"/>
            <a:ext cx="6997813" cy="461665"/>
          </a:xfrm>
          <a:prstGeom prst="rect">
            <a:avLst/>
          </a:prstGeom>
          <a:noFill/>
        </p:spPr>
        <p:txBody>
          <a:bodyPr wrap="none" rtlCol="0">
            <a:spAutoFit/>
          </a:bodyPr>
          <a:lstStyle/>
          <a:p>
            <a:r>
              <a:rPr lang="en-US" sz="2400" dirty="0">
                <a:solidFill>
                  <a:srgbClr val="FFFF00"/>
                </a:solidFill>
              </a:rPr>
              <a:t>https://</a:t>
            </a:r>
            <a:r>
              <a:rPr lang="en-US" sz="2400" dirty="0" err="1">
                <a:solidFill>
                  <a:srgbClr val="FFFF00"/>
                </a:solidFill>
              </a:rPr>
              <a:t>docs.djangoproject.com</a:t>
            </a:r>
            <a:r>
              <a:rPr lang="en-US" sz="2400" dirty="0">
                <a:solidFill>
                  <a:srgbClr val="FFFF00"/>
                </a:solidFill>
              </a:rPr>
              <a:t>/</a:t>
            </a:r>
            <a:r>
              <a:rPr lang="en-US" sz="2400" dirty="0" err="1">
                <a:solidFill>
                  <a:srgbClr val="FFFF00"/>
                </a:solidFill>
              </a:rPr>
              <a:t>en</a:t>
            </a:r>
            <a:r>
              <a:rPr lang="en-US" sz="2400" dirty="0">
                <a:solidFill>
                  <a:srgbClr val="FFFF00"/>
                </a:solidFill>
              </a:rPr>
              <a:t>/4.0/ref/validators/</a:t>
            </a:r>
          </a:p>
        </p:txBody>
      </p:sp>
    </p:spTree>
    <p:extLst>
      <p:ext uri="{BB962C8B-B14F-4D97-AF65-F5344CB8AC3E}">
        <p14:creationId xmlns:p14="http://schemas.microsoft.com/office/powerpoint/2010/main" val="752322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F2EB-1301-9CE1-BEB0-8FC1EB6E8989}"/>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The flow of a GET request in a Django view</a:t>
            </a:r>
          </a:p>
        </p:txBody>
      </p:sp>
      <p:sp>
        <p:nvSpPr>
          <p:cNvPr id="8" name="Rectangle 7"/>
          <p:cNvSpPr/>
          <p:nvPr/>
        </p:nvSpPr>
        <p:spPr>
          <a:xfrm>
            <a:off x="521248" y="5662374"/>
            <a:ext cx="3768980"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views.py</a:t>
            </a:r>
            <a:endParaRPr lang="en-US" dirty="0">
              <a:solidFill>
                <a:srgbClr val="FFFF00"/>
              </a:solidFill>
              <a:latin typeface="Courier" charset="0"/>
              <a:ea typeface="Courier" charset="0"/>
              <a:cs typeface="Courier" charset="0"/>
            </a:endParaRPr>
          </a:p>
        </p:txBody>
      </p:sp>
      <p:cxnSp>
        <p:nvCxnSpPr>
          <p:cNvPr id="3" name="Straight Arrow Connector 2">
            <a:extLst>
              <a:ext uri="{C183D7F6-B498-43B3-948B-1728B52AA6E4}">
                <adec:decorative xmlns:adec="http://schemas.microsoft.com/office/drawing/2017/decorative" val="1"/>
              </a:ext>
            </a:extLst>
          </p:cNvPr>
          <p:cNvCxnSpPr/>
          <p:nvPr/>
        </p:nvCxnSpPr>
        <p:spPr>
          <a:xfrm>
            <a:off x="1871663" y="328614"/>
            <a:ext cx="3100387" cy="84296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3036094" y="500064"/>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GET</a:t>
            </a:r>
          </a:p>
        </p:txBody>
      </p:sp>
      <p:sp>
        <p:nvSpPr>
          <p:cNvPr id="16" name="TextBox 15"/>
          <p:cNvSpPr txBox="1"/>
          <p:nvPr/>
        </p:nvSpPr>
        <p:spPr>
          <a:xfrm>
            <a:off x="4474064" y="737462"/>
            <a:ext cx="7677102" cy="5586145"/>
          </a:xfrm>
          <a:prstGeom prst="rect">
            <a:avLst/>
          </a:prstGeom>
          <a:solidFill>
            <a:schemeClr val="tx1"/>
          </a:solidFill>
          <a:ln w="38100">
            <a:solidFill>
              <a:schemeClr val="bg1"/>
            </a:solidFill>
          </a:ln>
        </p:spPr>
        <p:txBody>
          <a:bodyPr wrap="none" rtlCol="0">
            <a:spAutoFit/>
          </a:bodyPr>
          <a:lstStyle/>
          <a:p>
            <a:r>
              <a:rPr lang="en-US" sz="1700" b="1" dirty="0">
                <a:solidFill>
                  <a:srgbClr val="C1651C"/>
                </a:solidFill>
                <a:latin typeface="Courier" charset="0"/>
                <a:ea typeface="Courier" charset="0"/>
                <a:cs typeface="Courier" charset="0"/>
              </a:rPr>
              <a:t>class</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Validate</a:t>
            </a:r>
            <a:r>
              <a:rPr lang="en-US" sz="1700" b="1" dirty="0">
                <a:solidFill>
                  <a:srgbClr val="000000"/>
                </a:solidFill>
                <a:latin typeface="Courier" charset="0"/>
                <a:ea typeface="Courier" charset="0"/>
                <a:cs typeface="Courier" charset="0"/>
              </a:rPr>
              <a:t>(View):</a:t>
            </a:r>
          </a:p>
          <a:p>
            <a:r>
              <a:rPr lang="en-US" sz="1700" b="1" dirty="0">
                <a:solidFill>
                  <a:srgbClr val="000000"/>
                </a:solidFill>
                <a:latin typeface="Courier" charset="0"/>
                <a:ea typeface="Courier" charset="0"/>
                <a:cs typeface="Courier" charset="0"/>
              </a:rPr>
              <a:t>    </a:t>
            </a:r>
            <a:r>
              <a:rPr lang="en-US" sz="1700" b="1" dirty="0" err="1">
                <a:solidFill>
                  <a:srgbClr val="C1651C"/>
                </a:solidFill>
                <a:latin typeface="Courier" charset="0"/>
                <a:ea typeface="Courier" charset="0"/>
                <a:cs typeface="Courier" charset="0"/>
              </a:rPr>
              <a:t>def</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get</a:t>
            </a:r>
            <a:r>
              <a:rPr lang="en-US" sz="1700" b="1" dirty="0">
                <a:solidFill>
                  <a:srgbClr val="000000"/>
                </a:solidFill>
                <a:latin typeface="Courier" charset="0"/>
                <a:ea typeface="Courier" charset="0"/>
                <a:cs typeface="Courier" charset="0"/>
              </a:rPr>
              <a:t>(self, request) :</a:t>
            </a:r>
          </a:p>
          <a:p>
            <a:r>
              <a:rPr lang="mr-IN" sz="1700" b="1" dirty="0">
                <a:solidFill>
                  <a:srgbClr val="000000"/>
                </a:solidFill>
                <a:latin typeface="Courier" charset="0"/>
                <a:ea typeface="Courier" charset="0"/>
                <a:cs typeface="Courier" charset="0"/>
              </a:rPr>
              <a:t>        </a:t>
            </a:r>
            <a:r>
              <a:rPr lang="mr-IN" sz="1700" b="1" dirty="0" err="1">
                <a:solidFill>
                  <a:srgbClr val="000000"/>
                </a:solidFill>
                <a:latin typeface="Courier" charset="0"/>
                <a:ea typeface="Courier" charset="0"/>
                <a:cs typeface="Courier" charset="0"/>
              </a:rPr>
              <a:t>old_data</a:t>
            </a:r>
            <a:r>
              <a:rPr lang="mr-IN" sz="1700" b="1" dirty="0">
                <a:solidFill>
                  <a:srgbClr val="000000"/>
                </a:solidFill>
                <a:latin typeface="Courier" charset="0"/>
                <a:ea typeface="Courier" charset="0"/>
                <a:cs typeface="Courier" charset="0"/>
              </a:rPr>
              <a:t> = {</a:t>
            </a:r>
          </a:p>
          <a:p>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title</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SakaiCar</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a:t>
            </a:r>
          </a:p>
          <a:p>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mileage</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 </a:t>
            </a:r>
            <a:r>
              <a:rPr lang="mr-IN" sz="1700" b="1" dirty="0">
                <a:solidFill>
                  <a:srgbClr val="B42419"/>
                </a:solidFill>
                <a:latin typeface="Courier" charset="0"/>
                <a:ea typeface="Courier" charset="0"/>
                <a:cs typeface="Courier" charset="0"/>
              </a:rPr>
              <a:t>42</a:t>
            </a:r>
            <a:r>
              <a:rPr lang="mr-IN" sz="1700" b="1" dirty="0">
                <a:solidFill>
                  <a:srgbClr val="000000"/>
                </a:solidFill>
                <a:latin typeface="Courier" charset="0"/>
                <a:ea typeface="Courier" charset="0"/>
                <a:cs typeface="Courier" charset="0"/>
              </a:rPr>
              <a:t>,</a:t>
            </a:r>
          </a:p>
          <a:p>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purchase_date</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'2018-08-14'</a:t>
            </a:r>
            <a:endParaRPr lang="mr-IN" sz="1700" b="1" dirty="0">
              <a:solidFill>
                <a:srgbClr val="000000"/>
              </a:solidFill>
              <a:latin typeface="Courier" charset="0"/>
              <a:ea typeface="Courier" charset="0"/>
              <a:cs typeface="Courier" charset="0"/>
            </a:endParaRPr>
          </a:p>
          <a:p>
            <a:r>
              <a:rPr lang="mr-IN" sz="1700" b="1" dirty="0">
                <a:solidFill>
                  <a:srgbClr val="000000"/>
                </a:solidFill>
                <a:latin typeface="Courier" charset="0"/>
                <a:ea typeface="Courier" charset="0"/>
                <a:cs typeface="Courier" charset="0"/>
              </a:rPr>
              <a:t>        }</a:t>
            </a:r>
          </a:p>
          <a:p>
            <a:r>
              <a:rPr lang="en-US" sz="1700" b="1" dirty="0">
                <a:solidFill>
                  <a:srgbClr val="000000"/>
                </a:solidFill>
                <a:latin typeface="Courier" charset="0"/>
                <a:ea typeface="Courier" charset="0"/>
                <a:cs typeface="Courier" charset="0"/>
              </a:rPr>
              <a:t>        form = </a:t>
            </a:r>
            <a:r>
              <a:rPr lang="en-US" sz="1700" b="1" dirty="0" err="1">
                <a:solidFill>
                  <a:srgbClr val="000000"/>
                </a:solidFill>
                <a:latin typeface="Courier" charset="0"/>
                <a:ea typeface="Courier" charset="0"/>
                <a:cs typeface="Courier" charset="0"/>
              </a:rPr>
              <a:t>BasicForm</a:t>
            </a:r>
            <a:r>
              <a:rPr lang="en-US" sz="1700" b="1" dirty="0">
                <a:solidFill>
                  <a:srgbClr val="000000"/>
                </a:solidFill>
                <a:latin typeface="Courier" charset="0"/>
                <a:ea typeface="Courier" charset="0"/>
                <a:cs typeface="Courier" charset="0"/>
              </a:rPr>
              <a:t>(initial=</a:t>
            </a:r>
            <a:r>
              <a:rPr lang="en-US" sz="1700" b="1" dirty="0" err="1">
                <a:solidFill>
                  <a:srgbClr val="000000"/>
                </a:solidFill>
                <a:latin typeface="Courier" charset="0"/>
                <a:ea typeface="Courier" charset="0"/>
                <a:cs typeface="Courier" charset="0"/>
              </a:rPr>
              <a:t>old_data</a:t>
            </a:r>
            <a:r>
              <a:rPr lang="en-US" sz="1700" b="1" dirty="0">
                <a:solidFill>
                  <a:srgbClr val="000000"/>
                </a:solidFill>
                <a:latin typeface="Courier" charset="0"/>
                <a:ea typeface="Courier" charset="0"/>
                <a:cs typeface="Courier" charset="0"/>
              </a:rPr>
              <a:t>)</a:t>
            </a:r>
          </a:p>
          <a:p>
            <a:r>
              <a:rPr lang="mr-IN" sz="1700" b="1" dirty="0">
                <a:solidFill>
                  <a:srgbClr val="000000"/>
                </a:solidFill>
                <a:latin typeface="Courier" charset="0"/>
                <a:ea typeface="Courier" charset="0"/>
                <a:cs typeface="Courier" charset="0"/>
              </a:rPr>
              <a:t>        </a:t>
            </a:r>
            <a:r>
              <a:rPr lang="mr-IN" sz="1700" b="1" dirty="0" err="1">
                <a:solidFill>
                  <a:srgbClr val="000000"/>
                </a:solidFill>
                <a:latin typeface="Courier" charset="0"/>
                <a:ea typeface="Courier" charset="0"/>
                <a:cs typeface="Courier" charset="0"/>
              </a:rPr>
              <a:t>ctx</a:t>
            </a:r>
            <a:r>
              <a:rPr lang="mr-IN" sz="1700" b="1" dirty="0">
                <a:solidFill>
                  <a:srgbClr val="000000"/>
                </a:solidFill>
                <a:latin typeface="Courier" charset="0"/>
                <a:ea typeface="Courier" charset="0"/>
                <a:cs typeface="Courier" charset="0"/>
              </a:rPr>
              <a:t> =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form</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 </a:t>
            </a:r>
            <a:r>
              <a:rPr lang="mr-IN" sz="1700" b="1" dirty="0" err="1">
                <a:solidFill>
                  <a:srgbClr val="000000"/>
                </a:solidFill>
                <a:latin typeface="Courier" charset="0"/>
                <a:ea typeface="Courier" charset="0"/>
                <a:cs typeface="Courier" charset="0"/>
              </a:rPr>
              <a:t>form</a:t>
            </a:r>
            <a:r>
              <a:rPr lang="mr-IN"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return</a:t>
            </a:r>
            <a:r>
              <a:rPr lang="en-US" sz="1700" b="1" dirty="0">
                <a:solidFill>
                  <a:srgbClr val="000000"/>
                </a:solidFill>
                <a:latin typeface="Courier" charset="0"/>
                <a:ea typeface="Courier" charset="0"/>
                <a:cs typeface="Courier" charset="0"/>
              </a:rPr>
              <a:t> render(request, </a:t>
            </a:r>
            <a:r>
              <a:rPr lang="en-US" sz="1700" b="1" dirty="0">
                <a:solidFill>
                  <a:srgbClr val="B42419"/>
                </a:solidFill>
                <a:latin typeface="Courier" charset="0"/>
                <a:ea typeface="Courier" charset="0"/>
                <a:cs typeface="Courier" charset="0"/>
              </a:rPr>
              <a:t>'form/</a:t>
            </a:r>
            <a:r>
              <a:rPr lang="en-US" sz="1700" b="1" dirty="0" err="1">
                <a:solidFill>
                  <a:srgbClr val="B42419"/>
                </a:solidFill>
                <a:latin typeface="Courier" charset="0"/>
                <a:ea typeface="Courier" charset="0"/>
                <a:cs typeface="Courier" charset="0"/>
              </a:rPr>
              <a:t>form.html</a:t>
            </a:r>
            <a:r>
              <a:rPr lang="en-US" sz="1700" b="1" dirty="0">
                <a:solidFill>
                  <a:srgbClr val="B42419"/>
                </a:solidFill>
                <a:latin typeface="Courier" charset="0"/>
                <a:ea typeface="Courier" charset="0"/>
                <a:cs typeface="Courier" charset="0"/>
              </a:rPr>
              <a:t>'</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ctx</a:t>
            </a:r>
            <a:r>
              <a:rPr lang="en-US" sz="1700" b="1" dirty="0">
                <a:solidFill>
                  <a:srgbClr val="000000"/>
                </a:solidFill>
                <a:latin typeface="Courier" charset="0"/>
                <a:ea typeface="Courier" charset="0"/>
                <a:cs typeface="Courier" charset="0"/>
              </a:rPr>
              <a:t>)</a:t>
            </a:r>
          </a:p>
          <a:p>
            <a:endParaRPr lang="en-US" sz="1700" b="1" dirty="0">
              <a:solidFill>
                <a:srgbClr val="000000"/>
              </a:solidFill>
              <a:latin typeface="Courier" charset="0"/>
              <a:ea typeface="Courier" charset="0"/>
              <a:cs typeface="Courier" charset="0"/>
            </a:endParaRPr>
          </a:p>
          <a:p>
            <a:r>
              <a:rPr lang="en-US" sz="1700" b="1" dirty="0">
                <a:solidFill>
                  <a:srgbClr val="000000"/>
                </a:solidFill>
                <a:latin typeface="Courier" charset="0"/>
                <a:ea typeface="Courier" charset="0"/>
                <a:cs typeface="Courier" charset="0"/>
              </a:rPr>
              <a:t>    </a:t>
            </a:r>
            <a:r>
              <a:rPr lang="en-US" sz="1700" b="1" dirty="0" err="1">
                <a:solidFill>
                  <a:srgbClr val="C1651C"/>
                </a:solidFill>
                <a:latin typeface="Courier" charset="0"/>
                <a:ea typeface="Courier" charset="0"/>
                <a:cs typeface="Courier" charset="0"/>
              </a:rPr>
              <a:t>def</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post</a:t>
            </a:r>
            <a:r>
              <a:rPr lang="en-US" sz="1700" b="1" dirty="0">
                <a:solidFill>
                  <a:srgbClr val="000000"/>
                </a:solidFill>
                <a:latin typeface="Courier" charset="0"/>
                <a:ea typeface="Courier" charset="0"/>
                <a:cs typeface="Courier" charset="0"/>
              </a:rPr>
              <a:t>(self, request) :</a:t>
            </a:r>
          </a:p>
          <a:p>
            <a:r>
              <a:rPr lang="en-US" sz="1700" b="1" dirty="0">
                <a:solidFill>
                  <a:srgbClr val="000000"/>
                </a:solidFill>
                <a:latin typeface="Courier" charset="0"/>
                <a:ea typeface="Courier" charset="0"/>
                <a:cs typeface="Courier" charset="0"/>
              </a:rPr>
              <a:t>        form = </a:t>
            </a:r>
            <a:r>
              <a:rPr lang="en-US" sz="1700" b="1" dirty="0" err="1">
                <a:solidFill>
                  <a:srgbClr val="000000"/>
                </a:solidFill>
                <a:latin typeface="Courier" charset="0"/>
                <a:ea typeface="Courier" charset="0"/>
                <a:cs typeface="Courier" charset="0"/>
              </a:rPr>
              <a:t>BasicForm</a:t>
            </a:r>
            <a:r>
              <a:rPr lang="en-US" sz="1700" b="1" dirty="0">
                <a:solidFill>
                  <a:srgbClr val="000000"/>
                </a:solidFill>
                <a:latin typeface="Courier" charset="0"/>
                <a:ea typeface="Courier" charset="0"/>
                <a:cs typeface="Courier" charset="0"/>
              </a:rPr>
              <a:t>(</a:t>
            </a:r>
            <a:r>
              <a:rPr lang="en-US" sz="1700" b="1" dirty="0" err="1">
                <a:solidFill>
                  <a:srgbClr val="000000"/>
                </a:solidFill>
                <a:latin typeface="Courier" charset="0"/>
                <a:ea typeface="Courier" charset="0"/>
                <a:cs typeface="Courier" charset="0"/>
              </a:rPr>
              <a:t>request.POST</a:t>
            </a:r>
            <a:r>
              <a:rPr lang="en-US"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if</a:t>
            </a:r>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not</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form.is_valid</a:t>
            </a:r>
            <a:r>
              <a:rPr lang="en-US" sz="1700" b="1" dirty="0">
                <a:solidFill>
                  <a:srgbClr val="000000"/>
                </a:solidFill>
                <a:latin typeface="Courier" charset="0"/>
                <a:ea typeface="Courier" charset="0"/>
                <a:cs typeface="Courier" charset="0"/>
              </a:rPr>
              <a:t>() :</a:t>
            </a:r>
          </a:p>
          <a:p>
            <a:r>
              <a:rPr lang="mr-IN" sz="1700" b="1" dirty="0">
                <a:solidFill>
                  <a:srgbClr val="000000"/>
                </a:solidFill>
                <a:latin typeface="Courier" charset="0"/>
                <a:ea typeface="Courier" charset="0"/>
                <a:cs typeface="Courier" charset="0"/>
              </a:rPr>
              <a:t>            </a:t>
            </a:r>
            <a:r>
              <a:rPr lang="mr-IN" sz="1700" b="1" dirty="0" err="1">
                <a:solidFill>
                  <a:srgbClr val="000000"/>
                </a:solidFill>
                <a:latin typeface="Courier" charset="0"/>
                <a:ea typeface="Courier" charset="0"/>
                <a:cs typeface="Courier" charset="0"/>
              </a:rPr>
              <a:t>ctx</a:t>
            </a:r>
            <a:r>
              <a:rPr lang="mr-IN" sz="1700" b="1" dirty="0">
                <a:solidFill>
                  <a:srgbClr val="000000"/>
                </a:solidFill>
                <a:latin typeface="Courier" charset="0"/>
                <a:ea typeface="Courier" charset="0"/>
                <a:cs typeface="Courier" charset="0"/>
              </a:rPr>
              <a:t> =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form</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 </a:t>
            </a:r>
            <a:r>
              <a:rPr lang="mr-IN" sz="1700" b="1" dirty="0" err="1">
                <a:solidFill>
                  <a:srgbClr val="000000"/>
                </a:solidFill>
                <a:latin typeface="Courier" charset="0"/>
                <a:ea typeface="Courier" charset="0"/>
                <a:cs typeface="Courier" charset="0"/>
              </a:rPr>
              <a:t>form</a:t>
            </a:r>
            <a:r>
              <a:rPr lang="mr-IN"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return</a:t>
            </a:r>
            <a:r>
              <a:rPr lang="en-US" sz="1700" b="1" dirty="0">
                <a:solidFill>
                  <a:srgbClr val="000000"/>
                </a:solidFill>
                <a:latin typeface="Courier" charset="0"/>
                <a:ea typeface="Courier" charset="0"/>
                <a:cs typeface="Courier" charset="0"/>
              </a:rPr>
              <a:t> render(request, </a:t>
            </a:r>
            <a:r>
              <a:rPr lang="en-US" sz="1700" b="1" dirty="0">
                <a:solidFill>
                  <a:srgbClr val="B42419"/>
                </a:solidFill>
                <a:latin typeface="Courier" charset="0"/>
                <a:ea typeface="Courier" charset="0"/>
                <a:cs typeface="Courier" charset="0"/>
              </a:rPr>
              <a:t>'form/</a:t>
            </a:r>
            <a:r>
              <a:rPr lang="en-US" sz="1700" b="1" dirty="0" err="1">
                <a:solidFill>
                  <a:srgbClr val="B42419"/>
                </a:solidFill>
                <a:latin typeface="Courier" charset="0"/>
                <a:ea typeface="Courier" charset="0"/>
                <a:cs typeface="Courier" charset="0"/>
              </a:rPr>
              <a:t>form.html</a:t>
            </a:r>
            <a:r>
              <a:rPr lang="en-US" sz="1700" b="1" dirty="0">
                <a:solidFill>
                  <a:srgbClr val="B42419"/>
                </a:solidFill>
                <a:latin typeface="Courier" charset="0"/>
                <a:ea typeface="Courier" charset="0"/>
                <a:cs typeface="Courier" charset="0"/>
              </a:rPr>
              <a:t>'</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ctx</a:t>
            </a:r>
            <a:r>
              <a:rPr lang="en-US"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 Save the Data</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return</a:t>
            </a:r>
            <a:r>
              <a:rPr lang="en-US" sz="1700" b="1" dirty="0">
                <a:solidFill>
                  <a:srgbClr val="000000"/>
                </a:solidFill>
                <a:latin typeface="Courier" charset="0"/>
                <a:ea typeface="Courier" charset="0"/>
                <a:cs typeface="Courier" charset="0"/>
              </a:rPr>
              <a:t> redirect(</a:t>
            </a:r>
            <a:r>
              <a:rPr lang="en-US" sz="1700" b="1" dirty="0">
                <a:solidFill>
                  <a:srgbClr val="B42419"/>
                </a:solidFill>
                <a:latin typeface="Courier" charset="0"/>
                <a:ea typeface="Courier" charset="0"/>
                <a:cs typeface="Courier" charset="0"/>
              </a:rPr>
              <a:t>'/form/success'</a:t>
            </a:r>
            <a:r>
              <a:rPr lang="en-US" sz="1700" b="1" dirty="0">
                <a:solidFill>
                  <a:srgbClr val="000000"/>
                </a:solidFill>
                <a:latin typeface="Courier" charset="0"/>
                <a:ea typeface="Courier" charset="0"/>
                <a:cs typeface="Courier" charset="0"/>
              </a:rPr>
              <a:t>)</a:t>
            </a:r>
          </a:p>
          <a:p>
            <a:endParaRPr lang="en-US" sz="1700" b="1" dirty="0">
              <a:solidFill>
                <a:srgbClr val="000000"/>
              </a:solidFill>
              <a:latin typeface="Courier" charset="0"/>
              <a:ea typeface="Courier" charset="0"/>
              <a:cs typeface="Courier" charset="0"/>
            </a:endParaRPr>
          </a:p>
          <a:p>
            <a:r>
              <a:rPr lang="en-US" sz="1700" b="1" dirty="0" err="1">
                <a:solidFill>
                  <a:srgbClr val="C1651C"/>
                </a:solidFill>
                <a:latin typeface="Courier" charset="0"/>
                <a:ea typeface="Courier" charset="0"/>
                <a:cs typeface="Courier" charset="0"/>
              </a:rPr>
              <a:t>def</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success</a:t>
            </a:r>
            <a:r>
              <a:rPr lang="en-US" sz="1700" b="1" dirty="0">
                <a:solidFill>
                  <a:srgbClr val="000000"/>
                </a:solidFill>
                <a:latin typeface="Courier" charset="0"/>
                <a:ea typeface="Courier" charset="0"/>
                <a:cs typeface="Courier" charset="0"/>
              </a:rPr>
              <a:t>(request) :</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return</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HttpResponse</a:t>
            </a:r>
            <a:r>
              <a:rPr lang="en-US" sz="1700" b="1" dirty="0">
                <a:solidFill>
                  <a:srgbClr val="000000"/>
                </a:solidFill>
                <a:latin typeface="Courier" charset="0"/>
                <a:ea typeface="Courier" charset="0"/>
                <a:cs typeface="Courier" charset="0"/>
              </a:rPr>
              <a:t>(</a:t>
            </a:r>
            <a:r>
              <a:rPr lang="en-US" sz="1700" b="1" dirty="0">
                <a:solidFill>
                  <a:srgbClr val="B42419"/>
                </a:solidFill>
                <a:latin typeface="Courier" charset="0"/>
                <a:ea typeface="Courier" charset="0"/>
                <a:cs typeface="Courier" charset="0"/>
              </a:rPr>
              <a:t>'Thank you!'</a:t>
            </a:r>
            <a:r>
              <a:rPr lang="en-US" sz="1700" b="1" dirty="0">
                <a:solidFill>
                  <a:srgbClr val="000000"/>
                </a:solidFill>
                <a:latin typeface="Courier" charset="0"/>
                <a:ea typeface="Courier" charset="0"/>
                <a:cs typeface="Courier" charset="0"/>
              </a:rPr>
              <a:t>)</a:t>
            </a:r>
            <a:endParaRPr lang="en-US" sz="1700" b="1" dirty="0">
              <a:latin typeface="Courier" charset="0"/>
              <a:ea typeface="Courier" charset="0"/>
              <a:cs typeface="Courier" charset="0"/>
            </a:endParaRPr>
          </a:p>
        </p:txBody>
      </p:sp>
      <p:pic>
        <p:nvPicPr>
          <p:cNvPr id="9" name="Picture 8" descr="A simple HMTL form with title, mileage, purchase data, and submit and cancel buttons filled with existing data."/>
          <p:cNvPicPr>
            <a:picLocks noChangeAspect="1"/>
          </p:cNvPicPr>
          <p:nvPr/>
        </p:nvPicPr>
        <p:blipFill rotWithShape="1">
          <a:blip r:embed="rId3">
            <a:extLst>
              <a:ext uri="{28A0092B-C50C-407E-A947-70E740481C1C}">
                <a14:useLocalDpi xmlns:a14="http://schemas.microsoft.com/office/drawing/2010/main" val="0"/>
              </a:ext>
            </a:extLst>
          </a:blip>
          <a:srcRect r="31829"/>
          <a:stretch>
            <a:fillRect/>
          </a:stretch>
        </p:blipFill>
        <p:spPr>
          <a:xfrm>
            <a:off x="-149124" y="1171575"/>
            <a:ext cx="4623188" cy="3949700"/>
          </a:xfrm>
          <a:prstGeom prst="rect">
            <a:avLst/>
          </a:prstGeom>
        </p:spPr>
      </p:pic>
      <p:cxnSp>
        <p:nvCxnSpPr>
          <p:cNvPr id="11" name="Straight Arrow Connector 10">
            <a:extLst>
              <a:ext uri="{C183D7F6-B498-43B3-948B-1728B52AA6E4}">
                <adec:decorative xmlns:adec="http://schemas.microsoft.com/office/drawing/2017/decorative" val="1"/>
              </a:ext>
            </a:extLst>
          </p:cNvPr>
          <p:cNvCxnSpPr/>
          <p:nvPr/>
        </p:nvCxnSpPr>
        <p:spPr>
          <a:xfrm flipH="1" flipV="1">
            <a:off x="3612208" y="2982120"/>
            <a:ext cx="1974205" cy="31829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4106391" y="2863059"/>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200</a:t>
            </a:r>
          </a:p>
        </p:txBody>
      </p:sp>
    </p:spTree>
    <p:extLst>
      <p:ext uri="{BB962C8B-B14F-4D97-AF65-F5344CB8AC3E}">
        <p14:creationId xmlns:p14="http://schemas.microsoft.com/office/powerpoint/2010/main" val="1567798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293ED4-48A6-13A8-2158-85BAF4721960}"/>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The flow of a POST Request in a Django view</a:t>
            </a:r>
          </a:p>
        </p:txBody>
      </p:sp>
      <p:sp>
        <p:nvSpPr>
          <p:cNvPr id="15" name="Rectangle 14"/>
          <p:cNvSpPr/>
          <p:nvPr/>
        </p:nvSpPr>
        <p:spPr>
          <a:xfrm>
            <a:off x="6475380" y="511949"/>
            <a:ext cx="5423280" cy="369332"/>
          </a:xfrm>
          <a:prstGeom prst="rect">
            <a:avLst/>
          </a:prstGeom>
        </p:spPr>
        <p:txBody>
          <a:bodyPr wrap="none">
            <a:spAutoFit/>
          </a:bodyPr>
          <a:lstStyle/>
          <a:p>
            <a:r>
              <a:rPr lang="en-US">
                <a:solidFill>
                  <a:srgbClr val="FFFF00"/>
                </a:solidFill>
                <a:latin typeface="Courier" charset="0"/>
                <a:ea typeface="Courier" charset="0"/>
                <a:cs typeface="Courier" charset="0"/>
              </a:rPr>
              <a:t>https://samples.dj4e.com/form/validate</a:t>
            </a:r>
            <a:endParaRPr lang="en-US" dirty="0">
              <a:solidFill>
                <a:srgbClr val="FFFF00"/>
              </a:solidFill>
              <a:latin typeface="Courier" charset="0"/>
              <a:ea typeface="Courier" charset="0"/>
              <a:cs typeface="Courier" charset="0"/>
            </a:endParaRPr>
          </a:p>
        </p:txBody>
      </p:sp>
      <p:sp>
        <p:nvSpPr>
          <p:cNvPr id="31" name="TextBox 30"/>
          <p:cNvSpPr txBox="1"/>
          <p:nvPr/>
        </p:nvSpPr>
        <p:spPr>
          <a:xfrm>
            <a:off x="4862411" y="1158597"/>
            <a:ext cx="7220246" cy="5262979"/>
          </a:xfrm>
          <a:prstGeom prst="rect">
            <a:avLst/>
          </a:prstGeom>
          <a:solidFill>
            <a:schemeClr val="tx1"/>
          </a:solidFill>
          <a:ln w="38100">
            <a:solidFill>
              <a:schemeClr val="bg1"/>
            </a:solidFill>
          </a:ln>
        </p:spPr>
        <p:txBody>
          <a:bodyPr wrap="none" rtlCol="0">
            <a:spAutoFit/>
          </a:bodyPr>
          <a:lstStyle/>
          <a:p>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a:solidFill>
                  <a:schemeClr val="bg1"/>
                </a:solidFill>
                <a:latin typeface="Courier" charset="0"/>
                <a:ea typeface="Courier" charset="0"/>
                <a:cs typeface="Courier" charset="0"/>
              </a:rPr>
              <a:t>Validate</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DumpPostView</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err="1">
                <a:solidFill>
                  <a:srgbClr val="C1651C"/>
                </a:solidFill>
                <a:latin typeface="Courier" charset="0"/>
                <a:ea typeface="Courier" charset="0"/>
                <a:cs typeface="Courier" charset="0"/>
              </a:rPr>
              <a:t>def</a:t>
            </a:r>
            <a:r>
              <a:rPr lang="en-US" sz="1600" b="1" dirty="0">
                <a:solidFill>
                  <a:srgbClr val="000000"/>
                </a:solidFill>
                <a:latin typeface="Courier" charset="0"/>
                <a:ea typeface="Courier" charset="0"/>
                <a:cs typeface="Courier" charset="0"/>
              </a:rPr>
              <a:t> </a:t>
            </a:r>
            <a:r>
              <a:rPr lang="en-US" sz="1600" b="1" dirty="0">
                <a:solidFill>
                  <a:schemeClr val="bg1"/>
                </a:solidFill>
                <a:latin typeface="Courier" charset="0"/>
                <a:ea typeface="Courier" charset="0"/>
                <a:cs typeface="Courier" charset="0"/>
              </a:rPr>
              <a:t>get</a:t>
            </a:r>
            <a:r>
              <a:rPr lang="en-US" sz="1600" b="1" dirty="0">
                <a:solidFill>
                  <a:srgbClr val="000000"/>
                </a:solidFill>
                <a:latin typeface="Courier" charset="0"/>
                <a:ea typeface="Courier" charset="0"/>
                <a:cs typeface="Courier" charset="0"/>
              </a:rPr>
              <a:t>(self, request) :</a:t>
            </a:r>
          </a:p>
          <a:p>
            <a:r>
              <a:rPr lang="mr-IN" sz="1600" b="1" dirty="0">
                <a:solidFill>
                  <a:srgbClr val="000000"/>
                </a:solidFill>
                <a:latin typeface="Courier" charset="0"/>
                <a:ea typeface="Courier" charset="0"/>
                <a:cs typeface="Courier" charset="0"/>
              </a:rPr>
              <a:t>        </a:t>
            </a:r>
            <a:r>
              <a:rPr lang="mr-IN" sz="1600" b="1" dirty="0" err="1">
                <a:solidFill>
                  <a:srgbClr val="000000"/>
                </a:solidFill>
                <a:latin typeface="Courier" charset="0"/>
                <a:ea typeface="Courier" charset="0"/>
                <a:cs typeface="Courier" charset="0"/>
              </a:rPr>
              <a:t>old_data</a:t>
            </a:r>
            <a:r>
              <a:rPr lang="mr-IN" sz="1600" b="1" dirty="0">
                <a:solidFill>
                  <a:srgbClr val="000000"/>
                </a:solidFill>
                <a:latin typeface="Courier" charset="0"/>
                <a:ea typeface="Courier" charset="0"/>
                <a:cs typeface="Courier" charset="0"/>
              </a:rPr>
              <a:t> = {</a:t>
            </a:r>
          </a:p>
          <a:p>
            <a:r>
              <a:rPr lang="mr-IN" sz="1600" b="1" dirty="0">
                <a:solidFill>
                  <a:srgbClr val="000000"/>
                </a:solidFill>
                <a:latin typeface="Courier" charset="0"/>
                <a:ea typeface="Courier" charset="0"/>
                <a:cs typeface="Courier" charset="0"/>
              </a:rPr>
              <a:t>            </a:t>
            </a:r>
            <a:r>
              <a:rPr lang="mr-IN" sz="1600" b="1" dirty="0">
                <a:solidFill>
                  <a:srgbClr val="B42419"/>
                </a:solidFill>
                <a:latin typeface="Courier" charset="0"/>
                <a:ea typeface="Courier" charset="0"/>
                <a:cs typeface="Courier" charset="0"/>
              </a:rPr>
              <a:t>'</a:t>
            </a:r>
            <a:r>
              <a:rPr lang="mr-IN" sz="1600" b="1" dirty="0" err="1">
                <a:solidFill>
                  <a:srgbClr val="B42419"/>
                </a:solidFill>
                <a:latin typeface="Courier" charset="0"/>
                <a:ea typeface="Courier" charset="0"/>
                <a:cs typeface="Courier" charset="0"/>
              </a:rPr>
              <a:t>title</a:t>
            </a:r>
            <a:r>
              <a:rPr lang="mr-IN" sz="1600" b="1" dirty="0">
                <a:solidFill>
                  <a:srgbClr val="B42419"/>
                </a:solidFill>
                <a:latin typeface="Courier" charset="0"/>
                <a:ea typeface="Courier" charset="0"/>
                <a:cs typeface="Courier" charset="0"/>
              </a:rPr>
              <a:t>'</a:t>
            </a:r>
            <a:r>
              <a:rPr lang="mr-IN" sz="1600" b="1" dirty="0">
                <a:solidFill>
                  <a:srgbClr val="000000"/>
                </a:solidFill>
                <a:latin typeface="Courier" charset="0"/>
                <a:ea typeface="Courier" charset="0"/>
                <a:cs typeface="Courier" charset="0"/>
              </a:rPr>
              <a:t>: </a:t>
            </a:r>
            <a:r>
              <a:rPr lang="mr-IN" sz="1600" b="1" dirty="0">
                <a:solidFill>
                  <a:srgbClr val="B42419"/>
                </a:solidFill>
                <a:latin typeface="Courier" charset="0"/>
                <a:ea typeface="Courier" charset="0"/>
                <a:cs typeface="Courier" charset="0"/>
              </a:rPr>
              <a:t>'</a:t>
            </a:r>
            <a:r>
              <a:rPr lang="mr-IN" sz="1600" b="1" dirty="0" err="1">
                <a:solidFill>
                  <a:srgbClr val="B42419"/>
                </a:solidFill>
                <a:latin typeface="Courier" charset="0"/>
                <a:ea typeface="Courier" charset="0"/>
                <a:cs typeface="Courier" charset="0"/>
              </a:rPr>
              <a:t>SakaiCar</a:t>
            </a:r>
            <a:r>
              <a:rPr lang="mr-IN" sz="1600" b="1" dirty="0">
                <a:solidFill>
                  <a:srgbClr val="B42419"/>
                </a:solidFill>
                <a:latin typeface="Courier" charset="0"/>
                <a:ea typeface="Courier" charset="0"/>
                <a:cs typeface="Courier" charset="0"/>
              </a:rPr>
              <a:t>'</a:t>
            </a:r>
            <a:r>
              <a:rPr lang="mr-IN"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r>
              <a:rPr lang="mr-IN" sz="1600" b="1" dirty="0">
                <a:solidFill>
                  <a:srgbClr val="B42419"/>
                </a:solidFill>
                <a:latin typeface="Courier" charset="0"/>
                <a:ea typeface="Courier" charset="0"/>
                <a:cs typeface="Courier" charset="0"/>
              </a:rPr>
              <a:t>'</a:t>
            </a:r>
            <a:r>
              <a:rPr lang="mr-IN" sz="1600" b="1" dirty="0" err="1">
                <a:solidFill>
                  <a:srgbClr val="B42419"/>
                </a:solidFill>
                <a:latin typeface="Courier" charset="0"/>
                <a:ea typeface="Courier" charset="0"/>
                <a:cs typeface="Courier" charset="0"/>
              </a:rPr>
              <a:t>mileage</a:t>
            </a:r>
            <a:r>
              <a:rPr lang="mr-IN" sz="1600" b="1" dirty="0">
                <a:solidFill>
                  <a:srgbClr val="B42419"/>
                </a:solidFill>
                <a:latin typeface="Courier" charset="0"/>
                <a:ea typeface="Courier" charset="0"/>
                <a:cs typeface="Courier" charset="0"/>
              </a:rPr>
              <a:t>'</a:t>
            </a:r>
            <a:r>
              <a:rPr lang="mr-IN" sz="1600" b="1" dirty="0">
                <a:solidFill>
                  <a:srgbClr val="000000"/>
                </a:solidFill>
                <a:latin typeface="Courier" charset="0"/>
                <a:ea typeface="Courier" charset="0"/>
                <a:cs typeface="Courier" charset="0"/>
              </a:rPr>
              <a:t> : </a:t>
            </a:r>
            <a:r>
              <a:rPr lang="mr-IN" sz="1600" b="1" dirty="0">
                <a:solidFill>
                  <a:srgbClr val="B42419"/>
                </a:solidFill>
                <a:latin typeface="Courier" charset="0"/>
                <a:ea typeface="Courier" charset="0"/>
                <a:cs typeface="Courier" charset="0"/>
              </a:rPr>
              <a:t>42</a:t>
            </a:r>
            <a:r>
              <a:rPr lang="mr-IN"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r>
              <a:rPr lang="mr-IN" sz="1600" b="1" dirty="0">
                <a:solidFill>
                  <a:srgbClr val="B42419"/>
                </a:solidFill>
                <a:latin typeface="Courier" charset="0"/>
                <a:ea typeface="Courier" charset="0"/>
                <a:cs typeface="Courier" charset="0"/>
              </a:rPr>
              <a:t>'</a:t>
            </a:r>
            <a:r>
              <a:rPr lang="mr-IN" sz="1600" b="1" dirty="0" err="1">
                <a:solidFill>
                  <a:srgbClr val="B42419"/>
                </a:solidFill>
                <a:latin typeface="Courier" charset="0"/>
                <a:ea typeface="Courier" charset="0"/>
                <a:cs typeface="Courier" charset="0"/>
              </a:rPr>
              <a:t>purchase_date</a:t>
            </a:r>
            <a:r>
              <a:rPr lang="mr-IN" sz="1600" b="1" dirty="0">
                <a:solidFill>
                  <a:srgbClr val="B42419"/>
                </a:solidFill>
                <a:latin typeface="Courier" charset="0"/>
                <a:ea typeface="Courier" charset="0"/>
                <a:cs typeface="Courier" charset="0"/>
              </a:rPr>
              <a:t>'</a:t>
            </a:r>
            <a:r>
              <a:rPr lang="mr-IN" sz="1600" b="1" dirty="0">
                <a:solidFill>
                  <a:srgbClr val="000000"/>
                </a:solidFill>
                <a:latin typeface="Courier" charset="0"/>
                <a:ea typeface="Courier" charset="0"/>
                <a:cs typeface="Courier" charset="0"/>
              </a:rPr>
              <a:t>: </a:t>
            </a:r>
            <a:r>
              <a:rPr lang="mr-IN" sz="1600" b="1" dirty="0">
                <a:solidFill>
                  <a:srgbClr val="B42419"/>
                </a:solidFill>
                <a:latin typeface="Courier" charset="0"/>
                <a:ea typeface="Courier" charset="0"/>
                <a:cs typeface="Courier" charset="0"/>
              </a:rPr>
              <a:t>'2018-08-14'</a:t>
            </a:r>
            <a:endParaRPr lang="mr-IN" sz="1600" b="1" dirty="0">
              <a:solidFill>
                <a:srgbClr val="000000"/>
              </a:solidFill>
              <a:latin typeface="Courier" charset="0"/>
              <a:ea typeface="Courier" charset="0"/>
              <a:cs typeface="Courier" charset="0"/>
            </a:endParaRPr>
          </a:p>
          <a:p>
            <a:r>
              <a:rPr lang="mr-IN" sz="1600" b="1" dirty="0">
                <a:solidFill>
                  <a:srgbClr val="000000"/>
                </a:solidFill>
                <a:latin typeface="Courier" charset="0"/>
                <a:ea typeface="Courier" charset="0"/>
                <a:cs typeface="Courier" charset="0"/>
              </a:rPr>
              <a:t>        }</a:t>
            </a:r>
          </a:p>
          <a:p>
            <a:r>
              <a:rPr lang="en-US" sz="1600" b="1" dirty="0">
                <a:solidFill>
                  <a:srgbClr val="000000"/>
                </a:solidFill>
                <a:latin typeface="Courier" charset="0"/>
                <a:ea typeface="Courier" charset="0"/>
                <a:cs typeface="Courier" charset="0"/>
              </a:rPr>
              <a:t>        form = </a:t>
            </a:r>
            <a:r>
              <a:rPr lang="en-US" sz="1600" b="1" dirty="0" err="1">
                <a:solidFill>
                  <a:srgbClr val="000000"/>
                </a:solidFill>
                <a:latin typeface="Courier" charset="0"/>
                <a:ea typeface="Courier" charset="0"/>
                <a:cs typeface="Courier" charset="0"/>
              </a:rPr>
              <a:t>BasicForm</a:t>
            </a:r>
            <a:r>
              <a:rPr lang="en-US" sz="1600" b="1" dirty="0">
                <a:solidFill>
                  <a:srgbClr val="000000"/>
                </a:solidFill>
                <a:latin typeface="Courier" charset="0"/>
                <a:ea typeface="Courier" charset="0"/>
                <a:cs typeface="Courier" charset="0"/>
              </a:rPr>
              <a:t>(initial=</a:t>
            </a:r>
            <a:r>
              <a:rPr lang="en-US" sz="1600" b="1" dirty="0" err="1">
                <a:solidFill>
                  <a:srgbClr val="000000"/>
                </a:solidFill>
                <a:latin typeface="Courier" charset="0"/>
                <a:ea typeface="Courier" charset="0"/>
                <a:cs typeface="Courier" charset="0"/>
              </a:rPr>
              <a:t>old_data</a:t>
            </a:r>
            <a:r>
              <a:rPr lang="en-US"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r>
              <a:rPr lang="mr-IN" sz="1600" b="1" dirty="0" err="1">
                <a:solidFill>
                  <a:srgbClr val="000000"/>
                </a:solidFill>
                <a:latin typeface="Courier" charset="0"/>
                <a:ea typeface="Courier" charset="0"/>
                <a:cs typeface="Courier" charset="0"/>
              </a:rPr>
              <a:t>ctx</a:t>
            </a:r>
            <a:r>
              <a:rPr lang="mr-IN" sz="1600" b="1" dirty="0">
                <a:solidFill>
                  <a:srgbClr val="000000"/>
                </a:solidFill>
                <a:latin typeface="Courier" charset="0"/>
                <a:ea typeface="Courier" charset="0"/>
                <a:cs typeface="Courier" charset="0"/>
              </a:rPr>
              <a:t> = {</a:t>
            </a:r>
            <a:r>
              <a:rPr lang="mr-IN" sz="1600" b="1" dirty="0">
                <a:solidFill>
                  <a:srgbClr val="B42419"/>
                </a:solidFill>
                <a:latin typeface="Courier" charset="0"/>
                <a:ea typeface="Courier" charset="0"/>
                <a:cs typeface="Courier" charset="0"/>
              </a:rPr>
              <a:t>'</a:t>
            </a:r>
            <a:r>
              <a:rPr lang="mr-IN" sz="1600" b="1" dirty="0" err="1">
                <a:solidFill>
                  <a:srgbClr val="B42419"/>
                </a:solidFill>
                <a:latin typeface="Courier" charset="0"/>
                <a:ea typeface="Courier" charset="0"/>
                <a:cs typeface="Courier" charset="0"/>
              </a:rPr>
              <a:t>form</a:t>
            </a:r>
            <a:r>
              <a:rPr lang="mr-IN" sz="1600" b="1" dirty="0">
                <a:solidFill>
                  <a:srgbClr val="B42419"/>
                </a:solidFill>
                <a:latin typeface="Courier" charset="0"/>
                <a:ea typeface="Courier" charset="0"/>
                <a:cs typeface="Courier" charset="0"/>
              </a:rPr>
              <a:t>'</a:t>
            </a:r>
            <a:r>
              <a:rPr lang="mr-IN" sz="1600" b="1" dirty="0">
                <a:solidFill>
                  <a:srgbClr val="000000"/>
                </a:solidFill>
                <a:latin typeface="Courier" charset="0"/>
                <a:ea typeface="Courier" charset="0"/>
                <a:cs typeface="Courier" charset="0"/>
              </a:rPr>
              <a:t> : </a:t>
            </a:r>
            <a:r>
              <a:rPr lang="mr-IN" sz="1600" b="1" dirty="0" err="1">
                <a:solidFill>
                  <a:srgbClr val="000000"/>
                </a:solidFill>
                <a:latin typeface="Courier" charset="0"/>
                <a:ea typeface="Courier" charset="0"/>
                <a:cs typeface="Courier" charset="0"/>
              </a:rPr>
              <a:t>form</a:t>
            </a:r>
            <a:r>
              <a:rPr lang="mr-IN"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a:solidFill>
                  <a:srgbClr val="C1651C"/>
                </a:solidFill>
                <a:latin typeface="Courier" charset="0"/>
                <a:ea typeface="Courier" charset="0"/>
                <a:cs typeface="Courier" charset="0"/>
              </a:rPr>
              <a:t>return</a:t>
            </a:r>
            <a:r>
              <a:rPr lang="en-US" sz="1600" b="1" dirty="0">
                <a:solidFill>
                  <a:srgbClr val="000000"/>
                </a:solidFill>
                <a:latin typeface="Courier" charset="0"/>
                <a:ea typeface="Courier" charset="0"/>
                <a:cs typeface="Courier" charset="0"/>
              </a:rPr>
              <a:t> render(request, </a:t>
            </a:r>
            <a:r>
              <a:rPr lang="en-US" sz="1600" b="1" dirty="0">
                <a:solidFill>
                  <a:srgbClr val="B42419"/>
                </a:solidFill>
                <a:latin typeface="Courier" charset="0"/>
                <a:ea typeface="Courier" charset="0"/>
                <a:cs typeface="Courier" charset="0"/>
              </a:rPr>
              <a:t>'form/</a:t>
            </a:r>
            <a:r>
              <a:rPr lang="en-US" sz="1600" b="1" dirty="0" err="1">
                <a:solidFill>
                  <a:srgbClr val="B42419"/>
                </a:solidFill>
                <a:latin typeface="Courier" charset="0"/>
                <a:ea typeface="Courier" charset="0"/>
                <a:cs typeface="Courier" charset="0"/>
              </a:rPr>
              <a:t>form.html</a:t>
            </a:r>
            <a:r>
              <a:rPr lang="en-US" sz="1600" b="1" dirty="0">
                <a:solidFill>
                  <a:srgbClr val="B42419"/>
                </a:solidFill>
                <a:latin typeface="Courier" charset="0"/>
                <a:ea typeface="Courier" charset="0"/>
                <a:cs typeface="Courier" charset="0"/>
              </a:rPr>
              <a:t>'</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ctx</a:t>
            </a:r>
            <a:r>
              <a:rPr lang="en-US" sz="1600" b="1" dirty="0">
                <a:solidFill>
                  <a:srgbClr val="000000"/>
                </a:solidFill>
                <a:latin typeface="Courier" charset="0"/>
                <a:ea typeface="Courier" charset="0"/>
                <a:cs typeface="Courier" charset="0"/>
              </a:rPr>
              <a:t>)</a:t>
            </a:r>
          </a:p>
          <a:p>
            <a:endParaRPr lang="en-US" sz="1600" b="1" dirty="0">
              <a:solidFill>
                <a:srgbClr val="000000"/>
              </a:solidFill>
              <a:latin typeface="Courier" charset="0"/>
              <a:ea typeface="Courier" charset="0"/>
              <a:cs typeface="Courier" charset="0"/>
            </a:endParaRPr>
          </a:p>
          <a:p>
            <a:r>
              <a:rPr lang="en-US" sz="1600" b="1" dirty="0">
                <a:solidFill>
                  <a:srgbClr val="000000"/>
                </a:solidFill>
                <a:latin typeface="Courier" charset="0"/>
                <a:ea typeface="Courier" charset="0"/>
                <a:cs typeface="Courier" charset="0"/>
              </a:rPr>
              <a:t>    </a:t>
            </a:r>
            <a:r>
              <a:rPr lang="en-US" sz="1600" b="1" dirty="0" err="1">
                <a:solidFill>
                  <a:srgbClr val="C1651C"/>
                </a:solidFill>
                <a:latin typeface="Courier" charset="0"/>
                <a:ea typeface="Courier" charset="0"/>
                <a:cs typeface="Courier" charset="0"/>
              </a:rPr>
              <a:t>def</a:t>
            </a:r>
            <a:r>
              <a:rPr lang="en-US" sz="1600" b="1" dirty="0">
                <a:solidFill>
                  <a:srgbClr val="000000"/>
                </a:solidFill>
                <a:latin typeface="Courier" charset="0"/>
                <a:ea typeface="Courier" charset="0"/>
                <a:cs typeface="Courier" charset="0"/>
              </a:rPr>
              <a:t> </a:t>
            </a:r>
            <a:r>
              <a:rPr lang="en-US" sz="1600" b="1" dirty="0">
                <a:solidFill>
                  <a:schemeClr val="bg1"/>
                </a:solidFill>
                <a:latin typeface="Courier" charset="0"/>
                <a:ea typeface="Courier" charset="0"/>
                <a:cs typeface="Courier" charset="0"/>
              </a:rPr>
              <a:t>post</a:t>
            </a:r>
            <a:r>
              <a:rPr lang="en-US" sz="1600" b="1" dirty="0">
                <a:solidFill>
                  <a:srgbClr val="000000"/>
                </a:solidFill>
                <a:latin typeface="Courier" charset="0"/>
                <a:ea typeface="Courier" charset="0"/>
                <a:cs typeface="Courier" charset="0"/>
              </a:rPr>
              <a:t>(self, request) :</a:t>
            </a:r>
          </a:p>
          <a:p>
            <a:r>
              <a:rPr lang="en-US" sz="1600" b="1" dirty="0">
                <a:solidFill>
                  <a:srgbClr val="000000"/>
                </a:solidFill>
                <a:latin typeface="Courier" charset="0"/>
                <a:ea typeface="Courier" charset="0"/>
                <a:cs typeface="Courier" charset="0"/>
              </a:rPr>
              <a:t>        form = </a:t>
            </a:r>
            <a:r>
              <a:rPr lang="en-US" sz="1600" b="1" dirty="0" err="1">
                <a:solidFill>
                  <a:srgbClr val="000000"/>
                </a:solidFill>
                <a:latin typeface="Courier" charset="0"/>
                <a:ea typeface="Courier" charset="0"/>
                <a:cs typeface="Courier" charset="0"/>
              </a:rPr>
              <a:t>BasicForm</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request.POST</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a:solidFill>
                  <a:srgbClr val="C1651C"/>
                </a:solidFill>
                <a:latin typeface="Courier" charset="0"/>
                <a:ea typeface="Courier" charset="0"/>
                <a:cs typeface="Courier" charset="0"/>
              </a:rPr>
              <a:t>if</a:t>
            </a:r>
            <a:r>
              <a:rPr lang="en-US" sz="1600" b="1" dirty="0">
                <a:solidFill>
                  <a:srgbClr val="000000"/>
                </a:solidFill>
                <a:latin typeface="Courier" charset="0"/>
                <a:ea typeface="Courier" charset="0"/>
                <a:cs typeface="Courier" charset="0"/>
              </a:rPr>
              <a:t> </a:t>
            </a:r>
            <a:r>
              <a:rPr lang="en-US" sz="1600" b="1" dirty="0">
                <a:solidFill>
                  <a:srgbClr val="C1651C"/>
                </a:solidFill>
                <a:latin typeface="Courier" charset="0"/>
                <a:ea typeface="Courier" charset="0"/>
                <a:cs typeface="Courier" charset="0"/>
              </a:rPr>
              <a:t>not</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form.is_valid</a:t>
            </a:r>
            <a:r>
              <a:rPr lang="en-US" sz="1600" b="1" dirty="0">
                <a:solidFill>
                  <a:srgbClr val="000000"/>
                </a:solidFill>
                <a:latin typeface="Courier" charset="0"/>
                <a:ea typeface="Courier" charset="0"/>
                <a:cs typeface="Courier" charset="0"/>
              </a:rPr>
              <a:t>() :</a:t>
            </a:r>
          </a:p>
          <a:p>
            <a:r>
              <a:rPr lang="mr-IN" sz="1600" b="1" dirty="0">
                <a:solidFill>
                  <a:srgbClr val="000000"/>
                </a:solidFill>
                <a:latin typeface="Courier" charset="0"/>
                <a:ea typeface="Courier" charset="0"/>
                <a:cs typeface="Courier" charset="0"/>
              </a:rPr>
              <a:t>            </a:t>
            </a:r>
            <a:r>
              <a:rPr lang="mr-IN" sz="1600" b="1" dirty="0" err="1">
                <a:solidFill>
                  <a:srgbClr val="000000"/>
                </a:solidFill>
                <a:latin typeface="Courier" charset="0"/>
                <a:ea typeface="Courier" charset="0"/>
                <a:cs typeface="Courier" charset="0"/>
              </a:rPr>
              <a:t>ctx</a:t>
            </a:r>
            <a:r>
              <a:rPr lang="mr-IN" sz="1600" b="1" dirty="0">
                <a:solidFill>
                  <a:srgbClr val="000000"/>
                </a:solidFill>
                <a:latin typeface="Courier" charset="0"/>
                <a:ea typeface="Courier" charset="0"/>
                <a:cs typeface="Courier" charset="0"/>
              </a:rPr>
              <a:t> = {</a:t>
            </a:r>
            <a:r>
              <a:rPr lang="mr-IN" sz="1600" b="1" dirty="0">
                <a:solidFill>
                  <a:srgbClr val="B42419"/>
                </a:solidFill>
                <a:latin typeface="Courier" charset="0"/>
                <a:ea typeface="Courier" charset="0"/>
                <a:cs typeface="Courier" charset="0"/>
              </a:rPr>
              <a:t>'</a:t>
            </a:r>
            <a:r>
              <a:rPr lang="mr-IN" sz="1600" b="1" dirty="0" err="1">
                <a:solidFill>
                  <a:srgbClr val="B42419"/>
                </a:solidFill>
                <a:latin typeface="Courier" charset="0"/>
                <a:ea typeface="Courier" charset="0"/>
                <a:cs typeface="Courier" charset="0"/>
              </a:rPr>
              <a:t>form</a:t>
            </a:r>
            <a:r>
              <a:rPr lang="mr-IN" sz="1600" b="1" dirty="0">
                <a:solidFill>
                  <a:srgbClr val="B42419"/>
                </a:solidFill>
                <a:latin typeface="Courier" charset="0"/>
                <a:ea typeface="Courier" charset="0"/>
                <a:cs typeface="Courier" charset="0"/>
              </a:rPr>
              <a:t>'</a:t>
            </a:r>
            <a:r>
              <a:rPr lang="mr-IN" sz="1600" b="1" dirty="0">
                <a:solidFill>
                  <a:srgbClr val="000000"/>
                </a:solidFill>
                <a:latin typeface="Courier" charset="0"/>
                <a:ea typeface="Courier" charset="0"/>
                <a:cs typeface="Courier" charset="0"/>
              </a:rPr>
              <a:t> : </a:t>
            </a:r>
            <a:r>
              <a:rPr lang="mr-IN" sz="1600" b="1" dirty="0" err="1">
                <a:solidFill>
                  <a:srgbClr val="000000"/>
                </a:solidFill>
                <a:latin typeface="Courier" charset="0"/>
                <a:ea typeface="Courier" charset="0"/>
                <a:cs typeface="Courier" charset="0"/>
              </a:rPr>
              <a:t>form</a:t>
            </a:r>
            <a:r>
              <a:rPr lang="mr-IN"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a:solidFill>
                  <a:srgbClr val="C1651C"/>
                </a:solidFill>
                <a:latin typeface="Courier" charset="0"/>
                <a:ea typeface="Courier" charset="0"/>
                <a:cs typeface="Courier" charset="0"/>
              </a:rPr>
              <a:t>return</a:t>
            </a:r>
            <a:r>
              <a:rPr lang="en-US" sz="1600" b="1" dirty="0">
                <a:solidFill>
                  <a:srgbClr val="000000"/>
                </a:solidFill>
                <a:latin typeface="Courier" charset="0"/>
                <a:ea typeface="Courier" charset="0"/>
                <a:cs typeface="Courier" charset="0"/>
              </a:rPr>
              <a:t> render(request, </a:t>
            </a:r>
            <a:r>
              <a:rPr lang="en-US" sz="1600" b="1" dirty="0">
                <a:solidFill>
                  <a:srgbClr val="B42419"/>
                </a:solidFill>
                <a:latin typeface="Courier" charset="0"/>
                <a:ea typeface="Courier" charset="0"/>
                <a:cs typeface="Courier" charset="0"/>
              </a:rPr>
              <a:t>'form/</a:t>
            </a:r>
            <a:r>
              <a:rPr lang="en-US" sz="1600" b="1" dirty="0" err="1">
                <a:solidFill>
                  <a:srgbClr val="B42419"/>
                </a:solidFill>
                <a:latin typeface="Courier" charset="0"/>
                <a:ea typeface="Courier" charset="0"/>
                <a:cs typeface="Courier" charset="0"/>
              </a:rPr>
              <a:t>form.html</a:t>
            </a:r>
            <a:r>
              <a:rPr lang="en-US" sz="1600" b="1" dirty="0">
                <a:solidFill>
                  <a:srgbClr val="B42419"/>
                </a:solidFill>
                <a:latin typeface="Courier" charset="0"/>
                <a:ea typeface="Courier" charset="0"/>
                <a:cs typeface="Courier" charset="0"/>
              </a:rPr>
              <a:t>'</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ctx</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 If there are no errors, we would save the data</a:t>
            </a:r>
            <a:br>
              <a:rPr lang="en-US" sz="1600" b="1" dirty="0">
                <a:solidFill>
                  <a:srgbClr val="000000"/>
                </a:solidFill>
                <a:latin typeface="Courier" charset="0"/>
                <a:ea typeface="Courier" charset="0"/>
                <a:cs typeface="Courier" charset="0"/>
              </a:rPr>
            </a:br>
            <a:r>
              <a:rPr lang="en-US" sz="1600" b="1" dirty="0">
                <a:solidFill>
                  <a:srgbClr val="000000"/>
                </a:solidFill>
                <a:latin typeface="Courier" charset="0"/>
                <a:ea typeface="Courier" charset="0"/>
                <a:cs typeface="Courier" charset="0"/>
              </a:rPr>
              <a:t> </a:t>
            </a:r>
            <a:r>
              <a:rPr lang="en-US" sz="1600" b="1" dirty="0">
                <a:solidFill>
                  <a:srgbClr val="C1651C"/>
                </a:solidFill>
                <a:latin typeface="Courier" charset="0"/>
                <a:ea typeface="Courier" charset="0"/>
                <a:cs typeface="Courier" charset="0"/>
              </a:rPr>
              <a:t>       return</a:t>
            </a:r>
            <a:r>
              <a:rPr lang="en-US" sz="1600" b="1" dirty="0">
                <a:solidFill>
                  <a:srgbClr val="000000"/>
                </a:solidFill>
                <a:latin typeface="Courier" charset="0"/>
                <a:ea typeface="Courier" charset="0"/>
                <a:cs typeface="Courier" charset="0"/>
              </a:rPr>
              <a:t> redirect(</a:t>
            </a:r>
            <a:r>
              <a:rPr lang="en-US" sz="1600" b="1" dirty="0">
                <a:solidFill>
                  <a:srgbClr val="B42419"/>
                </a:solidFill>
                <a:latin typeface="Courier" charset="0"/>
                <a:ea typeface="Courier" charset="0"/>
                <a:cs typeface="Courier" charset="0"/>
              </a:rPr>
              <a:t>'/form/success'</a:t>
            </a:r>
            <a:r>
              <a:rPr lang="en-US" sz="1600" b="1" dirty="0">
                <a:solidFill>
                  <a:srgbClr val="000000"/>
                </a:solidFill>
                <a:latin typeface="Courier" charset="0"/>
                <a:ea typeface="Courier" charset="0"/>
                <a:cs typeface="Courier" charset="0"/>
              </a:rPr>
              <a:t>)</a:t>
            </a:r>
          </a:p>
          <a:p>
            <a:endParaRPr lang="en-US" sz="1600" b="1" dirty="0">
              <a:solidFill>
                <a:srgbClr val="000000"/>
              </a:solidFill>
              <a:latin typeface="Courier" charset="0"/>
              <a:ea typeface="Courier" charset="0"/>
              <a:cs typeface="Courier" charset="0"/>
            </a:endParaRPr>
          </a:p>
          <a:p>
            <a:r>
              <a:rPr lang="en-US" sz="1600" b="1" dirty="0" err="1">
                <a:solidFill>
                  <a:srgbClr val="C1651C"/>
                </a:solidFill>
                <a:latin typeface="Courier" charset="0"/>
                <a:ea typeface="Courier" charset="0"/>
                <a:cs typeface="Courier" charset="0"/>
              </a:rPr>
              <a:t>def</a:t>
            </a:r>
            <a:r>
              <a:rPr lang="en-US" sz="1600" b="1" dirty="0">
                <a:solidFill>
                  <a:srgbClr val="000000"/>
                </a:solidFill>
                <a:latin typeface="Courier" charset="0"/>
                <a:ea typeface="Courier" charset="0"/>
                <a:cs typeface="Courier" charset="0"/>
              </a:rPr>
              <a:t> </a:t>
            </a:r>
            <a:r>
              <a:rPr lang="en-US" sz="1600" b="1" dirty="0">
                <a:solidFill>
                  <a:schemeClr val="bg1"/>
                </a:solidFill>
                <a:latin typeface="Courier" charset="0"/>
                <a:ea typeface="Courier" charset="0"/>
                <a:cs typeface="Courier" charset="0"/>
              </a:rPr>
              <a:t>success</a:t>
            </a:r>
            <a:r>
              <a:rPr lang="en-US" sz="1600" b="1" dirty="0">
                <a:solidFill>
                  <a:srgbClr val="000000"/>
                </a:solidFill>
                <a:latin typeface="Courier" charset="0"/>
                <a:ea typeface="Courier" charset="0"/>
                <a:cs typeface="Courier" charset="0"/>
              </a:rPr>
              <a:t>(request) :</a:t>
            </a:r>
          </a:p>
          <a:p>
            <a:r>
              <a:rPr lang="en-US" sz="1600" b="1" dirty="0">
                <a:solidFill>
                  <a:srgbClr val="000000"/>
                </a:solidFill>
                <a:latin typeface="Courier" charset="0"/>
                <a:ea typeface="Courier" charset="0"/>
                <a:cs typeface="Courier" charset="0"/>
              </a:rPr>
              <a:t>    </a:t>
            </a:r>
            <a:r>
              <a:rPr lang="en-US" sz="1600" b="1" dirty="0">
                <a:solidFill>
                  <a:srgbClr val="C1651C"/>
                </a:solidFill>
                <a:latin typeface="Courier" charset="0"/>
                <a:ea typeface="Courier" charset="0"/>
                <a:cs typeface="Courier" charset="0"/>
              </a:rPr>
              <a:t>return</a:t>
            </a:r>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HttpResponse</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'Thank you!'</a:t>
            </a:r>
            <a:r>
              <a:rPr lang="en-US" sz="1600" b="1" dirty="0">
                <a:solidFill>
                  <a:srgbClr val="000000"/>
                </a:solidFill>
                <a:latin typeface="Courier" charset="0"/>
                <a:ea typeface="Courier" charset="0"/>
                <a:cs typeface="Courier" charset="0"/>
              </a:rPr>
              <a:t>)</a:t>
            </a:r>
            <a:endParaRPr lang="en-US" sz="1600" b="1" dirty="0">
              <a:latin typeface="Courier" charset="0"/>
              <a:ea typeface="Courier" charset="0"/>
              <a:cs typeface="Courier" charset="0"/>
            </a:endParaRPr>
          </a:p>
        </p:txBody>
      </p:sp>
      <p:pic>
        <p:nvPicPr>
          <p:cNvPr id="9" name="Picture 8" descr="A simple HMTL form with title, mileage, purchase data, and submit and cancel buttons.  This for has the old data."/>
          <p:cNvPicPr>
            <a:picLocks noChangeAspect="1"/>
          </p:cNvPicPr>
          <p:nvPr/>
        </p:nvPicPr>
        <p:blipFill rotWithShape="1">
          <a:blip r:embed="rId3">
            <a:extLst>
              <a:ext uri="{28A0092B-C50C-407E-A947-70E740481C1C}">
                <a14:useLocalDpi xmlns:a14="http://schemas.microsoft.com/office/drawing/2010/main" val="0"/>
              </a:ext>
            </a:extLst>
          </a:blip>
          <a:srcRect r="25118"/>
          <a:stretch>
            <a:fillRect/>
          </a:stretch>
        </p:blipFill>
        <p:spPr>
          <a:xfrm>
            <a:off x="-215900" y="-159613"/>
            <a:ext cx="5078311" cy="3949700"/>
          </a:xfrm>
          <a:prstGeom prst="rect">
            <a:avLst/>
          </a:prstGeom>
        </p:spPr>
      </p:pic>
      <p:pic>
        <p:nvPicPr>
          <p:cNvPr id="32" name="Picture 31" descr="This is a simple confirmation page with “Thank you!”"/>
          <p:cNvPicPr>
            <a:picLocks noChangeAspect="1"/>
          </p:cNvPicPr>
          <p:nvPr/>
        </p:nvPicPr>
        <p:blipFill rotWithShape="1">
          <a:blip r:embed="rId4">
            <a:extLst>
              <a:ext uri="{28A0092B-C50C-407E-A947-70E740481C1C}">
                <a14:useLocalDpi xmlns:a14="http://schemas.microsoft.com/office/drawing/2010/main" val="0"/>
              </a:ext>
            </a:extLst>
          </a:blip>
          <a:srcRect l="-1113" t="711" r="26371" b="-711"/>
          <a:stretch>
            <a:fillRect/>
          </a:stretch>
        </p:blipFill>
        <p:spPr>
          <a:xfrm>
            <a:off x="-234108" y="3114398"/>
            <a:ext cx="5078311" cy="3987800"/>
          </a:xfrm>
          <a:prstGeom prst="rect">
            <a:avLst/>
          </a:prstGeom>
        </p:spPr>
      </p:pic>
      <p:sp>
        <p:nvSpPr>
          <p:cNvPr id="14" name="Rounded Rectangle 13"/>
          <p:cNvSpPr/>
          <p:nvPr/>
        </p:nvSpPr>
        <p:spPr>
          <a:xfrm>
            <a:off x="1570832" y="2600323"/>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POST</a:t>
            </a:r>
          </a:p>
        </p:txBody>
      </p:sp>
      <p:cxnSp>
        <p:nvCxnSpPr>
          <p:cNvPr id="13" name="Straight Arrow Connector 12">
            <a:extLst>
              <a:ext uri="{C183D7F6-B498-43B3-948B-1728B52AA6E4}">
                <adec:decorative xmlns:adec="http://schemas.microsoft.com/office/drawing/2017/decorative" val="1"/>
              </a:ext>
            </a:extLst>
          </p:cNvPr>
          <p:cNvCxnSpPr/>
          <p:nvPr/>
        </p:nvCxnSpPr>
        <p:spPr>
          <a:xfrm>
            <a:off x="1014413" y="2500313"/>
            <a:ext cx="4371975" cy="156709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C183D7F6-B498-43B3-948B-1728B52AA6E4}">
                <adec:decorative xmlns:adec="http://schemas.microsoft.com/office/drawing/2017/decorative" val="1"/>
              </a:ext>
            </a:extLst>
          </p:cNvPr>
          <p:cNvSpPr/>
          <p:nvPr/>
        </p:nvSpPr>
        <p:spPr>
          <a:xfrm>
            <a:off x="5847904" y="4353236"/>
            <a:ext cx="6050756" cy="755062"/>
          </a:xfrm>
          <a:prstGeom prst="rect">
            <a:avLst/>
          </a:prstGeom>
          <a:solidFill>
            <a:srgbClr val="000000">
              <a:alpha val="2078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reeform 1">
            <a:extLst>
              <a:ext uri="{C183D7F6-B498-43B3-948B-1728B52AA6E4}">
                <adec:decorative xmlns:adec="http://schemas.microsoft.com/office/drawing/2017/decorative" val="1"/>
              </a:ext>
            </a:extLst>
          </p:cNvPr>
          <p:cNvSpPr/>
          <p:nvPr/>
        </p:nvSpPr>
        <p:spPr>
          <a:xfrm>
            <a:off x="2539811" y="4808722"/>
            <a:ext cx="3346644" cy="1220600"/>
          </a:xfrm>
          <a:custGeom>
            <a:avLst/>
            <a:gdLst>
              <a:gd name="connsiteX0" fmla="*/ 3346644 w 3346644"/>
              <a:gd name="connsiteY0" fmla="*/ 706250 h 1220600"/>
              <a:gd name="connsiteX1" fmla="*/ 1089219 w 3346644"/>
              <a:gd name="connsiteY1" fmla="*/ 20450 h 1220600"/>
              <a:gd name="connsiteX2" fmla="*/ 3369 w 3346644"/>
              <a:gd name="connsiteY2" fmla="*/ 234763 h 1220600"/>
              <a:gd name="connsiteX3" fmla="*/ 803469 w 3346644"/>
              <a:gd name="connsiteY3" fmla="*/ 791975 h 1220600"/>
              <a:gd name="connsiteX4" fmla="*/ 2289369 w 3346644"/>
              <a:gd name="connsiteY4" fmla="*/ 1220600 h 1220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644" h="1220600">
                <a:moveTo>
                  <a:pt x="3346644" y="706250"/>
                </a:moveTo>
                <a:cubicBezTo>
                  <a:pt x="2496537" y="402640"/>
                  <a:pt x="1646431" y="99031"/>
                  <a:pt x="1089219" y="20450"/>
                </a:cubicBezTo>
                <a:cubicBezTo>
                  <a:pt x="532007" y="-58131"/>
                  <a:pt x="50994" y="106175"/>
                  <a:pt x="3369" y="234763"/>
                </a:cubicBezTo>
                <a:cubicBezTo>
                  <a:pt x="-44256" y="363350"/>
                  <a:pt x="422469" y="627669"/>
                  <a:pt x="803469" y="791975"/>
                </a:cubicBezTo>
                <a:cubicBezTo>
                  <a:pt x="1184469" y="956281"/>
                  <a:pt x="2289369" y="1220600"/>
                  <a:pt x="2289369" y="1220600"/>
                </a:cubicBezTo>
              </a:path>
            </a:pathLst>
          </a:custGeom>
          <a:noFill/>
          <a:ln w="5715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a:off x="3512790" y="4681867"/>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302</a:t>
            </a:r>
            <a:endParaRPr lang="en-US" dirty="0">
              <a:solidFill>
                <a:schemeClr val="bg1"/>
              </a:solidFill>
            </a:endParaRPr>
          </a:p>
        </p:txBody>
      </p:sp>
      <p:sp>
        <p:nvSpPr>
          <p:cNvPr id="36" name="Rounded Rectangle 35"/>
          <p:cNvSpPr/>
          <p:nvPr/>
        </p:nvSpPr>
        <p:spPr>
          <a:xfrm>
            <a:off x="3442487" y="5525364"/>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GET</a:t>
            </a:r>
          </a:p>
        </p:txBody>
      </p:sp>
      <p:sp>
        <p:nvSpPr>
          <p:cNvPr id="4" name="Freeform 3">
            <a:extLst>
              <a:ext uri="{C183D7F6-B498-43B3-948B-1728B52AA6E4}">
                <adec:decorative xmlns:adec="http://schemas.microsoft.com/office/drawing/2017/decorative" val="1"/>
              </a:ext>
            </a:extLst>
          </p:cNvPr>
          <p:cNvSpPr/>
          <p:nvPr/>
        </p:nvSpPr>
        <p:spPr>
          <a:xfrm>
            <a:off x="685800" y="4772025"/>
            <a:ext cx="4600575" cy="1485900"/>
          </a:xfrm>
          <a:custGeom>
            <a:avLst/>
            <a:gdLst>
              <a:gd name="connsiteX0" fmla="*/ 4600575 w 4600575"/>
              <a:gd name="connsiteY0" fmla="*/ 1671638 h 1671638"/>
              <a:gd name="connsiteX1" fmla="*/ 1143000 w 4600575"/>
              <a:gd name="connsiteY1" fmla="*/ 1228725 h 1671638"/>
              <a:gd name="connsiteX2" fmla="*/ 0 w 4600575"/>
              <a:gd name="connsiteY2" fmla="*/ 0 h 1671638"/>
            </a:gdLst>
            <a:ahLst/>
            <a:cxnLst>
              <a:cxn ang="0">
                <a:pos x="connsiteX0" y="connsiteY0"/>
              </a:cxn>
              <a:cxn ang="0">
                <a:pos x="connsiteX1" y="connsiteY1"/>
              </a:cxn>
              <a:cxn ang="0">
                <a:pos x="connsiteX2" y="connsiteY2"/>
              </a:cxn>
            </a:cxnLst>
            <a:rect l="l" t="t" r="r" b="b"/>
            <a:pathLst>
              <a:path w="4600575" h="1671638">
                <a:moveTo>
                  <a:pt x="4600575" y="1671638"/>
                </a:moveTo>
                <a:cubicBezTo>
                  <a:pt x="3255169" y="1589484"/>
                  <a:pt x="1909763" y="1507331"/>
                  <a:pt x="1143000" y="1228725"/>
                </a:cubicBezTo>
                <a:cubicBezTo>
                  <a:pt x="376237" y="950119"/>
                  <a:pt x="0" y="0"/>
                  <a:pt x="0" y="0"/>
                </a:cubicBezTo>
              </a:path>
            </a:pathLst>
          </a:custGeom>
          <a:noFill/>
          <a:ln w="5715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p:cNvSpPr/>
          <p:nvPr/>
        </p:nvSpPr>
        <p:spPr>
          <a:xfrm>
            <a:off x="1295349" y="5577891"/>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200</a:t>
            </a:r>
          </a:p>
        </p:txBody>
      </p:sp>
    </p:spTree>
    <p:extLst>
      <p:ext uri="{BB962C8B-B14F-4D97-AF65-F5344CB8AC3E}">
        <p14:creationId xmlns:p14="http://schemas.microsoft.com/office/powerpoint/2010/main" val="1182623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simple HMTL form with title, mileage, purchase data, and submit and cancel buttons.  This shows the “Please enter two pro more characters”.   The title is only one character “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564" y="3149940"/>
            <a:ext cx="6781800" cy="3949700"/>
          </a:xfrm>
          <a:prstGeom prst="rect">
            <a:avLst/>
          </a:prstGeom>
        </p:spPr>
      </p:pic>
      <p:pic>
        <p:nvPicPr>
          <p:cNvPr id="16" name="Picture 15" descr="A simple HMTL form with title, mileage, purchase data, and submit and cancel buttons.  This has data, but the title is only one characterer with the intent fto trigger a validation erro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564" y="-7410"/>
            <a:ext cx="6781800" cy="3949700"/>
          </a:xfrm>
          <a:prstGeom prst="rect">
            <a:avLst/>
          </a:prstGeom>
        </p:spPr>
      </p:pic>
      <p:sp>
        <p:nvSpPr>
          <p:cNvPr id="31" name="TextBox 30"/>
          <p:cNvSpPr txBox="1"/>
          <p:nvPr/>
        </p:nvSpPr>
        <p:spPr>
          <a:xfrm>
            <a:off x="4431206" y="737462"/>
            <a:ext cx="7677102" cy="5586145"/>
          </a:xfrm>
          <a:prstGeom prst="rect">
            <a:avLst/>
          </a:prstGeom>
          <a:solidFill>
            <a:schemeClr val="tx1"/>
          </a:solidFill>
          <a:ln w="38100">
            <a:solidFill>
              <a:schemeClr val="bg1"/>
            </a:solidFill>
          </a:ln>
        </p:spPr>
        <p:txBody>
          <a:bodyPr wrap="none" rtlCol="0">
            <a:spAutoFit/>
          </a:bodyPr>
          <a:lstStyle/>
          <a:p>
            <a:r>
              <a:rPr lang="en-US" sz="1700" b="1" dirty="0">
                <a:solidFill>
                  <a:srgbClr val="C1651C"/>
                </a:solidFill>
                <a:latin typeface="Courier" charset="0"/>
                <a:ea typeface="Courier" charset="0"/>
                <a:cs typeface="Courier" charset="0"/>
              </a:rPr>
              <a:t>class</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Validate</a:t>
            </a:r>
            <a:r>
              <a:rPr lang="en-US" sz="1700" b="1" dirty="0">
                <a:solidFill>
                  <a:srgbClr val="000000"/>
                </a:solidFill>
                <a:latin typeface="Courier" charset="0"/>
                <a:ea typeface="Courier" charset="0"/>
                <a:cs typeface="Courier" charset="0"/>
              </a:rPr>
              <a:t>(</a:t>
            </a:r>
            <a:r>
              <a:rPr lang="en-US" sz="1700" b="1" dirty="0" err="1">
                <a:solidFill>
                  <a:srgbClr val="000000"/>
                </a:solidFill>
                <a:latin typeface="Courier" charset="0"/>
                <a:ea typeface="Courier" charset="0"/>
                <a:cs typeface="Courier" charset="0"/>
              </a:rPr>
              <a:t>DumpPostView</a:t>
            </a:r>
            <a:r>
              <a:rPr lang="en-US"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a:t>
            </a:r>
            <a:r>
              <a:rPr lang="en-US" sz="1700" b="1" dirty="0" err="1">
                <a:solidFill>
                  <a:srgbClr val="C1651C"/>
                </a:solidFill>
                <a:latin typeface="Courier" charset="0"/>
                <a:ea typeface="Courier" charset="0"/>
                <a:cs typeface="Courier" charset="0"/>
              </a:rPr>
              <a:t>def</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get</a:t>
            </a:r>
            <a:r>
              <a:rPr lang="en-US" sz="1700" b="1" dirty="0">
                <a:solidFill>
                  <a:srgbClr val="000000"/>
                </a:solidFill>
                <a:latin typeface="Courier" charset="0"/>
                <a:ea typeface="Courier" charset="0"/>
                <a:cs typeface="Courier" charset="0"/>
              </a:rPr>
              <a:t>(self, request) :</a:t>
            </a:r>
          </a:p>
          <a:p>
            <a:r>
              <a:rPr lang="mr-IN" sz="1700" b="1" dirty="0">
                <a:solidFill>
                  <a:srgbClr val="000000"/>
                </a:solidFill>
                <a:latin typeface="Courier" charset="0"/>
                <a:ea typeface="Courier" charset="0"/>
                <a:cs typeface="Courier" charset="0"/>
              </a:rPr>
              <a:t>        </a:t>
            </a:r>
            <a:r>
              <a:rPr lang="mr-IN" sz="1700" b="1" dirty="0" err="1">
                <a:solidFill>
                  <a:srgbClr val="000000"/>
                </a:solidFill>
                <a:latin typeface="Courier" charset="0"/>
                <a:ea typeface="Courier" charset="0"/>
                <a:cs typeface="Courier" charset="0"/>
              </a:rPr>
              <a:t>old_data</a:t>
            </a:r>
            <a:r>
              <a:rPr lang="mr-IN" sz="1700" b="1" dirty="0">
                <a:solidFill>
                  <a:srgbClr val="000000"/>
                </a:solidFill>
                <a:latin typeface="Courier" charset="0"/>
                <a:ea typeface="Courier" charset="0"/>
                <a:cs typeface="Courier" charset="0"/>
              </a:rPr>
              <a:t> = {</a:t>
            </a:r>
          </a:p>
          <a:p>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title</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SakaiCar</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a:t>
            </a:r>
          </a:p>
          <a:p>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mileage</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 </a:t>
            </a:r>
            <a:r>
              <a:rPr lang="mr-IN" sz="1700" b="1" dirty="0">
                <a:solidFill>
                  <a:srgbClr val="B42419"/>
                </a:solidFill>
                <a:latin typeface="Courier" charset="0"/>
                <a:ea typeface="Courier" charset="0"/>
                <a:cs typeface="Courier" charset="0"/>
              </a:rPr>
              <a:t>42</a:t>
            </a:r>
            <a:r>
              <a:rPr lang="mr-IN" sz="1700" b="1" dirty="0">
                <a:solidFill>
                  <a:srgbClr val="000000"/>
                </a:solidFill>
                <a:latin typeface="Courier" charset="0"/>
                <a:ea typeface="Courier" charset="0"/>
                <a:cs typeface="Courier" charset="0"/>
              </a:rPr>
              <a:t>,</a:t>
            </a:r>
          </a:p>
          <a:p>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purchase_date</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a:t>
            </a:r>
            <a:r>
              <a:rPr lang="mr-IN" sz="1700" b="1" dirty="0">
                <a:solidFill>
                  <a:srgbClr val="B42419"/>
                </a:solidFill>
                <a:latin typeface="Courier" charset="0"/>
                <a:ea typeface="Courier" charset="0"/>
                <a:cs typeface="Courier" charset="0"/>
              </a:rPr>
              <a:t>'2018-08-14'</a:t>
            </a:r>
            <a:endParaRPr lang="mr-IN" sz="1700" b="1" dirty="0">
              <a:solidFill>
                <a:srgbClr val="000000"/>
              </a:solidFill>
              <a:latin typeface="Courier" charset="0"/>
              <a:ea typeface="Courier" charset="0"/>
              <a:cs typeface="Courier" charset="0"/>
            </a:endParaRPr>
          </a:p>
          <a:p>
            <a:r>
              <a:rPr lang="mr-IN" sz="1700" b="1" dirty="0">
                <a:solidFill>
                  <a:srgbClr val="000000"/>
                </a:solidFill>
                <a:latin typeface="Courier" charset="0"/>
                <a:ea typeface="Courier" charset="0"/>
                <a:cs typeface="Courier" charset="0"/>
              </a:rPr>
              <a:t>        }</a:t>
            </a:r>
          </a:p>
          <a:p>
            <a:r>
              <a:rPr lang="en-US" sz="1700" b="1" dirty="0">
                <a:solidFill>
                  <a:srgbClr val="000000"/>
                </a:solidFill>
                <a:latin typeface="Courier" charset="0"/>
                <a:ea typeface="Courier" charset="0"/>
                <a:cs typeface="Courier" charset="0"/>
              </a:rPr>
              <a:t>        form = </a:t>
            </a:r>
            <a:r>
              <a:rPr lang="en-US" sz="1700" b="1" dirty="0" err="1">
                <a:solidFill>
                  <a:srgbClr val="000000"/>
                </a:solidFill>
                <a:latin typeface="Courier" charset="0"/>
                <a:ea typeface="Courier" charset="0"/>
                <a:cs typeface="Courier" charset="0"/>
              </a:rPr>
              <a:t>BasicForm</a:t>
            </a:r>
            <a:r>
              <a:rPr lang="en-US" sz="1700" b="1" dirty="0">
                <a:solidFill>
                  <a:srgbClr val="000000"/>
                </a:solidFill>
                <a:latin typeface="Courier" charset="0"/>
                <a:ea typeface="Courier" charset="0"/>
                <a:cs typeface="Courier" charset="0"/>
              </a:rPr>
              <a:t>(initial=</a:t>
            </a:r>
            <a:r>
              <a:rPr lang="en-US" sz="1700" b="1" dirty="0" err="1">
                <a:solidFill>
                  <a:srgbClr val="000000"/>
                </a:solidFill>
                <a:latin typeface="Courier" charset="0"/>
                <a:ea typeface="Courier" charset="0"/>
                <a:cs typeface="Courier" charset="0"/>
              </a:rPr>
              <a:t>old_data</a:t>
            </a:r>
            <a:r>
              <a:rPr lang="en-US" sz="1700" b="1" dirty="0">
                <a:solidFill>
                  <a:srgbClr val="000000"/>
                </a:solidFill>
                <a:latin typeface="Courier" charset="0"/>
                <a:ea typeface="Courier" charset="0"/>
                <a:cs typeface="Courier" charset="0"/>
              </a:rPr>
              <a:t>)</a:t>
            </a:r>
          </a:p>
          <a:p>
            <a:r>
              <a:rPr lang="mr-IN" sz="1700" b="1" dirty="0">
                <a:solidFill>
                  <a:srgbClr val="000000"/>
                </a:solidFill>
                <a:latin typeface="Courier" charset="0"/>
                <a:ea typeface="Courier" charset="0"/>
                <a:cs typeface="Courier" charset="0"/>
              </a:rPr>
              <a:t>        </a:t>
            </a:r>
            <a:r>
              <a:rPr lang="mr-IN" sz="1700" b="1" dirty="0" err="1">
                <a:solidFill>
                  <a:srgbClr val="000000"/>
                </a:solidFill>
                <a:latin typeface="Courier" charset="0"/>
                <a:ea typeface="Courier" charset="0"/>
                <a:cs typeface="Courier" charset="0"/>
              </a:rPr>
              <a:t>ctx</a:t>
            </a:r>
            <a:r>
              <a:rPr lang="mr-IN" sz="1700" b="1" dirty="0">
                <a:solidFill>
                  <a:srgbClr val="000000"/>
                </a:solidFill>
                <a:latin typeface="Courier" charset="0"/>
                <a:ea typeface="Courier" charset="0"/>
                <a:cs typeface="Courier" charset="0"/>
              </a:rPr>
              <a:t> =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form</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 </a:t>
            </a:r>
            <a:r>
              <a:rPr lang="mr-IN" sz="1700" b="1" dirty="0" err="1">
                <a:solidFill>
                  <a:srgbClr val="000000"/>
                </a:solidFill>
                <a:latin typeface="Courier" charset="0"/>
                <a:ea typeface="Courier" charset="0"/>
                <a:cs typeface="Courier" charset="0"/>
              </a:rPr>
              <a:t>form</a:t>
            </a:r>
            <a:r>
              <a:rPr lang="mr-IN"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return</a:t>
            </a:r>
            <a:r>
              <a:rPr lang="en-US" sz="1700" b="1" dirty="0">
                <a:solidFill>
                  <a:srgbClr val="000000"/>
                </a:solidFill>
                <a:latin typeface="Courier" charset="0"/>
                <a:ea typeface="Courier" charset="0"/>
                <a:cs typeface="Courier" charset="0"/>
              </a:rPr>
              <a:t> render(request, </a:t>
            </a:r>
            <a:r>
              <a:rPr lang="en-US" sz="1700" b="1" dirty="0">
                <a:solidFill>
                  <a:srgbClr val="B42419"/>
                </a:solidFill>
                <a:latin typeface="Courier" charset="0"/>
                <a:ea typeface="Courier" charset="0"/>
                <a:cs typeface="Courier" charset="0"/>
              </a:rPr>
              <a:t>'form/</a:t>
            </a:r>
            <a:r>
              <a:rPr lang="en-US" sz="1700" b="1" dirty="0" err="1">
                <a:solidFill>
                  <a:srgbClr val="B42419"/>
                </a:solidFill>
                <a:latin typeface="Courier" charset="0"/>
                <a:ea typeface="Courier" charset="0"/>
                <a:cs typeface="Courier" charset="0"/>
              </a:rPr>
              <a:t>form.html</a:t>
            </a:r>
            <a:r>
              <a:rPr lang="en-US" sz="1700" b="1" dirty="0">
                <a:solidFill>
                  <a:srgbClr val="B42419"/>
                </a:solidFill>
                <a:latin typeface="Courier" charset="0"/>
                <a:ea typeface="Courier" charset="0"/>
                <a:cs typeface="Courier" charset="0"/>
              </a:rPr>
              <a:t>'</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ctx</a:t>
            </a:r>
            <a:r>
              <a:rPr lang="en-US" sz="1700" b="1" dirty="0">
                <a:solidFill>
                  <a:srgbClr val="000000"/>
                </a:solidFill>
                <a:latin typeface="Courier" charset="0"/>
                <a:ea typeface="Courier" charset="0"/>
                <a:cs typeface="Courier" charset="0"/>
              </a:rPr>
              <a:t>)</a:t>
            </a:r>
          </a:p>
          <a:p>
            <a:endParaRPr lang="en-US" sz="1700" b="1" dirty="0">
              <a:solidFill>
                <a:srgbClr val="000000"/>
              </a:solidFill>
              <a:latin typeface="Courier" charset="0"/>
              <a:ea typeface="Courier" charset="0"/>
              <a:cs typeface="Courier" charset="0"/>
            </a:endParaRPr>
          </a:p>
          <a:p>
            <a:r>
              <a:rPr lang="en-US" sz="1700" b="1" dirty="0">
                <a:solidFill>
                  <a:srgbClr val="000000"/>
                </a:solidFill>
                <a:latin typeface="Courier" charset="0"/>
                <a:ea typeface="Courier" charset="0"/>
                <a:cs typeface="Courier" charset="0"/>
              </a:rPr>
              <a:t>    </a:t>
            </a:r>
            <a:r>
              <a:rPr lang="en-US" sz="1700" b="1" dirty="0" err="1">
                <a:solidFill>
                  <a:srgbClr val="C1651C"/>
                </a:solidFill>
                <a:latin typeface="Courier" charset="0"/>
                <a:ea typeface="Courier" charset="0"/>
                <a:cs typeface="Courier" charset="0"/>
              </a:rPr>
              <a:t>def</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post</a:t>
            </a:r>
            <a:r>
              <a:rPr lang="en-US" sz="1700" b="1" dirty="0">
                <a:solidFill>
                  <a:srgbClr val="000000"/>
                </a:solidFill>
                <a:latin typeface="Courier" charset="0"/>
                <a:ea typeface="Courier" charset="0"/>
                <a:cs typeface="Courier" charset="0"/>
              </a:rPr>
              <a:t>(self, request) :</a:t>
            </a:r>
          </a:p>
          <a:p>
            <a:r>
              <a:rPr lang="en-US" sz="1700" b="1" dirty="0">
                <a:solidFill>
                  <a:srgbClr val="000000"/>
                </a:solidFill>
                <a:latin typeface="Courier" charset="0"/>
                <a:ea typeface="Courier" charset="0"/>
                <a:cs typeface="Courier" charset="0"/>
              </a:rPr>
              <a:t>        form = </a:t>
            </a:r>
            <a:r>
              <a:rPr lang="en-US" sz="1700" b="1" dirty="0" err="1">
                <a:solidFill>
                  <a:srgbClr val="000000"/>
                </a:solidFill>
                <a:latin typeface="Courier" charset="0"/>
                <a:ea typeface="Courier" charset="0"/>
                <a:cs typeface="Courier" charset="0"/>
              </a:rPr>
              <a:t>BasicForm</a:t>
            </a:r>
            <a:r>
              <a:rPr lang="en-US" sz="1700" b="1" dirty="0">
                <a:solidFill>
                  <a:srgbClr val="000000"/>
                </a:solidFill>
                <a:latin typeface="Courier" charset="0"/>
                <a:ea typeface="Courier" charset="0"/>
                <a:cs typeface="Courier" charset="0"/>
              </a:rPr>
              <a:t>(</a:t>
            </a:r>
            <a:r>
              <a:rPr lang="en-US" sz="1700" b="1" dirty="0" err="1">
                <a:solidFill>
                  <a:srgbClr val="000000"/>
                </a:solidFill>
                <a:latin typeface="Courier" charset="0"/>
                <a:ea typeface="Courier" charset="0"/>
                <a:cs typeface="Courier" charset="0"/>
              </a:rPr>
              <a:t>request.POST</a:t>
            </a:r>
            <a:r>
              <a:rPr lang="en-US"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if</a:t>
            </a:r>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not</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form.is_valid</a:t>
            </a:r>
            <a:r>
              <a:rPr lang="en-US" sz="1700" b="1" dirty="0">
                <a:solidFill>
                  <a:srgbClr val="000000"/>
                </a:solidFill>
                <a:latin typeface="Courier" charset="0"/>
                <a:ea typeface="Courier" charset="0"/>
                <a:cs typeface="Courier" charset="0"/>
              </a:rPr>
              <a:t>() :</a:t>
            </a:r>
          </a:p>
          <a:p>
            <a:r>
              <a:rPr lang="mr-IN" sz="1700" b="1" dirty="0">
                <a:solidFill>
                  <a:srgbClr val="000000"/>
                </a:solidFill>
                <a:latin typeface="Courier" charset="0"/>
                <a:ea typeface="Courier" charset="0"/>
                <a:cs typeface="Courier" charset="0"/>
              </a:rPr>
              <a:t>            </a:t>
            </a:r>
            <a:r>
              <a:rPr lang="mr-IN" sz="1700" b="1" dirty="0" err="1">
                <a:solidFill>
                  <a:srgbClr val="000000"/>
                </a:solidFill>
                <a:latin typeface="Courier" charset="0"/>
                <a:ea typeface="Courier" charset="0"/>
                <a:cs typeface="Courier" charset="0"/>
              </a:rPr>
              <a:t>ctx</a:t>
            </a:r>
            <a:r>
              <a:rPr lang="mr-IN" sz="1700" b="1" dirty="0">
                <a:solidFill>
                  <a:srgbClr val="000000"/>
                </a:solidFill>
                <a:latin typeface="Courier" charset="0"/>
                <a:ea typeface="Courier" charset="0"/>
                <a:cs typeface="Courier" charset="0"/>
              </a:rPr>
              <a:t> = {</a:t>
            </a:r>
            <a:r>
              <a:rPr lang="mr-IN" sz="1700" b="1" dirty="0">
                <a:solidFill>
                  <a:srgbClr val="B42419"/>
                </a:solidFill>
                <a:latin typeface="Courier" charset="0"/>
                <a:ea typeface="Courier" charset="0"/>
                <a:cs typeface="Courier" charset="0"/>
              </a:rPr>
              <a:t>'</a:t>
            </a:r>
            <a:r>
              <a:rPr lang="mr-IN" sz="1700" b="1" dirty="0" err="1">
                <a:solidFill>
                  <a:srgbClr val="B42419"/>
                </a:solidFill>
                <a:latin typeface="Courier" charset="0"/>
                <a:ea typeface="Courier" charset="0"/>
                <a:cs typeface="Courier" charset="0"/>
              </a:rPr>
              <a:t>form</a:t>
            </a:r>
            <a:r>
              <a:rPr lang="mr-IN" sz="1700" b="1" dirty="0">
                <a:solidFill>
                  <a:srgbClr val="B42419"/>
                </a:solidFill>
                <a:latin typeface="Courier" charset="0"/>
                <a:ea typeface="Courier" charset="0"/>
                <a:cs typeface="Courier" charset="0"/>
              </a:rPr>
              <a:t>'</a:t>
            </a:r>
            <a:r>
              <a:rPr lang="mr-IN" sz="1700" b="1" dirty="0">
                <a:solidFill>
                  <a:srgbClr val="000000"/>
                </a:solidFill>
                <a:latin typeface="Courier" charset="0"/>
                <a:ea typeface="Courier" charset="0"/>
                <a:cs typeface="Courier" charset="0"/>
              </a:rPr>
              <a:t> : </a:t>
            </a:r>
            <a:r>
              <a:rPr lang="mr-IN" sz="1700" b="1" dirty="0" err="1">
                <a:solidFill>
                  <a:srgbClr val="000000"/>
                </a:solidFill>
                <a:latin typeface="Courier" charset="0"/>
                <a:ea typeface="Courier" charset="0"/>
                <a:cs typeface="Courier" charset="0"/>
              </a:rPr>
              <a:t>form</a:t>
            </a:r>
            <a:r>
              <a:rPr lang="mr-IN"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return</a:t>
            </a:r>
            <a:r>
              <a:rPr lang="en-US" sz="1700" b="1" dirty="0">
                <a:solidFill>
                  <a:srgbClr val="000000"/>
                </a:solidFill>
                <a:latin typeface="Courier" charset="0"/>
                <a:ea typeface="Courier" charset="0"/>
                <a:cs typeface="Courier" charset="0"/>
              </a:rPr>
              <a:t> render(request, </a:t>
            </a:r>
            <a:r>
              <a:rPr lang="en-US" sz="1700" b="1" dirty="0">
                <a:solidFill>
                  <a:srgbClr val="B42419"/>
                </a:solidFill>
                <a:latin typeface="Courier" charset="0"/>
                <a:ea typeface="Courier" charset="0"/>
                <a:cs typeface="Courier" charset="0"/>
              </a:rPr>
              <a:t>'form/</a:t>
            </a:r>
            <a:r>
              <a:rPr lang="en-US" sz="1700" b="1" dirty="0" err="1">
                <a:solidFill>
                  <a:srgbClr val="B42419"/>
                </a:solidFill>
                <a:latin typeface="Courier" charset="0"/>
                <a:ea typeface="Courier" charset="0"/>
                <a:cs typeface="Courier" charset="0"/>
              </a:rPr>
              <a:t>form.html</a:t>
            </a:r>
            <a:r>
              <a:rPr lang="en-US" sz="1700" b="1" dirty="0">
                <a:solidFill>
                  <a:srgbClr val="B42419"/>
                </a:solidFill>
                <a:latin typeface="Courier" charset="0"/>
                <a:ea typeface="Courier" charset="0"/>
                <a:cs typeface="Courier" charset="0"/>
              </a:rPr>
              <a:t>'</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ctx</a:t>
            </a:r>
            <a:r>
              <a:rPr lang="en-US" sz="1700" b="1" dirty="0">
                <a:solidFill>
                  <a:srgbClr val="000000"/>
                </a:solidFill>
                <a:latin typeface="Courier" charset="0"/>
                <a:ea typeface="Courier" charset="0"/>
                <a:cs typeface="Courier" charset="0"/>
              </a:rPr>
              <a:t>)</a:t>
            </a:r>
          </a:p>
          <a:p>
            <a:r>
              <a:rPr lang="en-US" sz="1700" b="1" dirty="0">
                <a:solidFill>
                  <a:srgbClr val="000000"/>
                </a:solidFill>
                <a:latin typeface="Courier" charset="0"/>
                <a:ea typeface="Courier" charset="0"/>
                <a:cs typeface="Courier" charset="0"/>
              </a:rPr>
              <a:t>        # If there are no errors, we would save the data</a:t>
            </a:r>
          </a:p>
          <a:p>
            <a:r>
              <a:rPr lang="en-US" sz="1700" b="1" dirty="0">
                <a:solidFill>
                  <a:srgbClr val="C1651C"/>
                </a:solidFill>
                <a:latin typeface="Courier" charset="0"/>
                <a:ea typeface="Courier" charset="0"/>
                <a:cs typeface="Courier" charset="0"/>
              </a:rPr>
              <a:t>        return</a:t>
            </a:r>
            <a:r>
              <a:rPr lang="en-US" sz="1700" b="1" dirty="0">
                <a:solidFill>
                  <a:srgbClr val="000000"/>
                </a:solidFill>
                <a:latin typeface="Courier" charset="0"/>
                <a:ea typeface="Courier" charset="0"/>
                <a:cs typeface="Courier" charset="0"/>
              </a:rPr>
              <a:t> redirect(</a:t>
            </a:r>
            <a:r>
              <a:rPr lang="en-US" sz="1700" b="1" dirty="0">
                <a:solidFill>
                  <a:srgbClr val="B42419"/>
                </a:solidFill>
                <a:latin typeface="Courier" charset="0"/>
                <a:ea typeface="Courier" charset="0"/>
                <a:cs typeface="Courier" charset="0"/>
              </a:rPr>
              <a:t>'/form/success'</a:t>
            </a:r>
            <a:r>
              <a:rPr lang="en-US" sz="1700" b="1" dirty="0">
                <a:solidFill>
                  <a:srgbClr val="000000"/>
                </a:solidFill>
                <a:latin typeface="Courier" charset="0"/>
                <a:ea typeface="Courier" charset="0"/>
                <a:cs typeface="Courier" charset="0"/>
              </a:rPr>
              <a:t>)</a:t>
            </a:r>
          </a:p>
          <a:p>
            <a:endParaRPr lang="en-US" sz="1700" b="1" dirty="0">
              <a:solidFill>
                <a:srgbClr val="000000"/>
              </a:solidFill>
              <a:latin typeface="Courier" charset="0"/>
              <a:ea typeface="Courier" charset="0"/>
              <a:cs typeface="Courier" charset="0"/>
            </a:endParaRPr>
          </a:p>
          <a:p>
            <a:r>
              <a:rPr lang="en-US" sz="1700" b="1" dirty="0" err="1">
                <a:solidFill>
                  <a:srgbClr val="C1651C"/>
                </a:solidFill>
                <a:latin typeface="Courier" charset="0"/>
                <a:ea typeface="Courier" charset="0"/>
                <a:cs typeface="Courier" charset="0"/>
              </a:rPr>
              <a:t>def</a:t>
            </a:r>
            <a:r>
              <a:rPr lang="en-US" sz="1700" b="1" dirty="0">
                <a:solidFill>
                  <a:srgbClr val="000000"/>
                </a:solidFill>
                <a:latin typeface="Courier" charset="0"/>
                <a:ea typeface="Courier" charset="0"/>
                <a:cs typeface="Courier" charset="0"/>
              </a:rPr>
              <a:t> </a:t>
            </a:r>
            <a:r>
              <a:rPr lang="en-US" sz="1700" b="1" dirty="0">
                <a:solidFill>
                  <a:schemeClr val="bg1"/>
                </a:solidFill>
                <a:latin typeface="Courier" charset="0"/>
                <a:ea typeface="Courier" charset="0"/>
                <a:cs typeface="Courier" charset="0"/>
              </a:rPr>
              <a:t>success</a:t>
            </a:r>
            <a:r>
              <a:rPr lang="en-US" sz="1700" b="1" dirty="0">
                <a:solidFill>
                  <a:srgbClr val="000000"/>
                </a:solidFill>
                <a:latin typeface="Courier" charset="0"/>
                <a:ea typeface="Courier" charset="0"/>
                <a:cs typeface="Courier" charset="0"/>
              </a:rPr>
              <a:t>(request) :</a:t>
            </a:r>
          </a:p>
          <a:p>
            <a:r>
              <a:rPr lang="en-US" sz="1700" b="1" dirty="0">
                <a:solidFill>
                  <a:srgbClr val="000000"/>
                </a:solidFill>
                <a:latin typeface="Courier" charset="0"/>
                <a:ea typeface="Courier" charset="0"/>
                <a:cs typeface="Courier" charset="0"/>
              </a:rPr>
              <a:t>    </a:t>
            </a:r>
            <a:r>
              <a:rPr lang="en-US" sz="1700" b="1" dirty="0">
                <a:solidFill>
                  <a:srgbClr val="C1651C"/>
                </a:solidFill>
                <a:latin typeface="Courier" charset="0"/>
                <a:ea typeface="Courier" charset="0"/>
                <a:cs typeface="Courier" charset="0"/>
              </a:rPr>
              <a:t>return</a:t>
            </a:r>
            <a:r>
              <a:rPr lang="en-US" sz="1700" b="1" dirty="0">
                <a:solidFill>
                  <a:srgbClr val="000000"/>
                </a:solidFill>
                <a:latin typeface="Courier" charset="0"/>
                <a:ea typeface="Courier" charset="0"/>
                <a:cs typeface="Courier" charset="0"/>
              </a:rPr>
              <a:t> </a:t>
            </a:r>
            <a:r>
              <a:rPr lang="en-US" sz="1700" b="1" dirty="0" err="1">
                <a:solidFill>
                  <a:srgbClr val="000000"/>
                </a:solidFill>
                <a:latin typeface="Courier" charset="0"/>
                <a:ea typeface="Courier" charset="0"/>
                <a:cs typeface="Courier" charset="0"/>
              </a:rPr>
              <a:t>HttpResponse</a:t>
            </a:r>
            <a:r>
              <a:rPr lang="en-US" sz="1700" b="1" dirty="0">
                <a:solidFill>
                  <a:srgbClr val="000000"/>
                </a:solidFill>
                <a:latin typeface="Courier" charset="0"/>
                <a:ea typeface="Courier" charset="0"/>
                <a:cs typeface="Courier" charset="0"/>
              </a:rPr>
              <a:t>(</a:t>
            </a:r>
            <a:r>
              <a:rPr lang="en-US" sz="1700" b="1" dirty="0">
                <a:solidFill>
                  <a:srgbClr val="B42419"/>
                </a:solidFill>
                <a:latin typeface="Courier" charset="0"/>
                <a:ea typeface="Courier" charset="0"/>
                <a:cs typeface="Courier" charset="0"/>
              </a:rPr>
              <a:t>'Thank you!'</a:t>
            </a:r>
            <a:r>
              <a:rPr lang="en-US" sz="1700" b="1" dirty="0">
                <a:solidFill>
                  <a:srgbClr val="000000"/>
                </a:solidFill>
                <a:latin typeface="Courier" charset="0"/>
                <a:ea typeface="Courier" charset="0"/>
                <a:cs typeface="Courier" charset="0"/>
              </a:rPr>
              <a:t>)</a:t>
            </a:r>
            <a:endParaRPr lang="en-US" sz="1700" b="1" dirty="0">
              <a:latin typeface="Courier" charset="0"/>
              <a:ea typeface="Courier" charset="0"/>
              <a:cs typeface="Courier" charset="0"/>
            </a:endParaRPr>
          </a:p>
        </p:txBody>
      </p:sp>
      <p:cxnSp>
        <p:nvCxnSpPr>
          <p:cNvPr id="13" name="Straight Arrow Connector 12">
            <a:extLst>
              <a:ext uri="{C183D7F6-B498-43B3-948B-1728B52AA6E4}">
                <adec:decorative xmlns:adec="http://schemas.microsoft.com/office/drawing/2017/decorative" val="1"/>
              </a:ext>
            </a:extLst>
          </p:cNvPr>
          <p:cNvCxnSpPr/>
          <p:nvPr/>
        </p:nvCxnSpPr>
        <p:spPr>
          <a:xfrm>
            <a:off x="1014413" y="2500313"/>
            <a:ext cx="3909712" cy="121443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1570832" y="2600323"/>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POST</a:t>
            </a:r>
          </a:p>
        </p:txBody>
      </p:sp>
      <p:cxnSp>
        <p:nvCxnSpPr>
          <p:cNvPr id="21" name="Straight Arrow Connector 20">
            <a:extLst>
              <a:ext uri="{C183D7F6-B498-43B3-948B-1728B52AA6E4}">
                <adec:decorative xmlns:adec="http://schemas.microsoft.com/office/drawing/2017/decorative" val="1"/>
              </a:ext>
            </a:extLst>
          </p:cNvPr>
          <p:cNvCxnSpPr/>
          <p:nvPr/>
        </p:nvCxnSpPr>
        <p:spPr>
          <a:xfrm flipH="1">
            <a:off x="3786188" y="4843463"/>
            <a:ext cx="2143126" cy="11430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4364832" y="4650582"/>
            <a:ext cx="985838" cy="500061"/>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200</a:t>
            </a:r>
          </a:p>
        </p:txBody>
      </p:sp>
      <p:sp>
        <p:nvSpPr>
          <p:cNvPr id="2" name="Title 1">
            <a:extLst>
              <a:ext uri="{FF2B5EF4-FFF2-40B4-BE49-F238E27FC236}">
                <a16:creationId xmlns:a16="http://schemas.microsoft.com/office/drawing/2014/main" id="{81F65702-D426-2496-918D-B8B8ECAC0508}"/>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Validation error flow in a Django view</a:t>
            </a:r>
          </a:p>
        </p:txBody>
      </p:sp>
    </p:spTree>
    <p:extLst>
      <p:ext uri="{BB962C8B-B14F-4D97-AF65-F5344CB8AC3E}">
        <p14:creationId xmlns:p14="http://schemas.microsoft.com/office/powerpoint/2010/main" val="676628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Models + Forms</a:t>
            </a:r>
          </a:p>
        </p:txBody>
      </p:sp>
      <p:sp>
        <p:nvSpPr>
          <p:cNvPr id="3" name="Text Placeholder 2"/>
          <p:cNvSpPr>
            <a:spLocks noGrp="1"/>
          </p:cNvSpPr>
          <p:nvPr>
            <p:ph type="body" idx="1"/>
          </p:nvPr>
        </p:nvSpPr>
        <p:spPr/>
        <p:txBody>
          <a:bodyPr/>
          <a:lstStyle/>
          <a:p>
            <a:r>
              <a:rPr lang="en-US" dirty="0"/>
              <a:t>Crossing the streams</a:t>
            </a:r>
          </a:p>
        </p:txBody>
      </p:sp>
      <p:sp>
        <p:nvSpPr>
          <p:cNvPr id="4" name="Rectangle 3"/>
          <p:cNvSpPr/>
          <p:nvPr/>
        </p:nvSpPr>
        <p:spPr>
          <a:xfrm>
            <a:off x="5048250" y="5339556"/>
            <a:ext cx="7410450" cy="369332"/>
          </a:xfrm>
          <a:prstGeom prst="rect">
            <a:avLst/>
          </a:prstGeom>
        </p:spPr>
        <p:txBody>
          <a:bodyPr wrap="square">
            <a:spAutoFit/>
          </a:bodyPr>
          <a:lstStyle/>
          <a:p>
            <a:r>
              <a:rPr lang="en-US" dirty="0"/>
              <a:t>https://</a:t>
            </a:r>
            <a:r>
              <a:rPr lang="en-US" dirty="0" err="1"/>
              <a:t>docs.djangoproject.com</a:t>
            </a:r>
            <a:r>
              <a:rPr lang="en-US" dirty="0"/>
              <a:t>/</a:t>
            </a:r>
            <a:r>
              <a:rPr lang="en-US" dirty="0" err="1"/>
              <a:t>en</a:t>
            </a:r>
            <a:r>
              <a:rPr lang="en-US" dirty="0"/>
              <a:t>/4.0/topics/forms/</a:t>
            </a:r>
            <a:r>
              <a:rPr lang="en-US" dirty="0" err="1"/>
              <a:t>modelforms</a:t>
            </a:r>
            <a:r>
              <a:rPr lang="en-US" dirty="0"/>
              <a:t>/</a:t>
            </a:r>
          </a:p>
        </p:txBody>
      </p:sp>
    </p:spTree>
    <p:extLst>
      <p:ext uri="{BB962C8B-B14F-4D97-AF65-F5344CB8AC3E}">
        <p14:creationId xmlns:p14="http://schemas.microsoft.com/office/powerpoint/2010/main" val="2036578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Form Structure is similar to Model Structure</a:t>
            </a:r>
          </a:p>
        </p:txBody>
      </p:sp>
      <p:sp>
        <p:nvSpPr>
          <p:cNvPr id="7" name="Rectangle 6"/>
          <p:cNvSpPr/>
          <p:nvPr/>
        </p:nvSpPr>
        <p:spPr>
          <a:xfrm>
            <a:off x="2303252" y="1502817"/>
            <a:ext cx="381065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forms.py</a:t>
            </a:r>
            <a:endParaRPr lang="en-US" dirty="0">
              <a:solidFill>
                <a:srgbClr val="FFFF00"/>
              </a:solidFill>
              <a:effectLst/>
              <a:latin typeface="Courier" charset="0"/>
              <a:ea typeface="Courier" charset="0"/>
              <a:cs typeface="Courier" charset="0"/>
            </a:endParaRPr>
          </a:p>
        </p:txBody>
      </p:sp>
      <p:sp>
        <p:nvSpPr>
          <p:cNvPr id="6" name="Rectangle 5"/>
          <p:cNvSpPr/>
          <p:nvPr/>
        </p:nvSpPr>
        <p:spPr>
          <a:xfrm>
            <a:off x="2303253" y="1930379"/>
            <a:ext cx="7726572" cy="1323439"/>
          </a:xfrm>
          <a:prstGeom prst="rect">
            <a:avLst/>
          </a:prstGeom>
          <a:solidFill>
            <a:schemeClr val="tx1"/>
          </a:solidFill>
        </p:spPr>
        <p:txBody>
          <a:bodyPr wrap="square">
            <a:spAutoFit/>
          </a:bodyPr>
          <a:lstStyle/>
          <a:p>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err="1">
                <a:solidFill>
                  <a:schemeClr val="bg1"/>
                </a:solidFill>
                <a:latin typeface="Courier" charset="0"/>
                <a:ea typeface="Courier" charset="0"/>
                <a:cs typeface="Courier" charset="0"/>
              </a:rPr>
              <a:t>BasicForm</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forms.Form</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title = </a:t>
            </a:r>
            <a:r>
              <a:rPr lang="en-US" sz="1600" b="1" dirty="0" err="1">
                <a:solidFill>
                  <a:srgbClr val="000000"/>
                </a:solidFill>
                <a:latin typeface="Courier" charset="0"/>
                <a:ea typeface="Courier" charset="0"/>
                <a:cs typeface="Courier" charset="0"/>
              </a:rPr>
              <a:t>forms.CharField</a:t>
            </a:r>
            <a:r>
              <a:rPr lang="en-US" sz="1600" b="1" dirty="0">
                <a:solidFill>
                  <a:srgbClr val="000000"/>
                </a:solidFill>
                <a:latin typeface="Courier" charset="0"/>
                <a:ea typeface="Courier" charset="0"/>
                <a:cs typeface="Courier" charset="0"/>
              </a:rPr>
              <a:t>(validators=[</a:t>
            </a:r>
          </a:p>
          <a:p>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validators.MinLengthValidator</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2</a:t>
            </a:r>
            <a:r>
              <a:rPr lang="en-US" sz="1600" b="1" dirty="0">
                <a:solidFill>
                  <a:srgbClr val="000000"/>
                </a:solidFill>
                <a:latin typeface="Courier" charset="0"/>
                <a:ea typeface="Courier" charset="0"/>
                <a:cs typeface="Courier" charset="0"/>
              </a:rPr>
              <a:t>, </a:t>
            </a:r>
            <a:r>
              <a:rPr lang="en-US" sz="1600" b="1" dirty="0">
                <a:solidFill>
                  <a:srgbClr val="B42419"/>
                </a:solidFill>
                <a:latin typeface="Courier" charset="0"/>
                <a:ea typeface="Courier" charset="0"/>
                <a:cs typeface="Courier" charset="0"/>
              </a:rPr>
              <a:t>"..."</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mileage = </a:t>
            </a:r>
            <a:r>
              <a:rPr lang="en-US" sz="1600" b="1" dirty="0" err="1">
                <a:solidFill>
                  <a:srgbClr val="000000"/>
                </a:solidFill>
                <a:latin typeface="Courier" charset="0"/>
                <a:ea typeface="Courier" charset="0"/>
                <a:cs typeface="Courier" charset="0"/>
              </a:rPr>
              <a:t>forms.IntegerField</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err="1">
                <a:solidFill>
                  <a:srgbClr val="000000"/>
                </a:solidFill>
                <a:latin typeface="Courier" charset="0"/>
                <a:ea typeface="Courier" charset="0"/>
                <a:cs typeface="Courier" charset="0"/>
              </a:rPr>
              <a:t>purchase_date</a:t>
            </a:r>
            <a:r>
              <a:rPr lang="en-US" sz="1600" b="1" dirty="0">
                <a:solidFill>
                  <a:srgbClr val="000000"/>
                </a:solidFill>
                <a:latin typeface="Courier" charset="0"/>
                <a:ea typeface="Courier" charset="0"/>
                <a:cs typeface="Courier" charset="0"/>
              </a:rPr>
              <a:t> = </a:t>
            </a:r>
            <a:r>
              <a:rPr lang="en-US" sz="1600" b="1" dirty="0" err="1">
                <a:solidFill>
                  <a:srgbClr val="000000"/>
                </a:solidFill>
                <a:latin typeface="Courier" charset="0"/>
                <a:ea typeface="Courier" charset="0"/>
                <a:cs typeface="Courier" charset="0"/>
              </a:rPr>
              <a:t>forms.DateField</a:t>
            </a:r>
            <a:r>
              <a:rPr lang="en-US" sz="1600" b="1" dirty="0">
                <a:solidFill>
                  <a:srgbClr val="000000"/>
                </a:solidFill>
                <a:latin typeface="Courier" charset="0"/>
                <a:ea typeface="Courier" charset="0"/>
                <a:cs typeface="Courier" charset="0"/>
              </a:rPr>
              <a:t>()</a:t>
            </a:r>
          </a:p>
        </p:txBody>
      </p:sp>
      <p:sp>
        <p:nvSpPr>
          <p:cNvPr id="9" name="Rectangle 8"/>
          <p:cNvSpPr/>
          <p:nvPr/>
        </p:nvSpPr>
        <p:spPr>
          <a:xfrm>
            <a:off x="2303252" y="3726905"/>
            <a:ext cx="390683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models.py</a:t>
            </a:r>
            <a:endParaRPr lang="en-US" dirty="0">
              <a:solidFill>
                <a:srgbClr val="FFFF00"/>
              </a:solidFill>
              <a:effectLst/>
              <a:latin typeface="Courier" charset="0"/>
              <a:ea typeface="Courier" charset="0"/>
              <a:cs typeface="Courier" charset="0"/>
            </a:endParaRPr>
          </a:p>
        </p:txBody>
      </p:sp>
      <p:sp>
        <p:nvSpPr>
          <p:cNvPr id="8" name="Rectangle 7"/>
          <p:cNvSpPr/>
          <p:nvPr/>
        </p:nvSpPr>
        <p:spPr>
          <a:xfrm>
            <a:off x="2303252" y="4154467"/>
            <a:ext cx="7726573" cy="1815882"/>
          </a:xfrm>
          <a:prstGeom prst="rect">
            <a:avLst/>
          </a:prstGeom>
          <a:solidFill>
            <a:schemeClr val="tx1"/>
          </a:solidFill>
        </p:spPr>
        <p:txBody>
          <a:bodyPr wrap="square">
            <a:spAutoFit/>
          </a:bodyPr>
          <a:lstStyle/>
          <a:p>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a:solidFill>
                  <a:schemeClr val="bg1"/>
                </a:solidFill>
                <a:latin typeface="Courier" charset="0"/>
                <a:ea typeface="Courier" charset="0"/>
                <a:cs typeface="Courier" charset="0"/>
              </a:rPr>
              <a:t>Cat</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models.Model</a:t>
            </a:r>
            <a:r>
              <a:rPr lang="en-US" sz="1600" b="1" dirty="0">
                <a:solidFill>
                  <a:srgbClr val="000000"/>
                </a:solidFill>
                <a:latin typeface="Courier" charset="0"/>
                <a:ea typeface="Courier" charset="0"/>
                <a:cs typeface="Courier" charset="0"/>
              </a:rPr>
              <a:t>) :</a:t>
            </a:r>
          </a:p>
          <a:p>
            <a:r>
              <a:rPr lang="en-US" sz="1600" b="1" dirty="0">
                <a:solidFill>
                  <a:srgbClr val="000000"/>
                </a:solidFill>
                <a:latin typeface="Courier" charset="0"/>
                <a:ea typeface="Courier" charset="0"/>
                <a:cs typeface="Courier" charset="0"/>
              </a:rPr>
              <a:t>    name = </a:t>
            </a:r>
            <a:r>
              <a:rPr lang="en-US" sz="1600" b="1" dirty="0" err="1">
                <a:solidFill>
                  <a:srgbClr val="000000"/>
                </a:solidFill>
                <a:latin typeface="Courier" charset="0"/>
                <a:ea typeface="Courier" charset="0"/>
                <a:cs typeface="Courier" charset="0"/>
              </a:rPr>
              <a:t>models.CharField</a:t>
            </a:r>
            <a:r>
              <a:rPr lang="en-US"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r>
              <a:rPr lang="mr-IN" sz="1600" b="1" dirty="0" err="1">
                <a:solidFill>
                  <a:srgbClr val="000000"/>
                </a:solidFill>
                <a:latin typeface="Courier" charset="0"/>
                <a:ea typeface="Courier" charset="0"/>
                <a:cs typeface="Courier" charset="0"/>
              </a:rPr>
              <a:t>max_length</a:t>
            </a:r>
            <a:r>
              <a:rPr lang="mr-IN" sz="1600" b="1" dirty="0">
                <a:solidFill>
                  <a:srgbClr val="000000"/>
                </a:solidFill>
                <a:latin typeface="Courier" charset="0"/>
                <a:ea typeface="Courier" charset="0"/>
                <a:cs typeface="Courier" charset="0"/>
              </a:rPr>
              <a:t>=</a:t>
            </a:r>
            <a:r>
              <a:rPr lang="mr-IN" sz="1600" b="1" dirty="0">
                <a:solidFill>
                  <a:srgbClr val="B42419"/>
                </a:solidFill>
                <a:latin typeface="Courier" charset="0"/>
                <a:ea typeface="Courier" charset="0"/>
                <a:cs typeface="Courier" charset="0"/>
              </a:rPr>
              <a:t>100</a:t>
            </a:r>
            <a:r>
              <a:rPr lang="mr-IN"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validators=[</a:t>
            </a:r>
            <a:r>
              <a:rPr lang="en-US" sz="1600" b="1" dirty="0" err="1">
                <a:solidFill>
                  <a:srgbClr val="000000"/>
                </a:solidFill>
                <a:latin typeface="Courier" charset="0"/>
                <a:ea typeface="Courier" charset="0"/>
                <a:cs typeface="Courier" charset="0"/>
              </a:rPr>
              <a:t>MinLengthValidator</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2</a:t>
            </a:r>
            <a:r>
              <a:rPr lang="en-US" sz="1600" b="1" dirty="0">
                <a:solidFill>
                  <a:srgbClr val="000000"/>
                </a:solidFill>
                <a:latin typeface="Courier" charset="0"/>
                <a:ea typeface="Courier" charset="0"/>
                <a:cs typeface="Courier" charset="0"/>
              </a:rPr>
              <a:t>, </a:t>
            </a:r>
            <a:r>
              <a:rPr lang="en-US" sz="1600" b="1" dirty="0">
                <a:solidFill>
                  <a:srgbClr val="B42419"/>
                </a:solidFill>
                <a:latin typeface="Courier" charset="0"/>
                <a:ea typeface="Courier" charset="0"/>
                <a:cs typeface="Courier" charset="0"/>
              </a:rPr>
              <a:t>".."</a:t>
            </a:r>
            <a:r>
              <a:rPr lang="en-US"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p>
          <a:p>
            <a:r>
              <a:rPr lang="en-US" sz="1600" b="1" dirty="0">
                <a:solidFill>
                  <a:srgbClr val="000000"/>
                </a:solidFill>
                <a:latin typeface="Courier" charset="0"/>
                <a:ea typeface="Courier" charset="0"/>
                <a:cs typeface="Courier" charset="0"/>
              </a:rPr>
              <a:t>    breed = </a:t>
            </a:r>
            <a:r>
              <a:rPr lang="en-US" sz="1600" b="1" dirty="0" err="1">
                <a:solidFill>
                  <a:srgbClr val="000000"/>
                </a:solidFill>
                <a:latin typeface="Courier" charset="0"/>
                <a:ea typeface="Courier" charset="0"/>
                <a:cs typeface="Courier" charset="0"/>
              </a:rPr>
              <a:t>models.CharField</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max_length</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100</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comments = </a:t>
            </a:r>
            <a:r>
              <a:rPr lang="en-US" sz="1600" b="1" dirty="0" err="1">
                <a:solidFill>
                  <a:srgbClr val="000000"/>
                </a:solidFill>
                <a:latin typeface="Courier" charset="0"/>
                <a:ea typeface="Courier" charset="0"/>
                <a:cs typeface="Courier" charset="0"/>
              </a:rPr>
              <a:t>models.CharField</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max_length</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100</a:t>
            </a:r>
            <a:r>
              <a:rPr lang="en-US" sz="1600" b="1" dirty="0">
                <a:solidFill>
                  <a:srgbClr val="000000"/>
                </a:solidFill>
                <a:latin typeface="Courier" charset="0"/>
                <a:ea typeface="Courier" charset="0"/>
                <a:cs typeface="Courier" charset="0"/>
              </a:rPr>
              <a:t>, blank=</a:t>
            </a:r>
            <a:r>
              <a:rPr lang="en-US" sz="1600" b="1" dirty="0">
                <a:solidFill>
                  <a:schemeClr val="bg1"/>
                </a:solidFill>
                <a:latin typeface="Courier" charset="0"/>
                <a:ea typeface="Courier" charset="0"/>
                <a:cs typeface="Courier" charset="0"/>
              </a:rPr>
              <a:t>True</a:t>
            </a:r>
            <a:r>
              <a:rPr lang="en-US" sz="1600" b="1" dirty="0">
                <a:solidFill>
                  <a:srgbClr val="000000"/>
                </a:solidFill>
                <a:latin typeface="Courier" charset="0"/>
                <a:ea typeface="Courier" charset="0"/>
                <a:cs typeface="Courier" charset="0"/>
              </a:rPr>
              <a:t>)</a:t>
            </a:r>
          </a:p>
        </p:txBody>
      </p:sp>
    </p:spTree>
    <p:extLst>
      <p:ext uri="{BB962C8B-B14F-4D97-AF65-F5344CB8AC3E}">
        <p14:creationId xmlns:p14="http://schemas.microsoft.com/office/powerpoint/2010/main" val="32932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We can derive a form from a model</a:t>
            </a:r>
          </a:p>
        </p:txBody>
      </p:sp>
      <p:sp>
        <p:nvSpPr>
          <p:cNvPr id="9" name="Rectangle 8"/>
          <p:cNvSpPr/>
          <p:nvPr/>
        </p:nvSpPr>
        <p:spPr>
          <a:xfrm>
            <a:off x="2303252" y="1502817"/>
            <a:ext cx="390683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models.py</a:t>
            </a:r>
            <a:endParaRPr lang="en-US" dirty="0">
              <a:solidFill>
                <a:srgbClr val="FFFF00"/>
              </a:solidFill>
              <a:effectLst/>
              <a:latin typeface="Courier" charset="0"/>
              <a:ea typeface="Courier" charset="0"/>
              <a:cs typeface="Courier" charset="0"/>
            </a:endParaRPr>
          </a:p>
        </p:txBody>
      </p:sp>
      <p:sp>
        <p:nvSpPr>
          <p:cNvPr id="8" name="Rectangle 7"/>
          <p:cNvSpPr/>
          <p:nvPr/>
        </p:nvSpPr>
        <p:spPr>
          <a:xfrm>
            <a:off x="2303252" y="1930379"/>
            <a:ext cx="7726573" cy="1815882"/>
          </a:xfrm>
          <a:prstGeom prst="rect">
            <a:avLst/>
          </a:prstGeom>
          <a:solidFill>
            <a:schemeClr val="tx1"/>
          </a:solidFill>
        </p:spPr>
        <p:txBody>
          <a:bodyPr wrap="square">
            <a:spAutoFit/>
          </a:bodyPr>
          <a:lstStyle/>
          <a:p>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a:solidFill>
                  <a:schemeClr val="bg1"/>
                </a:solidFill>
                <a:latin typeface="Courier" charset="0"/>
                <a:ea typeface="Courier" charset="0"/>
                <a:cs typeface="Courier" charset="0"/>
              </a:rPr>
              <a:t>Cat</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models.Model</a:t>
            </a:r>
            <a:r>
              <a:rPr lang="en-US" sz="1600" b="1" dirty="0">
                <a:solidFill>
                  <a:srgbClr val="000000"/>
                </a:solidFill>
                <a:latin typeface="Courier" charset="0"/>
                <a:ea typeface="Courier" charset="0"/>
                <a:cs typeface="Courier" charset="0"/>
              </a:rPr>
              <a:t>) :</a:t>
            </a:r>
          </a:p>
          <a:p>
            <a:r>
              <a:rPr lang="en-US" sz="1600" b="1" dirty="0">
                <a:solidFill>
                  <a:srgbClr val="000000"/>
                </a:solidFill>
                <a:latin typeface="Courier" charset="0"/>
                <a:ea typeface="Courier" charset="0"/>
                <a:cs typeface="Courier" charset="0"/>
              </a:rPr>
              <a:t>    name = </a:t>
            </a:r>
            <a:r>
              <a:rPr lang="en-US" sz="1600" b="1" dirty="0" err="1">
                <a:solidFill>
                  <a:srgbClr val="000000"/>
                </a:solidFill>
                <a:latin typeface="Courier" charset="0"/>
                <a:ea typeface="Courier" charset="0"/>
                <a:cs typeface="Courier" charset="0"/>
              </a:rPr>
              <a:t>models.CharField</a:t>
            </a:r>
            <a:r>
              <a:rPr lang="en-US"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r>
              <a:rPr lang="mr-IN" sz="1600" b="1" dirty="0" err="1">
                <a:solidFill>
                  <a:srgbClr val="000000"/>
                </a:solidFill>
                <a:latin typeface="Courier" charset="0"/>
                <a:ea typeface="Courier" charset="0"/>
                <a:cs typeface="Courier" charset="0"/>
              </a:rPr>
              <a:t>max_length</a:t>
            </a:r>
            <a:r>
              <a:rPr lang="mr-IN" sz="1600" b="1" dirty="0">
                <a:solidFill>
                  <a:srgbClr val="000000"/>
                </a:solidFill>
                <a:latin typeface="Courier" charset="0"/>
                <a:ea typeface="Courier" charset="0"/>
                <a:cs typeface="Courier" charset="0"/>
              </a:rPr>
              <a:t>=</a:t>
            </a:r>
            <a:r>
              <a:rPr lang="mr-IN" sz="1600" b="1" dirty="0">
                <a:solidFill>
                  <a:srgbClr val="B42419"/>
                </a:solidFill>
                <a:latin typeface="Courier" charset="0"/>
                <a:ea typeface="Courier" charset="0"/>
                <a:cs typeface="Courier" charset="0"/>
              </a:rPr>
              <a:t>100</a:t>
            </a:r>
            <a:r>
              <a:rPr lang="mr-IN"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validators=[</a:t>
            </a:r>
            <a:r>
              <a:rPr lang="en-US" sz="1600" b="1" dirty="0" err="1">
                <a:solidFill>
                  <a:srgbClr val="000000"/>
                </a:solidFill>
                <a:latin typeface="Courier" charset="0"/>
                <a:ea typeface="Courier" charset="0"/>
                <a:cs typeface="Courier" charset="0"/>
              </a:rPr>
              <a:t>MinLengthValidator</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2</a:t>
            </a:r>
            <a:r>
              <a:rPr lang="en-US" sz="1600" b="1" dirty="0">
                <a:solidFill>
                  <a:srgbClr val="000000"/>
                </a:solidFill>
                <a:latin typeface="Courier" charset="0"/>
                <a:ea typeface="Courier" charset="0"/>
                <a:cs typeface="Courier" charset="0"/>
              </a:rPr>
              <a:t>, </a:t>
            </a:r>
            <a:r>
              <a:rPr lang="en-US" sz="1600" b="1" dirty="0">
                <a:solidFill>
                  <a:srgbClr val="B42419"/>
                </a:solidFill>
                <a:latin typeface="Courier" charset="0"/>
                <a:ea typeface="Courier" charset="0"/>
                <a:cs typeface="Courier" charset="0"/>
              </a:rPr>
              <a:t>".."</a:t>
            </a:r>
            <a:r>
              <a:rPr lang="en-US"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p>
          <a:p>
            <a:r>
              <a:rPr lang="en-US" sz="1600" b="1" dirty="0">
                <a:solidFill>
                  <a:srgbClr val="000000"/>
                </a:solidFill>
                <a:latin typeface="Courier" charset="0"/>
                <a:ea typeface="Courier" charset="0"/>
                <a:cs typeface="Courier" charset="0"/>
              </a:rPr>
              <a:t>    breed = </a:t>
            </a:r>
            <a:r>
              <a:rPr lang="en-US" sz="1600" b="1" dirty="0" err="1">
                <a:solidFill>
                  <a:srgbClr val="000000"/>
                </a:solidFill>
                <a:latin typeface="Courier" charset="0"/>
                <a:ea typeface="Courier" charset="0"/>
                <a:cs typeface="Courier" charset="0"/>
              </a:rPr>
              <a:t>models.CharField</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max_length</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100</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comments = </a:t>
            </a:r>
            <a:r>
              <a:rPr lang="en-US" sz="1600" b="1" dirty="0" err="1">
                <a:solidFill>
                  <a:srgbClr val="000000"/>
                </a:solidFill>
                <a:latin typeface="Courier" charset="0"/>
                <a:ea typeface="Courier" charset="0"/>
                <a:cs typeface="Courier" charset="0"/>
              </a:rPr>
              <a:t>models.CharField</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max_length</a:t>
            </a:r>
            <a:r>
              <a:rPr lang="en-US" sz="1600" b="1" dirty="0">
                <a:solidFill>
                  <a:srgbClr val="000000"/>
                </a:solidFill>
                <a:latin typeface="Courier" charset="0"/>
                <a:ea typeface="Courier" charset="0"/>
                <a:cs typeface="Courier" charset="0"/>
              </a:rPr>
              <a:t>=</a:t>
            </a:r>
            <a:r>
              <a:rPr lang="en-US" sz="1600" b="1" dirty="0">
                <a:solidFill>
                  <a:srgbClr val="B42419"/>
                </a:solidFill>
                <a:latin typeface="Courier" charset="0"/>
                <a:ea typeface="Courier" charset="0"/>
                <a:cs typeface="Courier" charset="0"/>
              </a:rPr>
              <a:t>100</a:t>
            </a:r>
            <a:r>
              <a:rPr lang="en-US" sz="1600" b="1" dirty="0">
                <a:solidFill>
                  <a:srgbClr val="000000"/>
                </a:solidFill>
                <a:latin typeface="Courier" charset="0"/>
                <a:ea typeface="Courier" charset="0"/>
                <a:cs typeface="Courier" charset="0"/>
              </a:rPr>
              <a:t>, blank=</a:t>
            </a:r>
            <a:r>
              <a:rPr lang="en-US" sz="1600" b="1" dirty="0">
                <a:solidFill>
                  <a:schemeClr val="bg1"/>
                </a:solidFill>
                <a:latin typeface="Courier" charset="0"/>
                <a:ea typeface="Courier" charset="0"/>
                <a:cs typeface="Courier" charset="0"/>
              </a:rPr>
              <a:t>True</a:t>
            </a:r>
            <a:r>
              <a:rPr lang="en-US" sz="1600" b="1" dirty="0">
                <a:solidFill>
                  <a:srgbClr val="000000"/>
                </a:solidFill>
                <a:latin typeface="Courier" charset="0"/>
                <a:ea typeface="Courier" charset="0"/>
                <a:cs typeface="Courier" charset="0"/>
              </a:rPr>
              <a:t>)</a:t>
            </a:r>
          </a:p>
        </p:txBody>
      </p:sp>
      <p:sp>
        <p:nvSpPr>
          <p:cNvPr id="11" name="Rectangle 10"/>
          <p:cNvSpPr/>
          <p:nvPr/>
        </p:nvSpPr>
        <p:spPr>
          <a:xfrm>
            <a:off x="2346804" y="4026104"/>
            <a:ext cx="3810659"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forms.py</a:t>
            </a:r>
            <a:endParaRPr lang="en-US" dirty="0">
              <a:solidFill>
                <a:srgbClr val="FFFF00"/>
              </a:solidFill>
              <a:effectLst/>
              <a:latin typeface="Courier" charset="0"/>
              <a:ea typeface="Courier" charset="0"/>
              <a:cs typeface="Courier" charset="0"/>
            </a:endParaRPr>
          </a:p>
        </p:txBody>
      </p:sp>
      <p:sp>
        <p:nvSpPr>
          <p:cNvPr id="10" name="Rectangle 9"/>
          <p:cNvSpPr/>
          <p:nvPr/>
        </p:nvSpPr>
        <p:spPr>
          <a:xfrm>
            <a:off x="2346805" y="4453666"/>
            <a:ext cx="7726572" cy="1354217"/>
          </a:xfrm>
          <a:prstGeom prst="rect">
            <a:avLst/>
          </a:prstGeom>
          <a:solidFill>
            <a:schemeClr val="tx1"/>
          </a:solidFill>
        </p:spPr>
        <p:txBody>
          <a:bodyPr wrap="square">
            <a:spAutoFit/>
          </a:bodyPr>
          <a:lstStyle/>
          <a:p>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err="1">
                <a:solidFill>
                  <a:schemeClr val="bg1"/>
                </a:solidFill>
                <a:latin typeface="Courier" charset="0"/>
                <a:ea typeface="Courier" charset="0"/>
                <a:cs typeface="Courier" charset="0"/>
              </a:rPr>
              <a:t>CatForm</a:t>
            </a:r>
            <a:r>
              <a:rPr lang="en-US" sz="1600" b="1" dirty="0">
                <a:solidFill>
                  <a:srgbClr val="000000"/>
                </a:solidFill>
                <a:latin typeface="Courier" charset="0"/>
                <a:ea typeface="Courier" charset="0"/>
                <a:cs typeface="Courier" charset="0"/>
              </a:rPr>
              <a:t>(</a:t>
            </a:r>
            <a:r>
              <a:rPr lang="en-US" sz="1600" b="1" dirty="0" err="1">
                <a:solidFill>
                  <a:srgbClr val="000000"/>
                </a:solidFill>
                <a:latin typeface="Courier" charset="0"/>
                <a:ea typeface="Courier" charset="0"/>
                <a:cs typeface="Courier" charset="0"/>
              </a:rPr>
              <a:t>ModelForm</a:t>
            </a:r>
            <a:r>
              <a:rPr lang="en-US" sz="1600" b="1" dirty="0">
                <a:solidFill>
                  <a:srgbClr val="000000"/>
                </a:solidFill>
                <a:latin typeface="Courier" charset="0"/>
                <a:ea typeface="Courier" charset="0"/>
                <a:cs typeface="Courier" charset="0"/>
              </a:rPr>
              <a:t>):</a:t>
            </a:r>
          </a:p>
          <a:p>
            <a:r>
              <a:rPr lang="en-US" sz="1600" b="1" dirty="0">
                <a:solidFill>
                  <a:srgbClr val="000000"/>
                </a:solidFill>
                <a:latin typeface="Courier" charset="0"/>
                <a:ea typeface="Courier" charset="0"/>
                <a:cs typeface="Courier" charset="0"/>
              </a:rPr>
              <a:t>    </a:t>
            </a:r>
            <a:r>
              <a:rPr lang="en-US" sz="1600" b="1" dirty="0">
                <a:solidFill>
                  <a:srgbClr val="C1651C"/>
                </a:solidFill>
                <a:latin typeface="Courier" charset="0"/>
                <a:ea typeface="Courier" charset="0"/>
                <a:cs typeface="Courier" charset="0"/>
              </a:rPr>
              <a:t>class</a:t>
            </a:r>
            <a:r>
              <a:rPr lang="en-US" sz="1600" b="1" dirty="0">
                <a:solidFill>
                  <a:srgbClr val="000000"/>
                </a:solidFill>
                <a:latin typeface="Courier" charset="0"/>
                <a:ea typeface="Courier" charset="0"/>
                <a:cs typeface="Courier" charset="0"/>
              </a:rPr>
              <a:t> </a:t>
            </a:r>
            <a:r>
              <a:rPr lang="en-US" sz="1600" b="1" dirty="0">
                <a:solidFill>
                  <a:schemeClr val="bg1"/>
                </a:solidFill>
                <a:latin typeface="Courier" charset="0"/>
                <a:ea typeface="Courier" charset="0"/>
                <a:cs typeface="Courier" charset="0"/>
              </a:rPr>
              <a:t>Meta</a:t>
            </a:r>
            <a:r>
              <a:rPr lang="en-US" sz="1600" b="1" dirty="0">
                <a:solidFill>
                  <a:srgbClr val="000000"/>
                </a:solidFill>
                <a:latin typeface="Courier" charset="0"/>
                <a:ea typeface="Courier" charset="0"/>
                <a:cs typeface="Courier" charset="0"/>
              </a:rPr>
              <a:t>:</a:t>
            </a:r>
          </a:p>
          <a:p>
            <a:r>
              <a:rPr lang="mr-IN" sz="1600" b="1" dirty="0">
                <a:solidFill>
                  <a:srgbClr val="000000"/>
                </a:solidFill>
                <a:latin typeface="Courier" charset="0"/>
                <a:ea typeface="Courier" charset="0"/>
                <a:cs typeface="Courier" charset="0"/>
              </a:rPr>
              <a:t>        </a:t>
            </a:r>
            <a:r>
              <a:rPr lang="mr-IN" sz="1600" b="1" dirty="0" err="1">
                <a:solidFill>
                  <a:srgbClr val="000000"/>
                </a:solidFill>
                <a:latin typeface="Courier" charset="0"/>
                <a:ea typeface="Courier" charset="0"/>
                <a:cs typeface="Courier" charset="0"/>
              </a:rPr>
              <a:t>model</a:t>
            </a:r>
            <a:r>
              <a:rPr lang="mr-IN" sz="1600" b="1" dirty="0">
                <a:solidFill>
                  <a:srgbClr val="000000"/>
                </a:solidFill>
                <a:latin typeface="Courier" charset="0"/>
                <a:ea typeface="Courier" charset="0"/>
                <a:cs typeface="Courier" charset="0"/>
              </a:rPr>
              <a:t> = </a:t>
            </a:r>
            <a:r>
              <a:rPr lang="mr-IN" sz="1600" b="1" dirty="0" err="1">
                <a:solidFill>
                  <a:srgbClr val="000000"/>
                </a:solidFill>
                <a:latin typeface="Courier" charset="0"/>
                <a:ea typeface="Courier" charset="0"/>
                <a:cs typeface="Courier" charset="0"/>
              </a:rPr>
              <a:t>Cat</a:t>
            </a:r>
            <a:endParaRPr lang="en-US" sz="1600" b="1" dirty="0">
              <a:solidFill>
                <a:srgbClr val="000000"/>
              </a:solidFill>
              <a:latin typeface="Courier" charset="0"/>
              <a:ea typeface="Courier" charset="0"/>
              <a:cs typeface="Courier" charset="0"/>
            </a:endParaRPr>
          </a:p>
          <a:p>
            <a:r>
              <a:rPr lang="en-US" sz="1600" b="1" dirty="0">
                <a:solidFill>
                  <a:srgbClr val="000000"/>
                </a:solidFill>
                <a:latin typeface="Courier" charset="0"/>
                <a:ea typeface="Courier" charset="0"/>
                <a:cs typeface="Courier" charset="0"/>
              </a:rPr>
              <a:t>        </a:t>
            </a:r>
            <a:r>
              <a:rPr lang="mr-IN" sz="1600" b="1" dirty="0">
                <a:solidFill>
                  <a:srgbClr val="400BD9"/>
                </a:solidFill>
                <a:latin typeface="Courier" charset="0"/>
                <a:ea typeface="Courier" charset="0"/>
                <a:cs typeface="Courier" charset="0"/>
              </a:rPr>
              <a:t># </a:t>
            </a:r>
            <a:r>
              <a:rPr lang="mr-IN" sz="1600" b="1" dirty="0" err="1">
                <a:solidFill>
                  <a:srgbClr val="400BD9"/>
                </a:solidFill>
                <a:latin typeface="Courier" charset="0"/>
                <a:ea typeface="Courier" charset="0"/>
                <a:cs typeface="Courier" charset="0"/>
              </a:rPr>
              <a:t>fields</a:t>
            </a:r>
            <a:r>
              <a:rPr lang="mr-IN" sz="1600" b="1" dirty="0">
                <a:solidFill>
                  <a:srgbClr val="400BD9"/>
                </a:solidFill>
                <a:latin typeface="Courier" charset="0"/>
                <a:ea typeface="Courier" charset="0"/>
                <a:cs typeface="Courier" charset="0"/>
              </a:rPr>
              <a:t> = ['</a:t>
            </a:r>
            <a:r>
              <a:rPr lang="mr-IN" sz="1600" b="1" dirty="0" err="1">
                <a:solidFill>
                  <a:srgbClr val="400BD9"/>
                </a:solidFill>
                <a:latin typeface="Courier" charset="0"/>
                <a:ea typeface="Courier" charset="0"/>
                <a:cs typeface="Courier" charset="0"/>
              </a:rPr>
              <a:t>name</a:t>
            </a:r>
            <a:r>
              <a:rPr lang="mr-IN" sz="1600" b="1" dirty="0">
                <a:solidFill>
                  <a:srgbClr val="400BD9"/>
                </a:solidFill>
                <a:latin typeface="Courier" charset="0"/>
                <a:ea typeface="Courier" charset="0"/>
                <a:cs typeface="Courier" charset="0"/>
              </a:rPr>
              <a:t>', '</a:t>
            </a:r>
            <a:r>
              <a:rPr lang="mr-IN" sz="1600" b="1" dirty="0" err="1">
                <a:solidFill>
                  <a:srgbClr val="400BD9"/>
                </a:solidFill>
                <a:latin typeface="Courier" charset="0"/>
                <a:ea typeface="Courier" charset="0"/>
                <a:cs typeface="Courier" charset="0"/>
              </a:rPr>
              <a:t>breed</a:t>
            </a:r>
            <a:r>
              <a:rPr lang="mr-IN" sz="1600" b="1" dirty="0">
                <a:solidFill>
                  <a:srgbClr val="400BD9"/>
                </a:solidFill>
                <a:latin typeface="Courier" charset="0"/>
                <a:ea typeface="Courier" charset="0"/>
                <a:cs typeface="Courier" charset="0"/>
              </a:rPr>
              <a:t>', '</a:t>
            </a:r>
            <a:r>
              <a:rPr lang="mr-IN" sz="1600" b="1" dirty="0" err="1">
                <a:solidFill>
                  <a:srgbClr val="400BD9"/>
                </a:solidFill>
                <a:latin typeface="Courier" charset="0"/>
                <a:ea typeface="Courier" charset="0"/>
                <a:cs typeface="Courier" charset="0"/>
              </a:rPr>
              <a:t>comments</a:t>
            </a:r>
            <a:r>
              <a:rPr lang="mr-IN" sz="1600" b="1" dirty="0">
                <a:solidFill>
                  <a:srgbClr val="400BD9"/>
                </a:solidFill>
                <a:latin typeface="Courier" charset="0"/>
                <a:ea typeface="Courier" charset="0"/>
                <a:cs typeface="Courier" charset="0"/>
              </a:rPr>
              <a:t>']</a:t>
            </a:r>
            <a:r>
              <a:rPr lang="mr-IN" sz="1600" b="1" dirty="0">
                <a:solidFill>
                  <a:srgbClr val="000000"/>
                </a:solidFill>
                <a:latin typeface="Courier" charset="0"/>
                <a:ea typeface="Courier" charset="0"/>
                <a:cs typeface="Courier" charset="0"/>
              </a:rPr>
              <a:t> </a:t>
            </a:r>
            <a:endParaRPr lang="en-US" sz="1600" b="1" dirty="0">
              <a:solidFill>
                <a:srgbClr val="000000"/>
              </a:solidFill>
              <a:latin typeface="Courier" charset="0"/>
              <a:ea typeface="Courier" charset="0"/>
              <a:cs typeface="Courier" charset="0"/>
            </a:endParaRPr>
          </a:p>
          <a:p>
            <a:r>
              <a:rPr lang="mr-IN" sz="1600" b="1" dirty="0">
                <a:solidFill>
                  <a:srgbClr val="000000"/>
                </a:solidFill>
                <a:latin typeface="Courier" charset="0"/>
                <a:ea typeface="Courier" charset="0"/>
                <a:cs typeface="Courier" charset="0"/>
              </a:rPr>
              <a:t>       </a:t>
            </a:r>
            <a:r>
              <a:rPr lang="en-US" sz="1600" b="1" dirty="0">
                <a:solidFill>
                  <a:srgbClr val="000000"/>
                </a:solidFill>
                <a:latin typeface="Courier" charset="0"/>
                <a:ea typeface="Courier" charset="0"/>
                <a:cs typeface="Courier" charset="0"/>
              </a:rPr>
              <a:t> </a:t>
            </a:r>
            <a:r>
              <a:rPr lang="mr-IN" sz="1600" b="1" dirty="0" err="1">
                <a:solidFill>
                  <a:srgbClr val="000000"/>
                </a:solidFill>
                <a:latin typeface="Courier" charset="0"/>
                <a:ea typeface="Courier" charset="0"/>
                <a:cs typeface="Courier" charset="0"/>
              </a:rPr>
              <a:t>fields</a:t>
            </a:r>
            <a:r>
              <a:rPr lang="mr-IN" sz="1600" b="1" dirty="0">
                <a:solidFill>
                  <a:srgbClr val="000000"/>
                </a:solidFill>
                <a:latin typeface="Courier" charset="0"/>
                <a:ea typeface="Courier" charset="0"/>
                <a:cs typeface="Courier" charset="0"/>
              </a:rPr>
              <a:t> = </a:t>
            </a:r>
            <a:r>
              <a:rPr lang="mr-IN" sz="1600" b="1" dirty="0">
                <a:solidFill>
                  <a:srgbClr val="B42419"/>
                </a:solidFill>
                <a:latin typeface="Courier" charset="0"/>
                <a:ea typeface="Courier" charset="0"/>
                <a:cs typeface="Courier" charset="0"/>
              </a:rPr>
              <a:t>'__</a:t>
            </a:r>
            <a:r>
              <a:rPr lang="mr-IN" sz="1600" b="1" dirty="0" err="1">
                <a:solidFill>
                  <a:srgbClr val="B42419"/>
                </a:solidFill>
                <a:latin typeface="Courier" charset="0"/>
                <a:ea typeface="Courier" charset="0"/>
                <a:cs typeface="Courier" charset="0"/>
              </a:rPr>
              <a:t>all</a:t>
            </a:r>
            <a:r>
              <a:rPr lang="mr-IN" sz="1600" b="1" dirty="0">
                <a:solidFill>
                  <a:srgbClr val="B42419"/>
                </a:solidFill>
                <a:latin typeface="Courier" charset="0"/>
                <a:ea typeface="Courier" charset="0"/>
                <a:cs typeface="Courier" charset="0"/>
              </a:rPr>
              <a:t>__'</a:t>
            </a:r>
            <a:endParaRPr lang="en-US" sz="1600" b="1" dirty="0">
              <a:solidFill>
                <a:srgbClr val="000000"/>
              </a:solidFill>
              <a:latin typeface="Courier" charset="0"/>
              <a:ea typeface="Courier" charset="0"/>
              <a:cs typeface="Courier" charset="0"/>
            </a:endParaRPr>
          </a:p>
        </p:txBody>
      </p:sp>
    </p:spTree>
    <p:extLst>
      <p:ext uri="{BB962C8B-B14F-4D97-AF65-F5344CB8AC3E}">
        <p14:creationId xmlns:p14="http://schemas.microsoft.com/office/powerpoint/2010/main" val="1585581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83E31-AE01-2A77-4F3D-6754836E4484}"/>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The </a:t>
            </a:r>
            <a:r>
              <a:rPr lang="en-US" dirty="0" err="1"/>
              <a:t>CatCreate</a:t>
            </a:r>
            <a:r>
              <a:rPr lang="en-US" dirty="0"/>
              <a:t> view</a:t>
            </a:r>
          </a:p>
        </p:txBody>
      </p:sp>
      <p:sp>
        <p:nvSpPr>
          <p:cNvPr id="5" name="Rectangle 4"/>
          <p:cNvSpPr/>
          <p:nvPr/>
        </p:nvSpPr>
        <p:spPr>
          <a:xfrm>
            <a:off x="1971676" y="811417"/>
            <a:ext cx="3768980"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views.py</a:t>
            </a:r>
            <a:endParaRPr lang="en-US" dirty="0">
              <a:solidFill>
                <a:srgbClr val="FFFF00"/>
              </a:solidFill>
              <a:effectLst/>
              <a:latin typeface="Courier" charset="0"/>
              <a:ea typeface="Courier" charset="0"/>
              <a:cs typeface="Courier" charset="0"/>
            </a:endParaRPr>
          </a:p>
        </p:txBody>
      </p:sp>
      <p:sp>
        <p:nvSpPr>
          <p:cNvPr id="4" name="TextBox 3"/>
          <p:cNvSpPr txBox="1"/>
          <p:nvPr/>
        </p:nvSpPr>
        <p:spPr>
          <a:xfrm>
            <a:off x="1971676" y="1343023"/>
            <a:ext cx="8133958" cy="4524315"/>
          </a:xfrm>
          <a:prstGeom prst="rect">
            <a:avLst/>
          </a:prstGeom>
          <a:solidFill>
            <a:schemeClr val="tx1"/>
          </a:solidFill>
        </p:spPr>
        <p:txBody>
          <a:bodyPr wrap="none" rtlCol="0">
            <a:spAutoFit/>
          </a:bodyPr>
          <a:lstStyle/>
          <a:p>
            <a:r>
              <a:rPr lang="en-US" b="1" dirty="0">
                <a:solidFill>
                  <a:srgbClr val="C1651C"/>
                </a:solidFill>
                <a:latin typeface="Courier" charset="0"/>
                <a:ea typeface="Courier" charset="0"/>
                <a:cs typeface="Courier" charset="0"/>
              </a:rPr>
              <a:t>class</a:t>
            </a:r>
            <a:r>
              <a:rPr lang="en-US" b="1" dirty="0">
                <a:solidFill>
                  <a:srgbClr val="000000"/>
                </a:solidFill>
                <a:latin typeface="Courier" charset="0"/>
                <a:ea typeface="Courier" charset="0"/>
                <a:cs typeface="Courier" charset="0"/>
              </a:rPr>
              <a:t> </a:t>
            </a:r>
            <a:r>
              <a:rPr lang="en-US" b="1" dirty="0" err="1">
                <a:solidFill>
                  <a:schemeClr val="bg1"/>
                </a:solidFill>
                <a:latin typeface="Courier" charset="0"/>
                <a:ea typeface="Courier" charset="0"/>
                <a:cs typeface="Courier" charset="0"/>
              </a:rPr>
              <a:t>CatCreate</a:t>
            </a:r>
            <a:r>
              <a:rPr lang="en-US" b="1" dirty="0">
                <a:solidFill>
                  <a:srgbClr val="000000"/>
                </a:solidFill>
                <a:latin typeface="Courier" charset="0"/>
                <a:ea typeface="Courier" charset="0"/>
                <a:cs typeface="Courier" charset="0"/>
              </a:rPr>
              <a:t>(View):</a:t>
            </a:r>
          </a:p>
          <a:p>
            <a:r>
              <a:rPr lang="en-US" b="1" dirty="0">
                <a:solidFill>
                  <a:srgbClr val="000000"/>
                </a:solidFill>
                <a:latin typeface="Courier" charset="0"/>
                <a:ea typeface="Courier" charset="0"/>
                <a:cs typeface="Courier" charset="0"/>
              </a:rPr>
              <a:t>    </a:t>
            </a:r>
            <a:r>
              <a:rPr lang="en-US" b="1" dirty="0" err="1">
                <a:solidFill>
                  <a:srgbClr val="C1651C"/>
                </a:solidFill>
                <a:latin typeface="Courier" charset="0"/>
                <a:ea typeface="Courier" charset="0"/>
                <a:cs typeface="Courier" charset="0"/>
              </a:rPr>
              <a:t>def</a:t>
            </a:r>
            <a:r>
              <a:rPr lang="en-US" b="1" dirty="0">
                <a:solidFill>
                  <a:srgbClr val="000000"/>
                </a:solidFill>
                <a:latin typeface="Courier" charset="0"/>
                <a:ea typeface="Courier" charset="0"/>
                <a:cs typeface="Courier" charset="0"/>
              </a:rPr>
              <a:t> </a:t>
            </a:r>
            <a:r>
              <a:rPr lang="en-US" b="1" dirty="0">
                <a:solidFill>
                  <a:schemeClr val="bg1"/>
                </a:solidFill>
                <a:latin typeface="Courier" charset="0"/>
                <a:ea typeface="Courier" charset="0"/>
                <a:cs typeface="Courier" charset="0"/>
              </a:rPr>
              <a:t>get</a:t>
            </a:r>
            <a:r>
              <a:rPr lang="en-US" b="1" dirty="0">
                <a:solidFill>
                  <a:srgbClr val="000000"/>
                </a:solidFill>
                <a:latin typeface="Courier" charset="0"/>
                <a:ea typeface="Courier" charset="0"/>
                <a:cs typeface="Courier" charset="0"/>
              </a:rPr>
              <a:t>(self, request) :</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CatForm</a:t>
            </a:r>
            <a:r>
              <a:rPr lang="mr-IN"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ctx</a:t>
            </a:r>
            <a:r>
              <a:rPr lang="mr-IN" b="1" dirty="0">
                <a:solidFill>
                  <a:srgbClr val="000000"/>
                </a:solidFill>
                <a:latin typeface="Courier" charset="0"/>
                <a:ea typeface="Courier" charset="0"/>
                <a:cs typeface="Courier" charset="0"/>
              </a:rPr>
              <a:t> =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render(request, </a:t>
            </a:r>
            <a:r>
              <a:rPr lang="en-US" b="1" dirty="0">
                <a:solidFill>
                  <a:srgbClr val="B42419"/>
                </a:solidFill>
                <a:latin typeface="Courier" charset="0"/>
                <a:ea typeface="Courier" charset="0"/>
                <a:cs typeface="Courier" charset="0"/>
              </a:rPr>
              <a:t>'form/</a:t>
            </a:r>
            <a:r>
              <a:rPr lang="en-US" b="1" dirty="0" err="1">
                <a:solidFill>
                  <a:srgbClr val="B42419"/>
                </a:solidFill>
                <a:latin typeface="Courier" charset="0"/>
                <a:ea typeface="Courier" charset="0"/>
                <a:cs typeface="Courier" charset="0"/>
              </a:rPr>
              <a:t>form.html</a:t>
            </a:r>
            <a:r>
              <a:rPr lang="en-US" b="1" dirty="0">
                <a:solidFill>
                  <a:srgbClr val="B42419"/>
                </a:solidFill>
                <a:latin typeface="Courier" charset="0"/>
                <a:ea typeface="Courier" charset="0"/>
                <a:cs typeface="Courier" charset="0"/>
              </a:rPr>
              <a: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ctx</a:t>
            </a:r>
            <a:r>
              <a:rPr lang="en-US" b="1" dirty="0">
                <a:solidFill>
                  <a:srgbClr val="000000"/>
                </a:solidFill>
                <a:latin typeface="Courier" charset="0"/>
                <a:ea typeface="Courier" charset="0"/>
                <a:cs typeface="Courier" charset="0"/>
              </a:rPr>
              <a:t>)</a:t>
            </a:r>
          </a:p>
          <a:p>
            <a:endParaRPr lang="en-US" b="1" dirty="0">
              <a:solidFill>
                <a:srgbClr val="000000"/>
              </a:solidFill>
              <a:latin typeface="Courier" charset="0"/>
              <a:ea typeface="Courier" charset="0"/>
              <a:cs typeface="Courier" charset="0"/>
            </a:endParaRPr>
          </a:p>
          <a:p>
            <a:r>
              <a:rPr lang="en-US" b="1" dirty="0">
                <a:solidFill>
                  <a:srgbClr val="000000"/>
                </a:solidFill>
                <a:latin typeface="Courier" charset="0"/>
                <a:ea typeface="Courier" charset="0"/>
                <a:cs typeface="Courier" charset="0"/>
              </a:rPr>
              <a:t>    </a:t>
            </a:r>
            <a:r>
              <a:rPr lang="en-US" b="1" dirty="0" err="1">
                <a:solidFill>
                  <a:srgbClr val="C1651C"/>
                </a:solidFill>
                <a:latin typeface="Courier" charset="0"/>
                <a:ea typeface="Courier" charset="0"/>
                <a:cs typeface="Courier" charset="0"/>
              </a:rPr>
              <a:t>def</a:t>
            </a:r>
            <a:r>
              <a:rPr lang="en-US" b="1" dirty="0">
                <a:solidFill>
                  <a:srgbClr val="000000"/>
                </a:solidFill>
                <a:latin typeface="Courier" charset="0"/>
                <a:ea typeface="Courier" charset="0"/>
                <a:cs typeface="Courier" charset="0"/>
              </a:rPr>
              <a:t> </a:t>
            </a:r>
            <a:r>
              <a:rPr lang="en-US" b="1" dirty="0">
                <a:solidFill>
                  <a:schemeClr val="bg1"/>
                </a:solidFill>
                <a:latin typeface="Courier" charset="0"/>
                <a:ea typeface="Courier" charset="0"/>
                <a:cs typeface="Courier" charset="0"/>
              </a:rPr>
              <a:t>post</a:t>
            </a:r>
            <a:r>
              <a:rPr lang="en-US" b="1" dirty="0">
                <a:solidFill>
                  <a:srgbClr val="000000"/>
                </a:solidFill>
                <a:latin typeface="Courier" charset="0"/>
                <a:ea typeface="Courier" charset="0"/>
                <a:cs typeface="Courier" charset="0"/>
              </a:rPr>
              <a:t>(self, request) :</a:t>
            </a:r>
          </a:p>
          <a:p>
            <a:r>
              <a:rPr lang="en-US" b="1" dirty="0">
                <a:solidFill>
                  <a:srgbClr val="000000"/>
                </a:solidFill>
                <a:latin typeface="Courier" charset="0"/>
                <a:ea typeface="Courier" charset="0"/>
                <a:cs typeface="Courier" charset="0"/>
              </a:rPr>
              <a:t>        form = </a:t>
            </a:r>
            <a:r>
              <a:rPr lang="en-US" b="1" dirty="0" err="1">
                <a:solidFill>
                  <a:srgbClr val="000000"/>
                </a:solidFill>
                <a:latin typeface="Courier" charset="0"/>
                <a:ea typeface="Courier" charset="0"/>
                <a:cs typeface="Courier" charset="0"/>
              </a:rPr>
              <a:t>CatForm</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request.POST</a:t>
            </a:r>
            <a:r>
              <a:rPr lang="en-US"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if</a:t>
            </a:r>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not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form.is_valid</a:t>
            </a:r>
            <a:r>
              <a:rPr lang="en-US" b="1" dirty="0">
                <a:solidFill>
                  <a:srgbClr val="000000"/>
                </a:solidFill>
                <a:latin typeface="Courier" charset="0"/>
                <a:ea typeface="Courier" charset="0"/>
                <a:cs typeface="Courier" charset="0"/>
              </a:rPr>
              <a:t>() :</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ctx</a:t>
            </a:r>
            <a:r>
              <a:rPr lang="mr-IN" b="1" dirty="0">
                <a:solidFill>
                  <a:srgbClr val="000000"/>
                </a:solidFill>
                <a:latin typeface="Courier" charset="0"/>
                <a:ea typeface="Courier" charset="0"/>
                <a:cs typeface="Courier" charset="0"/>
              </a:rPr>
              <a:t> =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render(request, </a:t>
            </a:r>
            <a:r>
              <a:rPr lang="en-US" b="1" dirty="0">
                <a:solidFill>
                  <a:srgbClr val="B42419"/>
                </a:solidFill>
                <a:latin typeface="Courier" charset="0"/>
                <a:ea typeface="Courier" charset="0"/>
                <a:cs typeface="Courier" charset="0"/>
              </a:rPr>
              <a:t>'form/</a:t>
            </a:r>
            <a:r>
              <a:rPr lang="en-US" b="1" dirty="0" err="1">
                <a:solidFill>
                  <a:srgbClr val="B42419"/>
                </a:solidFill>
                <a:latin typeface="Courier" charset="0"/>
                <a:ea typeface="Courier" charset="0"/>
                <a:cs typeface="Courier" charset="0"/>
              </a:rPr>
              <a:t>form.html</a:t>
            </a:r>
            <a:r>
              <a:rPr lang="en-US" b="1" dirty="0">
                <a:solidFill>
                  <a:srgbClr val="B42419"/>
                </a:solidFill>
                <a:latin typeface="Courier" charset="0"/>
                <a:ea typeface="Courier" charset="0"/>
                <a:cs typeface="Courier" charset="0"/>
              </a:rPr>
              <a: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ctx</a:t>
            </a:r>
            <a:r>
              <a:rPr lang="en-US" b="1" dirty="0">
                <a:solidFill>
                  <a:srgbClr val="000000"/>
                </a:solidFill>
                <a:latin typeface="Courier" charset="0"/>
                <a:ea typeface="Courier" charset="0"/>
                <a:cs typeface="Courier" charset="0"/>
              </a:rPr>
              <a:t>)</a:t>
            </a:r>
          </a:p>
          <a:p>
            <a:endParaRPr lang="en-US" b="1" dirty="0">
              <a:solidFill>
                <a:srgbClr val="000000"/>
              </a:solidFill>
              <a:latin typeface="Courier" charset="0"/>
              <a:ea typeface="Courier" charset="0"/>
              <a:cs typeface="Courier" charset="0"/>
            </a:endParaRPr>
          </a:p>
          <a:p>
            <a:r>
              <a:rPr lang="en-US" b="1" dirty="0">
                <a:solidFill>
                  <a:srgbClr val="000000"/>
                </a:solidFill>
                <a:latin typeface="Courier" charset="0"/>
                <a:ea typeface="Courier" charset="0"/>
                <a:cs typeface="Courier" charset="0"/>
              </a:rPr>
              <a:t>        </a:t>
            </a:r>
            <a:r>
              <a:rPr lang="en-US" b="1" dirty="0">
                <a:solidFill>
                  <a:srgbClr val="400BD9"/>
                </a:solidFill>
                <a:latin typeface="Courier" charset="0"/>
                <a:ea typeface="Courier" charset="0"/>
                <a:cs typeface="Courier" charset="0"/>
              </a:rPr>
              <a:t># Save the form and get a model object</a:t>
            </a:r>
            <a:endParaRPr lang="en-US" b="1" dirty="0">
              <a:solidFill>
                <a:srgbClr val="000000"/>
              </a:solidFill>
              <a:latin typeface="Courier" charset="0"/>
              <a:ea typeface="Courier" charset="0"/>
              <a:cs typeface="Courier" charset="0"/>
            </a:endParaRPr>
          </a:p>
          <a:p>
            <a:r>
              <a:rPr lang="mr-IN" b="1" dirty="0">
                <a:solidFill>
                  <a:srgbClr val="000000"/>
                </a:solidFill>
                <a:latin typeface="Courier" charset="0"/>
                <a:ea typeface="Courier" charset="0"/>
                <a:cs typeface="Courier" charset="0"/>
              </a:rPr>
              <a:t>        </a:t>
            </a:r>
            <a:r>
              <a:rPr lang="en-US" b="1" dirty="0">
                <a:solidFill>
                  <a:srgbClr val="000000"/>
                </a:solidFill>
                <a:latin typeface="Courier" charset="0"/>
                <a:ea typeface="Courier" charset="0"/>
                <a:cs typeface="Courier" charset="0"/>
              </a:rPr>
              <a:t>new</a:t>
            </a:r>
            <a:r>
              <a:rPr lang="mr-IN" b="1" dirty="0" err="1">
                <a:solidFill>
                  <a:srgbClr val="000000"/>
                </a:solidFill>
                <a:latin typeface="Courier" charset="0"/>
                <a:ea typeface="Courier" charset="0"/>
                <a:cs typeface="Courier" charset="0"/>
              </a:rPr>
              <a:t>cat</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form.save</a:t>
            </a:r>
            <a:r>
              <a:rPr lang="mr-IN"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x</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reverse</a:t>
            </a:r>
            <a:r>
              <a:rPr lang="mr-IN" b="1" dirty="0">
                <a:solidFill>
                  <a:srgbClr val="000000"/>
                </a:solidFill>
                <a:latin typeface="Courier" charset="0"/>
                <a:ea typeface="Courier" charset="0"/>
                <a:cs typeface="Courier" charset="0"/>
              </a:rPr>
              <a:t>(</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form:main</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err="1">
                <a:solidFill>
                  <a:schemeClr val="bg1"/>
                </a:solidFill>
                <a:latin typeface="Courier" charset="0"/>
                <a:ea typeface="Courier" charset="0"/>
                <a:cs typeface="Courier" charset="0"/>
              </a:rPr>
              <a:t>str</a:t>
            </a:r>
            <a:r>
              <a:rPr lang="mr-IN" b="1" dirty="0">
                <a:solidFill>
                  <a:srgbClr val="000000"/>
                </a:solidFill>
                <a:latin typeface="Courier" charset="0"/>
                <a:ea typeface="Courier" charset="0"/>
                <a:cs typeface="Courier" charset="0"/>
              </a:rPr>
              <a:t>(</a:t>
            </a:r>
            <a:r>
              <a:rPr lang="en-US" b="1" dirty="0">
                <a:solidFill>
                  <a:srgbClr val="000000"/>
                </a:solidFill>
                <a:latin typeface="Courier" charset="0"/>
                <a:ea typeface="Courier" charset="0"/>
                <a:cs typeface="Courier" charset="0"/>
              </a:rPr>
              <a:t>new</a:t>
            </a:r>
            <a:r>
              <a:rPr lang="mr-IN" b="1" dirty="0" err="1">
                <a:solidFill>
                  <a:srgbClr val="000000"/>
                </a:solidFill>
                <a:latin typeface="Courier" charset="0"/>
                <a:ea typeface="Courier" charset="0"/>
                <a:cs typeface="Courier" charset="0"/>
              </a:rPr>
              <a:t>cat.id</a:t>
            </a:r>
            <a:r>
              <a:rPr lang="mr-IN"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redirect(x)</a:t>
            </a:r>
            <a:endParaRPr lang="en-US" b="1" dirty="0">
              <a:latin typeface="Courier" charset="0"/>
              <a:ea typeface="Courier" charset="0"/>
              <a:cs typeface="Courier" charset="0"/>
            </a:endParaRPr>
          </a:p>
        </p:txBody>
      </p:sp>
    </p:spTree>
    <p:extLst>
      <p:ext uri="{BB962C8B-B14F-4D97-AF65-F5344CB8AC3E}">
        <p14:creationId xmlns:p14="http://schemas.microsoft.com/office/powerpoint/2010/main" val="1324626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E301A-1E13-5221-55E1-E1EC61D58689}"/>
              </a:ext>
            </a:extLst>
          </p:cNvPr>
          <p:cNvSpPr>
            <a:spLocks noGrp="1"/>
          </p:cNvSpPr>
          <p:nvPr>
            <p:ph type="title" idx="4294967295"/>
          </p:nvPr>
        </p:nvSpPr>
        <p:spPr>
          <a:xfrm>
            <a:off x="838200" y="-1325563"/>
            <a:ext cx="10515600" cy="1325563"/>
          </a:xfrm>
        </p:spPr>
        <p:txBody>
          <a:bodyPr vert="horz" lIns="91440" tIns="45720" rIns="91440" bIns="45720" rtlCol="0" anchor="b">
            <a:normAutofit/>
          </a:bodyPr>
          <a:lstStyle/>
          <a:p>
            <a:r>
              <a:rPr lang="en-US" dirty="0"/>
              <a:t>The </a:t>
            </a:r>
            <a:r>
              <a:rPr lang="en-US" dirty="0" err="1"/>
              <a:t>CatUpdate</a:t>
            </a:r>
            <a:r>
              <a:rPr lang="en-US" dirty="0"/>
              <a:t> View</a:t>
            </a:r>
          </a:p>
        </p:txBody>
      </p:sp>
      <p:sp>
        <p:nvSpPr>
          <p:cNvPr id="5" name="Rectangle 4"/>
          <p:cNvSpPr/>
          <p:nvPr/>
        </p:nvSpPr>
        <p:spPr>
          <a:xfrm>
            <a:off x="1971676" y="811417"/>
            <a:ext cx="3768980" cy="369332"/>
          </a:xfrm>
          <a:prstGeom prst="rect">
            <a:avLst/>
          </a:prstGeom>
        </p:spPr>
        <p:txBody>
          <a:bodyPr wrap="none">
            <a:spAutoFit/>
          </a:bodyPr>
          <a:lstStyle/>
          <a:p>
            <a:r>
              <a:rPr lang="en-US" dirty="0">
                <a:solidFill>
                  <a:srgbClr val="FFFF00"/>
                </a:solidFill>
                <a:latin typeface="Courier" charset="0"/>
                <a:ea typeface="Courier" charset="0"/>
                <a:cs typeface="Courier" charset="0"/>
              </a:rPr>
              <a:t>dj4e-samples/form/</a:t>
            </a:r>
            <a:r>
              <a:rPr lang="en-US" dirty="0" err="1">
                <a:solidFill>
                  <a:srgbClr val="FFFF00"/>
                </a:solidFill>
                <a:latin typeface="Courier" charset="0"/>
                <a:ea typeface="Courier" charset="0"/>
                <a:cs typeface="Courier" charset="0"/>
              </a:rPr>
              <a:t>views.py</a:t>
            </a:r>
            <a:endParaRPr lang="en-US" dirty="0">
              <a:solidFill>
                <a:srgbClr val="FFFF00"/>
              </a:solidFill>
              <a:effectLst/>
              <a:latin typeface="Courier" charset="0"/>
              <a:ea typeface="Courier" charset="0"/>
              <a:cs typeface="Courier" charset="0"/>
            </a:endParaRPr>
          </a:p>
        </p:txBody>
      </p:sp>
      <p:sp>
        <p:nvSpPr>
          <p:cNvPr id="4" name="TextBox 3"/>
          <p:cNvSpPr txBox="1"/>
          <p:nvPr/>
        </p:nvSpPr>
        <p:spPr>
          <a:xfrm>
            <a:off x="1971676" y="1343023"/>
            <a:ext cx="8133958" cy="4801314"/>
          </a:xfrm>
          <a:prstGeom prst="rect">
            <a:avLst/>
          </a:prstGeom>
          <a:solidFill>
            <a:schemeClr val="tx1"/>
          </a:solidFill>
        </p:spPr>
        <p:txBody>
          <a:bodyPr wrap="none" rtlCol="0">
            <a:spAutoFit/>
          </a:bodyPr>
          <a:lstStyle/>
          <a:p>
            <a:r>
              <a:rPr lang="en-US" b="1" dirty="0">
                <a:solidFill>
                  <a:srgbClr val="C1651C"/>
                </a:solidFill>
                <a:latin typeface="Courier" charset="0"/>
                <a:ea typeface="Courier" charset="0"/>
                <a:cs typeface="Courier" charset="0"/>
              </a:rPr>
              <a:t>class</a:t>
            </a:r>
            <a:r>
              <a:rPr lang="en-US" b="1" dirty="0">
                <a:solidFill>
                  <a:srgbClr val="000000"/>
                </a:solidFill>
                <a:latin typeface="Courier" charset="0"/>
                <a:ea typeface="Courier" charset="0"/>
                <a:cs typeface="Courier" charset="0"/>
              </a:rPr>
              <a:t> </a:t>
            </a:r>
            <a:r>
              <a:rPr lang="en-US" b="1" dirty="0" err="1">
                <a:solidFill>
                  <a:schemeClr val="bg1"/>
                </a:solidFill>
                <a:latin typeface="Courier" charset="0"/>
                <a:ea typeface="Courier" charset="0"/>
                <a:cs typeface="Courier" charset="0"/>
              </a:rPr>
              <a:t>CatUpdate</a:t>
            </a:r>
            <a:r>
              <a:rPr lang="en-US" b="1" dirty="0">
                <a:solidFill>
                  <a:srgbClr val="000000"/>
                </a:solidFill>
                <a:latin typeface="Courier" charset="0"/>
                <a:ea typeface="Courier" charset="0"/>
                <a:cs typeface="Courier" charset="0"/>
              </a:rPr>
              <a:t>(View):</a:t>
            </a:r>
          </a:p>
          <a:p>
            <a:r>
              <a:rPr lang="en-US" b="1" dirty="0">
                <a:solidFill>
                  <a:srgbClr val="000000"/>
                </a:solidFill>
                <a:latin typeface="Courier" charset="0"/>
                <a:ea typeface="Courier" charset="0"/>
                <a:cs typeface="Courier" charset="0"/>
              </a:rPr>
              <a:t>    </a:t>
            </a:r>
            <a:r>
              <a:rPr lang="en-US" b="1" dirty="0" err="1">
                <a:solidFill>
                  <a:srgbClr val="C1651C"/>
                </a:solidFill>
                <a:latin typeface="Courier" charset="0"/>
                <a:ea typeface="Courier" charset="0"/>
                <a:cs typeface="Courier" charset="0"/>
              </a:rPr>
              <a:t>def</a:t>
            </a:r>
            <a:r>
              <a:rPr lang="en-US" b="1" dirty="0">
                <a:solidFill>
                  <a:srgbClr val="000000"/>
                </a:solidFill>
                <a:latin typeface="Courier" charset="0"/>
                <a:ea typeface="Courier" charset="0"/>
                <a:cs typeface="Courier" charset="0"/>
              </a:rPr>
              <a:t> </a:t>
            </a:r>
            <a:r>
              <a:rPr lang="en-US" b="1" dirty="0">
                <a:solidFill>
                  <a:schemeClr val="bg1"/>
                </a:solidFill>
                <a:latin typeface="Courier" charset="0"/>
                <a:ea typeface="Courier" charset="0"/>
                <a:cs typeface="Courier" charset="0"/>
              </a:rPr>
              <a:t>get</a:t>
            </a:r>
            <a:r>
              <a:rPr lang="en-US" b="1" dirty="0">
                <a:solidFill>
                  <a:srgbClr val="000000"/>
                </a:solidFill>
                <a:latin typeface="Courier" charset="0"/>
                <a:ea typeface="Courier" charset="0"/>
                <a:cs typeface="Courier" charset="0"/>
              </a:rPr>
              <a:t>(self, request, </a:t>
            </a:r>
            <a:r>
              <a:rPr lang="en-US" b="1" dirty="0" err="1">
                <a:solidFill>
                  <a:srgbClr val="000000"/>
                </a:solidFill>
                <a:latin typeface="Courier" charset="0"/>
                <a:ea typeface="Courier" charset="0"/>
                <a:cs typeface="Courier" charset="0"/>
              </a:rPr>
              <a:t>pk</a:t>
            </a:r>
            <a:r>
              <a:rPr lang="en-US" b="1" dirty="0">
                <a:solidFill>
                  <a:srgbClr val="000000"/>
                </a:solidFill>
                <a:latin typeface="Courier" charset="0"/>
                <a:ea typeface="Courier" charset="0"/>
                <a:cs typeface="Courier" charset="0"/>
              </a:rPr>
              <a:t>) :</a:t>
            </a:r>
          </a:p>
          <a:p>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oldcat</a:t>
            </a:r>
            <a:r>
              <a:rPr lang="en-US" b="1" dirty="0">
                <a:solidFill>
                  <a:srgbClr val="000000"/>
                </a:solidFill>
                <a:latin typeface="Courier" charset="0"/>
                <a:ea typeface="Courier" charset="0"/>
                <a:cs typeface="Courier" charset="0"/>
              </a:rPr>
              <a:t> = get_object_or_404(Cat, </a:t>
            </a:r>
            <a:r>
              <a:rPr lang="en-US" b="1" dirty="0" err="1">
                <a:solidFill>
                  <a:srgbClr val="000000"/>
                </a:solidFill>
                <a:latin typeface="Courier" charset="0"/>
                <a:ea typeface="Courier" charset="0"/>
                <a:cs typeface="Courier" charset="0"/>
              </a:rPr>
              <a:t>pk</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pk</a:t>
            </a:r>
            <a:r>
              <a:rPr lang="en-US"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form = </a:t>
            </a:r>
            <a:r>
              <a:rPr lang="en-US" b="1" dirty="0" err="1">
                <a:solidFill>
                  <a:srgbClr val="000000"/>
                </a:solidFill>
                <a:latin typeface="Courier" charset="0"/>
                <a:ea typeface="Courier" charset="0"/>
                <a:cs typeface="Courier" charset="0"/>
              </a:rPr>
              <a:t>CatForm</a:t>
            </a:r>
            <a:r>
              <a:rPr lang="en-US" b="1" dirty="0">
                <a:solidFill>
                  <a:srgbClr val="000000"/>
                </a:solidFill>
                <a:latin typeface="Courier" charset="0"/>
                <a:ea typeface="Courier" charset="0"/>
                <a:cs typeface="Courier" charset="0"/>
              </a:rPr>
              <a:t>(instance=</a:t>
            </a:r>
            <a:r>
              <a:rPr lang="en-US" b="1" dirty="0" err="1">
                <a:solidFill>
                  <a:srgbClr val="000000"/>
                </a:solidFill>
                <a:latin typeface="Courier" charset="0"/>
                <a:ea typeface="Courier" charset="0"/>
                <a:cs typeface="Courier" charset="0"/>
              </a:rPr>
              <a:t>oldcat</a:t>
            </a:r>
            <a:r>
              <a:rPr lang="en-US"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ctx</a:t>
            </a:r>
            <a:r>
              <a:rPr lang="mr-IN" b="1" dirty="0">
                <a:solidFill>
                  <a:srgbClr val="000000"/>
                </a:solidFill>
                <a:latin typeface="Courier" charset="0"/>
                <a:ea typeface="Courier" charset="0"/>
                <a:cs typeface="Courier" charset="0"/>
              </a:rPr>
              <a:t> = {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 }</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render(request, </a:t>
            </a:r>
            <a:r>
              <a:rPr lang="en-US" b="1" dirty="0">
                <a:solidFill>
                  <a:srgbClr val="B42419"/>
                </a:solidFill>
                <a:latin typeface="Courier" charset="0"/>
                <a:ea typeface="Courier" charset="0"/>
                <a:cs typeface="Courier" charset="0"/>
              </a:rPr>
              <a:t>'form/</a:t>
            </a:r>
            <a:r>
              <a:rPr lang="en-US" b="1" dirty="0" err="1">
                <a:solidFill>
                  <a:srgbClr val="B42419"/>
                </a:solidFill>
                <a:latin typeface="Courier" charset="0"/>
                <a:ea typeface="Courier" charset="0"/>
                <a:cs typeface="Courier" charset="0"/>
              </a:rPr>
              <a:t>form.html</a:t>
            </a:r>
            <a:r>
              <a:rPr lang="en-US" b="1" dirty="0">
                <a:solidFill>
                  <a:srgbClr val="B42419"/>
                </a:solidFill>
                <a:latin typeface="Courier" charset="0"/>
                <a:ea typeface="Courier" charset="0"/>
                <a:cs typeface="Courier" charset="0"/>
              </a:rPr>
              <a: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ctx</a:t>
            </a:r>
            <a:r>
              <a:rPr lang="en-US" b="1" dirty="0">
                <a:solidFill>
                  <a:srgbClr val="000000"/>
                </a:solidFill>
                <a:latin typeface="Courier" charset="0"/>
                <a:ea typeface="Courier" charset="0"/>
                <a:cs typeface="Courier" charset="0"/>
              </a:rPr>
              <a:t>)</a:t>
            </a:r>
          </a:p>
          <a:p>
            <a:endParaRPr lang="en-US" b="1" dirty="0">
              <a:solidFill>
                <a:srgbClr val="000000"/>
              </a:solidFill>
              <a:latin typeface="Courier" charset="0"/>
              <a:ea typeface="Courier" charset="0"/>
              <a:cs typeface="Courier" charset="0"/>
            </a:endParaRPr>
          </a:p>
          <a:p>
            <a:r>
              <a:rPr lang="en-US" b="1" dirty="0">
                <a:solidFill>
                  <a:srgbClr val="000000"/>
                </a:solidFill>
                <a:latin typeface="Courier" charset="0"/>
                <a:ea typeface="Courier" charset="0"/>
                <a:cs typeface="Courier" charset="0"/>
              </a:rPr>
              <a:t>    </a:t>
            </a:r>
            <a:r>
              <a:rPr lang="en-US" b="1" dirty="0" err="1">
                <a:solidFill>
                  <a:srgbClr val="C1651C"/>
                </a:solidFill>
                <a:latin typeface="Courier" charset="0"/>
                <a:ea typeface="Courier" charset="0"/>
                <a:cs typeface="Courier" charset="0"/>
              </a:rPr>
              <a:t>def</a:t>
            </a:r>
            <a:r>
              <a:rPr lang="en-US" b="1" dirty="0">
                <a:solidFill>
                  <a:srgbClr val="000000"/>
                </a:solidFill>
                <a:latin typeface="Courier" charset="0"/>
                <a:ea typeface="Courier" charset="0"/>
                <a:cs typeface="Courier" charset="0"/>
              </a:rPr>
              <a:t> </a:t>
            </a:r>
            <a:r>
              <a:rPr lang="en-US" b="1" dirty="0">
                <a:solidFill>
                  <a:schemeClr val="bg1"/>
                </a:solidFill>
                <a:latin typeface="Courier" charset="0"/>
                <a:ea typeface="Courier" charset="0"/>
                <a:cs typeface="Courier" charset="0"/>
              </a:rPr>
              <a:t>post</a:t>
            </a:r>
            <a:r>
              <a:rPr lang="en-US" b="1" dirty="0">
                <a:solidFill>
                  <a:srgbClr val="000000"/>
                </a:solidFill>
                <a:latin typeface="Courier" charset="0"/>
                <a:ea typeface="Courier" charset="0"/>
                <a:cs typeface="Courier" charset="0"/>
              </a:rPr>
              <a:t>(self, request, </a:t>
            </a:r>
            <a:r>
              <a:rPr lang="en-US" b="1" dirty="0" err="1">
                <a:solidFill>
                  <a:srgbClr val="000000"/>
                </a:solidFill>
                <a:latin typeface="Courier" charset="0"/>
                <a:ea typeface="Courier" charset="0"/>
                <a:cs typeface="Courier" charset="0"/>
              </a:rPr>
              <a:t>pk</a:t>
            </a:r>
            <a:r>
              <a:rPr lang="en-US" b="1" dirty="0">
                <a:solidFill>
                  <a:srgbClr val="000000"/>
                </a:solidFill>
                <a:latin typeface="Courier" charset="0"/>
                <a:ea typeface="Courier" charset="0"/>
                <a:cs typeface="Courier" charset="0"/>
              </a:rPr>
              <a:t>) :</a:t>
            </a:r>
          </a:p>
          <a:p>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oldcat</a:t>
            </a:r>
            <a:r>
              <a:rPr lang="en-US" b="1" dirty="0">
                <a:solidFill>
                  <a:srgbClr val="000000"/>
                </a:solidFill>
                <a:latin typeface="Courier" charset="0"/>
                <a:ea typeface="Courier" charset="0"/>
                <a:cs typeface="Courier" charset="0"/>
              </a:rPr>
              <a:t> = get_object_or_404(Cat, </a:t>
            </a:r>
            <a:r>
              <a:rPr lang="en-US" b="1" dirty="0" err="1">
                <a:solidFill>
                  <a:srgbClr val="000000"/>
                </a:solidFill>
                <a:latin typeface="Courier" charset="0"/>
                <a:ea typeface="Courier" charset="0"/>
                <a:cs typeface="Courier" charset="0"/>
              </a:rPr>
              <a:t>pk</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pk</a:t>
            </a:r>
            <a:r>
              <a:rPr lang="en-US"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form = </a:t>
            </a:r>
            <a:r>
              <a:rPr lang="en-US" b="1" dirty="0" err="1">
                <a:solidFill>
                  <a:srgbClr val="000000"/>
                </a:solidFill>
                <a:latin typeface="Courier" charset="0"/>
                <a:ea typeface="Courier" charset="0"/>
                <a:cs typeface="Courier" charset="0"/>
              </a:rPr>
              <a:t>CatForm</a:t>
            </a:r>
            <a:r>
              <a:rPr lang="en-US" b="1" dirty="0">
                <a:solidFill>
                  <a:srgbClr val="000000"/>
                </a:solidFill>
                <a:latin typeface="Courier" charset="0"/>
                <a:ea typeface="Courier" charset="0"/>
                <a:cs typeface="Courier" charset="0"/>
              </a:rPr>
              <a:t>(</a:t>
            </a:r>
            <a:r>
              <a:rPr lang="en-US" b="1" dirty="0" err="1">
                <a:solidFill>
                  <a:srgbClr val="000000"/>
                </a:solidFill>
                <a:latin typeface="Courier" charset="0"/>
                <a:ea typeface="Courier" charset="0"/>
                <a:cs typeface="Courier" charset="0"/>
              </a:rPr>
              <a:t>request.POST</a:t>
            </a:r>
            <a:r>
              <a:rPr lang="en-US" b="1" dirty="0">
                <a:solidFill>
                  <a:srgbClr val="000000"/>
                </a:solidFill>
                <a:latin typeface="Courier" charset="0"/>
                <a:ea typeface="Courier" charset="0"/>
                <a:cs typeface="Courier" charset="0"/>
              </a:rPr>
              <a:t>, instance=</a:t>
            </a:r>
            <a:r>
              <a:rPr lang="en-US" b="1" dirty="0" err="1">
                <a:solidFill>
                  <a:srgbClr val="000000"/>
                </a:solidFill>
                <a:latin typeface="Courier" charset="0"/>
                <a:ea typeface="Courier" charset="0"/>
                <a:cs typeface="Courier" charset="0"/>
              </a:rPr>
              <a:t>oldcat</a:t>
            </a:r>
            <a:r>
              <a:rPr lang="en-US"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if</a:t>
            </a:r>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not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form.is_valid</a:t>
            </a:r>
            <a:r>
              <a:rPr lang="en-US" b="1" dirty="0">
                <a:solidFill>
                  <a:srgbClr val="000000"/>
                </a:solidFill>
                <a:latin typeface="Courier" charset="0"/>
                <a:ea typeface="Courier" charset="0"/>
                <a:cs typeface="Courier" charset="0"/>
              </a:rPr>
              <a:t>() :</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ctx</a:t>
            </a:r>
            <a:r>
              <a:rPr lang="mr-IN" b="1" dirty="0">
                <a:solidFill>
                  <a:srgbClr val="000000"/>
                </a:solidFill>
                <a:latin typeface="Courier" charset="0"/>
                <a:ea typeface="Courier" charset="0"/>
                <a:cs typeface="Courier" charset="0"/>
              </a:rPr>
              <a:t> = {</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form</a:t>
            </a:r>
            <a:r>
              <a:rPr lang="mr-IN"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render(request, </a:t>
            </a:r>
            <a:r>
              <a:rPr lang="en-US" b="1" dirty="0">
                <a:solidFill>
                  <a:srgbClr val="B42419"/>
                </a:solidFill>
                <a:latin typeface="Courier" charset="0"/>
                <a:ea typeface="Courier" charset="0"/>
                <a:cs typeface="Courier" charset="0"/>
              </a:rPr>
              <a:t>'form/</a:t>
            </a:r>
            <a:r>
              <a:rPr lang="en-US" b="1" dirty="0" err="1">
                <a:solidFill>
                  <a:srgbClr val="B42419"/>
                </a:solidFill>
                <a:latin typeface="Courier" charset="0"/>
                <a:ea typeface="Courier" charset="0"/>
                <a:cs typeface="Courier" charset="0"/>
              </a:rPr>
              <a:t>form.html</a:t>
            </a:r>
            <a:r>
              <a:rPr lang="en-US" b="1" dirty="0">
                <a:solidFill>
                  <a:srgbClr val="B42419"/>
                </a:solidFill>
                <a:latin typeface="Courier" charset="0"/>
                <a:ea typeface="Courier" charset="0"/>
                <a:cs typeface="Courier" charset="0"/>
              </a:rPr>
              <a:t>'</a:t>
            </a:r>
            <a:r>
              <a:rPr lang="en-US"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ctx</a:t>
            </a:r>
            <a:r>
              <a:rPr lang="en-US" b="1" dirty="0">
                <a:solidFill>
                  <a:srgbClr val="000000"/>
                </a:solidFill>
                <a:latin typeface="Courier" charset="0"/>
                <a:ea typeface="Courier" charset="0"/>
                <a:cs typeface="Courier" charset="0"/>
              </a:rPr>
              <a:t>)</a:t>
            </a:r>
          </a:p>
          <a:p>
            <a:endParaRPr lang="en-US" b="1" dirty="0">
              <a:solidFill>
                <a:srgbClr val="000000"/>
              </a:solidFill>
              <a:latin typeface="Courier" charset="0"/>
              <a:ea typeface="Courier" charset="0"/>
              <a:cs typeface="Courier" charset="0"/>
            </a:endParaRPr>
          </a:p>
          <a:p>
            <a:r>
              <a:rPr lang="mr-IN" b="1" dirty="0">
                <a:solidFill>
                  <a:srgbClr val="000000"/>
                </a:solidFill>
                <a:latin typeface="Courier" charset="0"/>
                <a:ea typeface="Courier" charset="0"/>
                <a:cs typeface="Courier" charset="0"/>
              </a:rPr>
              <a:t>        </a:t>
            </a:r>
            <a:r>
              <a:rPr lang="en-US" b="1" dirty="0" err="1">
                <a:solidFill>
                  <a:srgbClr val="000000"/>
                </a:solidFill>
                <a:latin typeface="Courier" charset="0"/>
                <a:ea typeface="Courier" charset="0"/>
                <a:cs typeface="Courier" charset="0"/>
              </a:rPr>
              <a:t>editcat</a:t>
            </a:r>
            <a:r>
              <a:rPr lang="en-US" b="1" dirty="0">
                <a:solidFill>
                  <a:srgbClr val="000000"/>
                </a:solidFill>
                <a:latin typeface="Courier" charset="0"/>
                <a:ea typeface="Courier" charset="0"/>
                <a:cs typeface="Courier" charset="0"/>
              </a:rPr>
              <a:t> </a:t>
            </a:r>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form.save</a:t>
            </a:r>
            <a:r>
              <a:rPr lang="mr-IN" b="1" dirty="0">
                <a:solidFill>
                  <a:srgbClr val="000000"/>
                </a:solidFill>
                <a:latin typeface="Courier" charset="0"/>
                <a:ea typeface="Courier" charset="0"/>
                <a:cs typeface="Courier" charset="0"/>
              </a:rPr>
              <a:t>()</a:t>
            </a:r>
          </a:p>
          <a:p>
            <a:r>
              <a:rPr lang="mr-IN" b="1" dirty="0">
                <a:solidFill>
                  <a:srgbClr val="000000"/>
                </a:solidFill>
                <a:latin typeface="Courier" charset="0"/>
                <a:ea typeface="Courier" charset="0"/>
                <a:cs typeface="Courier" charset="0"/>
              </a:rPr>
              <a:t>        </a:t>
            </a:r>
            <a:r>
              <a:rPr lang="mr-IN" b="1" dirty="0" err="1">
                <a:solidFill>
                  <a:srgbClr val="000000"/>
                </a:solidFill>
                <a:latin typeface="Courier" charset="0"/>
                <a:ea typeface="Courier" charset="0"/>
                <a:cs typeface="Courier" charset="0"/>
              </a:rPr>
              <a:t>x</a:t>
            </a:r>
            <a:r>
              <a:rPr lang="mr-IN" b="1" dirty="0">
                <a:solidFill>
                  <a:srgbClr val="000000"/>
                </a:solidFill>
                <a:latin typeface="Courier" charset="0"/>
                <a:ea typeface="Courier" charset="0"/>
                <a:cs typeface="Courier" charset="0"/>
              </a:rPr>
              <a:t> = </a:t>
            </a:r>
            <a:r>
              <a:rPr lang="mr-IN" b="1" dirty="0" err="1">
                <a:solidFill>
                  <a:srgbClr val="000000"/>
                </a:solidFill>
                <a:latin typeface="Courier" charset="0"/>
                <a:ea typeface="Courier" charset="0"/>
                <a:cs typeface="Courier" charset="0"/>
              </a:rPr>
              <a:t>reverse</a:t>
            </a:r>
            <a:r>
              <a:rPr lang="mr-IN" b="1" dirty="0">
                <a:solidFill>
                  <a:srgbClr val="000000"/>
                </a:solidFill>
                <a:latin typeface="Courier" charset="0"/>
                <a:ea typeface="Courier" charset="0"/>
                <a:cs typeface="Courier" charset="0"/>
              </a:rPr>
              <a:t>(</a:t>
            </a:r>
            <a:r>
              <a:rPr lang="mr-IN" b="1" dirty="0">
                <a:solidFill>
                  <a:srgbClr val="B42419"/>
                </a:solidFill>
                <a:latin typeface="Courier" charset="0"/>
                <a:ea typeface="Courier" charset="0"/>
                <a:cs typeface="Courier" charset="0"/>
              </a:rPr>
              <a:t>'</a:t>
            </a:r>
            <a:r>
              <a:rPr lang="mr-IN" b="1" dirty="0" err="1">
                <a:solidFill>
                  <a:srgbClr val="B42419"/>
                </a:solidFill>
                <a:latin typeface="Courier" charset="0"/>
                <a:ea typeface="Courier" charset="0"/>
                <a:cs typeface="Courier" charset="0"/>
              </a:rPr>
              <a:t>form:main</a:t>
            </a:r>
            <a:r>
              <a:rPr lang="mr-IN" b="1" dirty="0">
                <a:solidFill>
                  <a:srgbClr val="B42419"/>
                </a:solidFill>
                <a:latin typeface="Courier" charset="0"/>
                <a:ea typeface="Courier" charset="0"/>
                <a:cs typeface="Courier" charset="0"/>
              </a:rPr>
              <a:t>'</a:t>
            </a:r>
            <a:r>
              <a:rPr lang="mr-IN" b="1" dirty="0">
                <a:solidFill>
                  <a:srgbClr val="000000"/>
                </a:solidFill>
                <a:latin typeface="Courier" charset="0"/>
                <a:ea typeface="Courier" charset="0"/>
                <a:cs typeface="Courier" charset="0"/>
              </a:rPr>
              <a:t>)</a:t>
            </a:r>
          </a:p>
          <a:p>
            <a:r>
              <a:rPr lang="en-US" b="1" dirty="0">
                <a:solidFill>
                  <a:srgbClr val="000000"/>
                </a:solidFill>
                <a:latin typeface="Courier" charset="0"/>
                <a:ea typeface="Courier" charset="0"/>
                <a:cs typeface="Courier" charset="0"/>
              </a:rPr>
              <a:t>        </a:t>
            </a:r>
            <a:r>
              <a:rPr lang="en-US" b="1" dirty="0">
                <a:solidFill>
                  <a:srgbClr val="C1651C"/>
                </a:solidFill>
                <a:latin typeface="Courier" charset="0"/>
                <a:ea typeface="Courier" charset="0"/>
                <a:cs typeface="Courier" charset="0"/>
              </a:rPr>
              <a:t>return</a:t>
            </a:r>
            <a:r>
              <a:rPr lang="en-US" b="1" dirty="0">
                <a:solidFill>
                  <a:srgbClr val="000000"/>
                </a:solidFill>
                <a:latin typeface="Courier" charset="0"/>
                <a:ea typeface="Courier" charset="0"/>
                <a:cs typeface="Courier" charset="0"/>
              </a:rPr>
              <a:t> redirect(x)</a:t>
            </a:r>
            <a:endParaRPr lang="en-US" b="1" dirty="0">
              <a:latin typeface="Courier" charset="0"/>
              <a:ea typeface="Courier" charset="0"/>
              <a:cs typeface="Courier" charset="0"/>
            </a:endParaRPr>
          </a:p>
        </p:txBody>
      </p:sp>
    </p:spTree>
    <p:extLst>
      <p:ext uri="{BB962C8B-B14F-4D97-AF65-F5344CB8AC3E}">
        <p14:creationId xmlns:p14="http://schemas.microsoft.com/office/powerpoint/2010/main" val="924848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p:txBody>
          <a:bodyPr/>
          <a:lstStyle/>
          <a:p>
            <a:pPr eaLnBrk="1" hangingPunct="1">
              <a:defRPr/>
            </a:pPr>
            <a:r>
              <a:rPr lang="en-US" altLang="x-none" dirty="0">
                <a:solidFill>
                  <a:srgbClr val="FFFF00"/>
                </a:solidFill>
              </a:rPr>
              <a:t>Summary</a:t>
            </a:r>
          </a:p>
        </p:txBody>
      </p:sp>
      <p:sp>
        <p:nvSpPr>
          <p:cNvPr id="27650" name="Rectangle 2"/>
          <p:cNvSpPr>
            <a:spLocks noGrp="1" noChangeArrowheads="1"/>
          </p:cNvSpPr>
          <p:nvPr>
            <p:ph type="body" idx="1"/>
          </p:nvPr>
        </p:nvSpPr>
        <p:spPr/>
        <p:txBody>
          <a:bodyPr/>
          <a:lstStyle/>
          <a:p>
            <a:pPr marL="385365">
              <a:defRPr/>
            </a:pPr>
            <a:r>
              <a:rPr lang="en-US" altLang="x-none" dirty="0"/>
              <a:t>Django forms</a:t>
            </a:r>
          </a:p>
          <a:p>
            <a:pPr marL="385365">
              <a:defRPr/>
            </a:pPr>
            <a:r>
              <a:rPr lang="en-US" altLang="x-none" dirty="0"/>
              <a:t>Form Validation</a:t>
            </a:r>
          </a:p>
          <a:p>
            <a:pPr marL="385365">
              <a:defRPr/>
            </a:pPr>
            <a:r>
              <a:rPr lang="en-US" altLang="x-none"/>
              <a:t>Models and Form</a:t>
            </a:r>
            <a:endParaRPr lang="en-US" altLang="x-none" dirty="0"/>
          </a:p>
        </p:txBody>
      </p:sp>
    </p:spTree>
    <p:extLst>
      <p:ext uri="{BB962C8B-B14F-4D97-AF65-F5344CB8AC3E}">
        <p14:creationId xmlns:p14="http://schemas.microsoft.com/office/powerpoint/2010/main" val="188513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Acknowledgements / Contributions</a:t>
            </a:r>
          </a:p>
        </p:txBody>
      </p:sp>
      <p:sp>
        <p:nvSpPr>
          <p:cNvPr id="8" name="TextBox 4"/>
          <p:cNvSpPr txBox="1">
            <a:spLocks noChangeArrowheads="1"/>
          </p:cNvSpPr>
          <p:nvPr/>
        </p:nvSpPr>
        <p:spPr bwMode="auto">
          <a:xfrm>
            <a:off x="838200" y="1512888"/>
            <a:ext cx="5257800" cy="4401205"/>
          </a:xfrm>
          <a:prstGeom prst="rect">
            <a:avLst/>
          </a:prstGeom>
          <a:noFill/>
          <a:ln>
            <a:noFill/>
          </a:ln>
        </p:spPr>
        <p:txBody>
          <a:bodyPr wrap="square">
            <a:spAutoFit/>
          </a:bodyPr>
          <a:lstStyle>
            <a:lvl1pPr>
              <a:defRPr sz="2000">
                <a:solidFill>
                  <a:srgbClr val="FFFFFF"/>
                </a:solidFill>
                <a:latin typeface="Gill Sans" charset="0"/>
                <a:ea typeface="ヒラギノ角ゴ ProN W3" charset="-128"/>
                <a:sym typeface="Gill Sans" charset="0"/>
              </a:defRPr>
            </a:lvl1pPr>
            <a:lvl2pPr marL="742950" indent="-285750">
              <a:defRPr sz="2000">
                <a:solidFill>
                  <a:srgbClr val="FFFFFF"/>
                </a:solidFill>
                <a:latin typeface="Gill Sans" charset="0"/>
                <a:ea typeface="ヒラギノ角ゴ ProN W3" charset="-128"/>
                <a:sym typeface="Gill Sans" charset="0"/>
              </a:defRPr>
            </a:lvl2pPr>
            <a:lvl3pPr marL="1143000" indent="-228600">
              <a:defRPr sz="2000">
                <a:solidFill>
                  <a:srgbClr val="FFFFFF"/>
                </a:solidFill>
                <a:latin typeface="Gill Sans" charset="0"/>
                <a:ea typeface="ヒラギノ角ゴ ProN W3" charset="-128"/>
                <a:sym typeface="Gill Sans" charset="0"/>
              </a:defRPr>
            </a:lvl3pPr>
            <a:lvl4pPr marL="1600200" indent="-228600">
              <a:defRPr sz="2000">
                <a:solidFill>
                  <a:srgbClr val="FFFFFF"/>
                </a:solidFill>
                <a:latin typeface="Gill Sans" charset="0"/>
                <a:ea typeface="ヒラギノ角ゴ ProN W3" charset="-128"/>
                <a:sym typeface="Gill Sans" charset="0"/>
              </a:defRPr>
            </a:lvl4pPr>
            <a:lvl5pPr marL="2057400" indent="-228600">
              <a:defRPr sz="2000">
                <a:solidFill>
                  <a:srgbClr val="FFFFFF"/>
                </a:solidFill>
                <a:latin typeface="Gill Sans" charset="0"/>
                <a:ea typeface="ヒラギノ角ゴ ProN W3" charset="-128"/>
                <a:sym typeface="Gill Sans" charset="0"/>
              </a:defRPr>
            </a:lvl5pPr>
            <a:lvl6pPr marL="25146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r>
              <a:rPr lang="en-US" altLang="x-none" sz="1400" dirty="0">
                <a:solidFill>
                  <a:schemeClr val="tx1"/>
                </a:solidFill>
              </a:rPr>
              <a:t>These slides are Copyright 2019-  Charles R. Severance (</a:t>
            </a:r>
            <a:r>
              <a:rPr lang="en-US" altLang="x-none" sz="1400" dirty="0" err="1">
                <a:solidFill>
                  <a:schemeClr val="tx1"/>
                </a:solidFill>
              </a:rPr>
              <a:t>www.dr-chuck.com</a:t>
            </a:r>
            <a:r>
              <a:rPr lang="en-US" altLang="x-none" sz="1400" dirty="0">
                <a:solidFill>
                  <a:schemeClr val="tx1"/>
                </a:solidFill>
              </a:rPr>
              <a:t>) as part of www.dj4e.com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pPr eaLnBrk="1" hangingPunct="1"/>
            <a:endParaRPr lang="en-US" altLang="x-none" sz="1400" dirty="0">
              <a:solidFill>
                <a:schemeClr val="tx1"/>
              </a:solidFill>
            </a:endParaRPr>
          </a:p>
          <a:p>
            <a:pPr eaLnBrk="1" hangingPunct="1"/>
            <a:r>
              <a:rPr lang="en-US" altLang="x-none" sz="1400" dirty="0">
                <a:solidFill>
                  <a:schemeClr val="tx1"/>
                </a:solidFill>
              </a:rPr>
              <a:t>Initial Development: Charles Severance, University of Michigan School of Information</a:t>
            </a:r>
          </a:p>
          <a:p>
            <a:pPr eaLnBrk="1" hangingPunct="1"/>
            <a:endParaRPr lang="en-US" altLang="x-none" sz="1400" dirty="0">
              <a:solidFill>
                <a:schemeClr val="tx1"/>
              </a:solidFill>
            </a:endParaRPr>
          </a:p>
          <a:p>
            <a:pPr eaLnBrk="1" hangingPunct="1"/>
            <a:r>
              <a:rPr lang="en-US" altLang="x-none" sz="1400" dirty="0">
                <a:solidFill>
                  <a:srgbClr val="FFCC66"/>
                </a:solidFill>
              </a:rPr>
              <a:t>Insert new Contributors and Translators here including names and dates</a:t>
            </a:r>
          </a:p>
          <a:p>
            <a:pPr eaLnBrk="1" hangingPunct="1"/>
            <a:endParaRPr lang="en-US" altLang="x-none" sz="1400" dirty="0">
              <a:solidFill>
                <a:srgbClr val="7575D1"/>
              </a:solidFill>
            </a:endParaRPr>
          </a:p>
          <a:p>
            <a:pPr eaLnBrk="1" hangingPunct="1"/>
            <a:endParaRPr lang="en-US" altLang="x-none" sz="1400" dirty="0">
              <a:solidFill>
                <a:srgbClr val="7575D1"/>
              </a:solidFill>
            </a:endParaRPr>
          </a:p>
          <a:p>
            <a:pPr eaLnBrk="1" hangingPunct="1"/>
            <a:endParaRPr lang="en-US" altLang="x-none" sz="1400" dirty="0">
              <a:solidFill>
                <a:srgbClr val="7575D1"/>
              </a:solidFill>
            </a:endParaRPr>
          </a:p>
          <a:p>
            <a:pPr eaLnBrk="1" hangingPunct="1"/>
            <a:endParaRPr lang="en-US" altLang="x-none" sz="1400" dirty="0">
              <a:solidFill>
                <a:srgbClr val="7575D1"/>
              </a:solidFill>
            </a:endParaRPr>
          </a:p>
          <a:p>
            <a:pPr eaLnBrk="1" hangingPunct="1"/>
            <a:endParaRPr lang="en-US" altLang="x-none" sz="1400" dirty="0">
              <a:solidFill>
                <a:srgbClr val="7575D1"/>
              </a:solidFill>
            </a:endParaRPr>
          </a:p>
          <a:p>
            <a:pPr eaLnBrk="1" hangingPunct="1"/>
            <a:endParaRPr lang="en-US" altLang="x-none" sz="1400" dirty="0">
              <a:solidFill>
                <a:srgbClr val="7575D1"/>
              </a:solidFill>
            </a:endParaRPr>
          </a:p>
          <a:p>
            <a:pPr eaLnBrk="1" hangingPunct="1"/>
            <a:endParaRPr lang="en-US" altLang="x-none" sz="1400" dirty="0">
              <a:solidFill>
                <a:srgbClr val="7575D1"/>
              </a:solidFill>
            </a:endParaRPr>
          </a:p>
        </p:txBody>
      </p:sp>
      <p:sp>
        <p:nvSpPr>
          <p:cNvPr id="9" name="TextBox 5"/>
          <p:cNvSpPr txBox="1">
            <a:spLocks noChangeArrowheads="1"/>
          </p:cNvSpPr>
          <p:nvPr/>
        </p:nvSpPr>
        <p:spPr bwMode="auto">
          <a:xfrm>
            <a:off x="6310312" y="1512888"/>
            <a:ext cx="5257800" cy="4893647"/>
          </a:xfrm>
          <a:prstGeom prst="rect">
            <a:avLst/>
          </a:prstGeom>
          <a:noFill/>
          <a:ln>
            <a:noFill/>
          </a:ln>
        </p:spPr>
        <p:txBody>
          <a:bodyPr wrap="square">
            <a:spAutoFit/>
          </a:bodyPr>
          <a:lstStyle>
            <a:lvl1pPr>
              <a:defRPr sz="2000">
                <a:solidFill>
                  <a:srgbClr val="FFFFFF"/>
                </a:solidFill>
                <a:latin typeface="Gill Sans" charset="0"/>
                <a:ea typeface="ヒラギノ角ゴ ProN W3" charset="-128"/>
                <a:sym typeface="Gill Sans" charset="0"/>
              </a:defRPr>
            </a:lvl1pPr>
            <a:lvl2pPr marL="742950" indent="-285750">
              <a:defRPr sz="2000">
                <a:solidFill>
                  <a:srgbClr val="FFFFFF"/>
                </a:solidFill>
                <a:latin typeface="Gill Sans" charset="0"/>
                <a:ea typeface="ヒラギノ角ゴ ProN W3" charset="-128"/>
                <a:sym typeface="Gill Sans" charset="0"/>
              </a:defRPr>
            </a:lvl2pPr>
            <a:lvl3pPr marL="1143000" indent="-228600">
              <a:defRPr sz="2000">
                <a:solidFill>
                  <a:srgbClr val="FFFFFF"/>
                </a:solidFill>
                <a:latin typeface="Gill Sans" charset="0"/>
                <a:ea typeface="ヒラギノ角ゴ ProN W3" charset="-128"/>
                <a:sym typeface="Gill Sans" charset="0"/>
              </a:defRPr>
            </a:lvl3pPr>
            <a:lvl4pPr marL="1600200" indent="-228600">
              <a:defRPr sz="2000">
                <a:solidFill>
                  <a:srgbClr val="FFFFFF"/>
                </a:solidFill>
                <a:latin typeface="Gill Sans" charset="0"/>
                <a:ea typeface="ヒラギノ角ゴ ProN W3" charset="-128"/>
                <a:sym typeface="Gill Sans" charset="0"/>
              </a:defRPr>
            </a:lvl4pPr>
            <a:lvl5pPr marL="2057400" indent="-228600">
              <a:defRPr sz="2000">
                <a:solidFill>
                  <a:srgbClr val="FFFFFF"/>
                </a:solidFill>
                <a:latin typeface="Gill Sans" charset="0"/>
                <a:ea typeface="ヒラギノ角ゴ ProN W3" charset="-128"/>
                <a:sym typeface="Gill Sans" charset="0"/>
              </a:defRPr>
            </a:lvl5pPr>
            <a:lvl6pPr marL="25146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algn="ctr" eaLnBrk="1" hangingPunct="1"/>
            <a:r>
              <a:rPr lang="en-US" altLang="x-none" sz="1200" dirty="0">
                <a:solidFill>
                  <a:srgbClr val="FFCC66"/>
                </a:solidFill>
                <a:latin typeface="Helvetica" charset="0"/>
                <a:ea typeface="ＭＳ Ｐゴシック" charset="-128"/>
                <a:sym typeface="Helvetica" charset="0"/>
              </a:rPr>
              <a:t>Continue new Contributors and Translators here</a:t>
            </a: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a:p>
            <a:pPr algn="ctr" eaLnBrk="1" hangingPunct="1"/>
            <a:endParaRPr lang="en-US" altLang="x-none" sz="1200" dirty="0">
              <a:solidFill>
                <a:schemeClr val="tx1"/>
              </a:solidFill>
              <a:latin typeface="Helvetica" charset="0"/>
              <a:ea typeface="ＭＳ Ｐゴシック" charset="-128"/>
              <a:sym typeface="Helvetica" charset="0"/>
            </a:endParaRPr>
          </a:p>
        </p:txBody>
      </p:sp>
    </p:spTree>
    <p:extLst>
      <p:ext uri="{BB962C8B-B14F-4D97-AF65-F5344CB8AC3E}">
        <p14:creationId xmlns:p14="http://schemas.microsoft.com/office/powerpoint/2010/main" val="1048975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1132418" y="640387"/>
            <a:ext cx="9927167" cy="714279"/>
          </a:xfrm>
        </p:spPr>
        <p:txBody>
          <a:bodyPr/>
          <a:lstStyle/>
          <a:p>
            <a:r>
              <a:rPr lang="en-US" altLang="en-US" sz="3733" dirty="0">
                <a:solidFill>
                  <a:srgbClr val="00FF00"/>
                </a:solidFill>
              </a:rPr>
              <a:t>Additional Source Information</a:t>
            </a:r>
          </a:p>
        </p:txBody>
      </p:sp>
      <p:sp>
        <p:nvSpPr>
          <p:cNvPr id="25602" name="Content Placeholder 2"/>
          <p:cNvSpPr>
            <a:spLocks noGrp="1"/>
          </p:cNvSpPr>
          <p:nvPr>
            <p:ph idx="1"/>
          </p:nvPr>
        </p:nvSpPr>
        <p:spPr>
          <a:xfrm>
            <a:off x="1132418" y="1498600"/>
            <a:ext cx="9927167" cy="4464051"/>
          </a:xfrm>
        </p:spPr>
        <p:txBody>
          <a:bodyPr anchor="t">
            <a:normAutofit/>
          </a:bodyPr>
          <a:lstStyle/>
          <a:p>
            <a:pPr>
              <a:buFontTx/>
              <a:buChar char="•"/>
            </a:pPr>
            <a:r>
              <a:rPr lang="en-US" altLang="en-US" sz="1600" dirty="0"/>
              <a:t>Portions of the text of these slides is adapted from the text </a:t>
            </a:r>
            <a:r>
              <a:rPr lang="en-US" altLang="en-US" sz="1600" dirty="0">
                <a:hlinkClick r:id="rId2"/>
              </a:rPr>
              <a:t>www.djangoproject.org</a:t>
            </a:r>
            <a:r>
              <a:rPr lang="en-US" altLang="en-US" sz="1600" dirty="0"/>
              <a:t> web site.  Those slides which use text from that site have a reference to the original text on that site. </a:t>
            </a:r>
            <a:r>
              <a:rPr lang="en-US" sz="1600" dirty="0"/>
              <a:t>Django is licensed under the three-clause BSD license.</a:t>
            </a:r>
            <a:endParaRPr lang="en-US" altLang="en-US" sz="1600" dirty="0"/>
          </a:p>
        </p:txBody>
      </p:sp>
    </p:spTree>
    <p:extLst>
      <p:ext uri="{BB962C8B-B14F-4D97-AF65-F5344CB8AC3E}">
        <p14:creationId xmlns:p14="http://schemas.microsoft.com/office/powerpoint/2010/main" val="1906482747"/>
      </p:ext>
    </p:extLst>
  </p:cSld>
  <p:clrMapOvr>
    <a:masterClrMapping/>
  </p:clrMapOvr>
  <p:transition spd="slow"/>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3180</TotalTime>
  <Words>2707</Words>
  <Application>Microsoft Macintosh PowerPoint</Application>
  <PresentationFormat>Widescreen</PresentationFormat>
  <Paragraphs>435</Paragraphs>
  <Slides>29</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Courier</vt:lpstr>
      <vt:lpstr>Helvetica</vt:lpstr>
      <vt:lpstr>Menlo</vt:lpstr>
      <vt:lpstr>Menlo-Regular</vt:lpstr>
      <vt:lpstr>Office Theme</vt:lpstr>
      <vt:lpstr>Forms in Django</vt:lpstr>
      <vt:lpstr>The Big Picture of a Django Application</vt:lpstr>
      <vt:lpstr>Django's role in forms  (DRY)</vt:lpstr>
      <vt:lpstr>It takes a lot of CSS to make forms pretty</vt:lpstr>
      <vt:lpstr>Form Handling Flow is Actually Complex</vt:lpstr>
      <vt:lpstr>Create Form Flow</vt:lpstr>
      <vt:lpstr>Edit Form Flow</vt:lpstr>
      <vt:lpstr>Delete Form Flow</vt:lpstr>
      <vt:lpstr>Django forms act as "glue"</vt:lpstr>
      <vt:lpstr>A simple form</vt:lpstr>
      <vt:lpstr>Dumping a form object</vt:lpstr>
      <vt:lpstr>A form in a template</vt:lpstr>
      <vt:lpstr>Accessing a form template</vt:lpstr>
      <vt:lpstr>Pulling existing data into a form</vt:lpstr>
      <vt:lpstr>Data Validation in FORMS</vt:lpstr>
      <vt:lpstr>Create Form Flow (Review)</vt:lpstr>
      <vt:lpstr>Form Data Errors</vt:lpstr>
      <vt:lpstr>Django form validation</vt:lpstr>
      <vt:lpstr>The flow of a GET request in a Django view</vt:lpstr>
      <vt:lpstr>The flow of a POST Request in a Django view</vt:lpstr>
      <vt:lpstr>Validation error flow in a Django view</vt:lpstr>
      <vt:lpstr>Models + Forms</vt:lpstr>
      <vt:lpstr>Form Structure is similar to Model Structure</vt:lpstr>
      <vt:lpstr>We can derive a form from a model</vt:lpstr>
      <vt:lpstr>The CatCreate view</vt:lpstr>
      <vt:lpstr>The CatUpdate View</vt:lpstr>
      <vt:lpstr>Summary</vt:lpstr>
      <vt:lpstr>Acknowledgements / Contributions</vt:lpstr>
      <vt:lpstr>Additional Source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Dynamic Web Content</dc:title>
  <dc:creator>Severance, Charles</dc:creator>
  <cp:lastModifiedBy>Severance, Charles</cp:lastModifiedBy>
  <cp:revision>221</cp:revision>
  <dcterms:created xsi:type="dcterms:W3CDTF">2019-01-19T02:12:54Z</dcterms:created>
  <dcterms:modified xsi:type="dcterms:W3CDTF">2026-07-21T14:15:08Z</dcterms:modified>
</cp:coreProperties>
</file>