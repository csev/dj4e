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5" r:id="rId4"/>
    <p:sldId id="263" r:id="rId5"/>
    <p:sldId id="264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4B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65"/>
    <p:restoredTop sz="94511"/>
  </p:normalViewPr>
  <p:slideViewPr>
    <p:cSldViewPr snapToGrid="0" snapToObjects="1">
      <p:cViewPr varScale="1">
        <p:scale>
          <a:sx n="123" d="100"/>
          <a:sy n="123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6F6A4-A735-3141-97AA-DF08CBAB5168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604A58-4508-1148-98EF-6831175F2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29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AE149-BB27-FA42-992B-FEE3681658DC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72C97-1776-2A41-A98D-0464AF43F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05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AE149-BB27-FA42-992B-FEE3681658DC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72C97-1776-2A41-A98D-0464AF43F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60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AE149-BB27-FA42-992B-FEE3681658DC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72C97-1776-2A41-A98D-0464AF43F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AE149-BB27-FA42-992B-FEE3681658DC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72C97-1776-2A41-A98D-0464AF43F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7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AE149-BB27-FA42-992B-FEE3681658DC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72C97-1776-2A41-A98D-0464AF43F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34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AE149-BB27-FA42-992B-FEE3681658DC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72C97-1776-2A41-A98D-0464AF43F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58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AE149-BB27-FA42-992B-FEE3681658DC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72C97-1776-2A41-A98D-0464AF43F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1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AE149-BB27-FA42-992B-FEE3681658DC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72C97-1776-2A41-A98D-0464AF43F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0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AE149-BB27-FA42-992B-FEE3681658DC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72C97-1776-2A41-A98D-0464AF43F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5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AE149-BB27-FA42-992B-FEE3681658DC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72C97-1776-2A41-A98D-0464AF43F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73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AE149-BB27-FA42-992B-FEE3681658DC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72C97-1776-2A41-A98D-0464AF43F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7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AE149-BB27-FA42-992B-FEE3681658DC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72C97-1776-2A41-A98D-0464AF43F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8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oup of people sitting around a table with computers&#10;&#10;AI-generated content may be incorrect.">
            <a:extLst>
              <a:ext uri="{FF2B5EF4-FFF2-40B4-BE49-F238E27FC236}">
                <a16:creationId xmlns:a16="http://schemas.microsoft.com/office/drawing/2014/main" id="{BA042739-06B5-8044-D657-DD719A8EF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27267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How the Auto-grader 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359822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Django for Everybody</a:t>
            </a:r>
          </a:p>
          <a:p>
            <a:r>
              <a:rPr lang="en-US" dirty="0">
                <a:solidFill>
                  <a:srgbClr val="FFFFFF"/>
                </a:solidFill>
              </a:rPr>
              <a:t>www.dj4e.com</a:t>
            </a:r>
          </a:p>
        </p:txBody>
      </p:sp>
    </p:spTree>
    <p:extLst>
      <p:ext uri="{BB962C8B-B14F-4D97-AF65-F5344CB8AC3E}">
        <p14:creationId xmlns:p14="http://schemas.microsoft.com/office/powerpoint/2010/main" val="1262352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FC34-6A65-765B-1BA5-FF7407CEF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</a:t>
            </a:r>
            <a:r>
              <a:rPr lang="en-US" dirty="0" err="1"/>
              <a:t>autograder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AC2D8-C510-AD14-F178-B80779E21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application running on www.dj4e.com launched from Canvas (or Coursera)</a:t>
            </a:r>
          </a:p>
          <a:p>
            <a:r>
              <a:rPr lang="en-US" dirty="0"/>
              <a:t>It contains a simple browser emulator library that can "crawl" a web site under program control</a:t>
            </a:r>
          </a:p>
          <a:p>
            <a:r>
              <a:rPr lang="en-US" dirty="0"/>
              <a:t>It looks at the response from the web site and checks it for the correct response, then continues to the next page</a:t>
            </a:r>
          </a:p>
          <a:p>
            <a:r>
              <a:rPr lang="en-US" dirty="0"/>
              <a:t>If the web site responds correctly to all the requests correctly a grade is sent back to Canvas (or Coursera)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0F4FA8-951E-41BA-470F-67D18D0CC004}"/>
              </a:ext>
            </a:extLst>
          </p:cNvPr>
          <p:cNvSpPr txBox="1"/>
          <p:nvPr/>
        </p:nvSpPr>
        <p:spPr>
          <a:xfrm>
            <a:off x="483843" y="5629945"/>
            <a:ext cx="5772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AI: Tell me how the www.dj4e.com auto-grader works</a:t>
            </a:r>
          </a:p>
        </p:txBody>
      </p:sp>
    </p:spTree>
    <p:extLst>
      <p:ext uri="{BB962C8B-B14F-4D97-AF65-F5344CB8AC3E}">
        <p14:creationId xmlns:p14="http://schemas.microsoft.com/office/powerpoint/2010/main" val="2899340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564C-AE2C-56DD-64E8-A9BEEE351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grader Philosophy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E27FF-A284-81D2-C3E8-BC3237222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it simple</a:t>
            </a:r>
          </a:p>
          <a:p>
            <a:r>
              <a:rPr lang="en-US" dirty="0"/>
              <a:t>Check for basic stuff</a:t>
            </a:r>
          </a:p>
          <a:p>
            <a:r>
              <a:rPr lang="en-US" dirty="0"/>
              <a:t>Lots of feedback (you need to read the output)</a:t>
            </a:r>
          </a:p>
          <a:p>
            <a:r>
              <a:rPr lang="en-US" dirty="0"/>
              <a:t>Check if instructions were followed</a:t>
            </a:r>
          </a:p>
          <a:p>
            <a:r>
              <a:rPr lang="en-US" dirty="0"/>
              <a:t>No guarantee that AI generated code that "looks good in a browser" will pass the auto grader</a:t>
            </a:r>
          </a:p>
          <a:p>
            <a:r>
              <a:rPr lang="en-US" dirty="0"/>
              <a:t>Follow the instructions, do your own work, and the auto-grader will lead you to any bugs you have and give you a grade when they are fixed </a:t>
            </a:r>
          </a:p>
        </p:txBody>
      </p:sp>
    </p:spTree>
    <p:extLst>
      <p:ext uri="{BB962C8B-B14F-4D97-AF65-F5344CB8AC3E}">
        <p14:creationId xmlns:p14="http://schemas.microsoft.com/office/powerpoint/2010/main" val="3429118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5FDC4-12F1-0AE2-3A0C-67F27F61F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9DEF83-57E1-E721-773B-6F947F8863B6}"/>
              </a:ext>
            </a:extLst>
          </p:cNvPr>
          <p:cNvSpPr/>
          <p:nvPr/>
        </p:nvSpPr>
        <p:spPr>
          <a:xfrm>
            <a:off x="8495414" y="861237"/>
            <a:ext cx="3253563" cy="5007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drchuck.pythonanywhere.com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 err="1"/>
              <a:t>settings.py</a:t>
            </a:r>
            <a:endParaRPr lang="en-US" dirty="0"/>
          </a:p>
          <a:p>
            <a:pPr algn="ctr"/>
            <a:r>
              <a:rPr lang="en-US" dirty="0" err="1"/>
              <a:t>mysite</a:t>
            </a:r>
            <a:r>
              <a:rPr lang="en-US" dirty="0"/>
              <a:t>/</a:t>
            </a:r>
            <a:r>
              <a:rPr lang="en-US" dirty="0" err="1"/>
              <a:t>urls.py</a:t>
            </a:r>
            <a:endParaRPr lang="en-US" dirty="0"/>
          </a:p>
          <a:p>
            <a:pPr algn="ctr"/>
            <a:r>
              <a:rPr lang="en-US" dirty="0"/>
              <a:t>polls/</a:t>
            </a:r>
            <a:r>
              <a:rPr lang="en-US" dirty="0" err="1"/>
              <a:t>urls.py</a:t>
            </a:r>
            <a:endParaRPr lang="en-US" dirty="0"/>
          </a:p>
          <a:p>
            <a:pPr algn="ctr"/>
            <a:r>
              <a:rPr lang="en-US" dirty="0"/>
              <a:t>polls/</a:t>
            </a:r>
            <a:r>
              <a:rPr lang="en-US" dirty="0" err="1"/>
              <a:t>views.py</a:t>
            </a:r>
            <a:endParaRPr lang="en-US" dirty="0"/>
          </a:p>
          <a:p>
            <a:pPr algn="ctr"/>
            <a:r>
              <a:rPr lang="en-US" dirty="0"/>
              <a:t>magic codes</a:t>
            </a:r>
          </a:p>
          <a:p>
            <a:pPr algn="ctr"/>
            <a:r>
              <a:rPr lang="en-US" dirty="0"/>
              <a:t>signatures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B1EB2A-6CE4-8139-00EE-F9AC1F53B1EA}"/>
              </a:ext>
            </a:extLst>
          </p:cNvPr>
          <p:cNvSpPr/>
          <p:nvPr/>
        </p:nvSpPr>
        <p:spPr>
          <a:xfrm>
            <a:off x="1981201" y="925032"/>
            <a:ext cx="1431851" cy="5007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Browser</a:t>
            </a:r>
          </a:p>
          <a:p>
            <a:pPr algn="ctr"/>
            <a:r>
              <a:rPr lang="en-US" dirty="0" err="1"/>
              <a:t>FireFox</a:t>
            </a:r>
            <a:endParaRPr lang="en-US" dirty="0"/>
          </a:p>
          <a:p>
            <a:pPr algn="ctr"/>
            <a:r>
              <a:rPr lang="en-US" dirty="0"/>
              <a:t>Chrome</a:t>
            </a:r>
          </a:p>
        </p:txBody>
      </p:sp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45FCBCA5-ACA0-3864-8A5D-CF40FC23C45C}"/>
              </a:ext>
            </a:extLst>
          </p:cNvPr>
          <p:cNvSpPr/>
          <p:nvPr/>
        </p:nvSpPr>
        <p:spPr>
          <a:xfrm>
            <a:off x="3413052" y="1233377"/>
            <a:ext cx="4997301" cy="79744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Develop / Test</a:t>
            </a:r>
          </a:p>
        </p:txBody>
      </p:sp>
      <p:pic>
        <p:nvPicPr>
          <p:cNvPr id="8" name="Picture 7" descr="A person in a black hat and grey jacket&#10;&#10;AI-generated content may be incorrect.">
            <a:extLst>
              <a:ext uri="{FF2B5EF4-FFF2-40B4-BE49-F238E27FC236}">
                <a16:creationId xmlns:a16="http://schemas.microsoft.com/office/drawing/2014/main" id="{22AE014C-4E50-7F37-BB2C-0852578A1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17" y="2695353"/>
            <a:ext cx="914400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D642EF2-B4CD-CC61-9A71-3D1D3F373493}"/>
              </a:ext>
            </a:extLst>
          </p:cNvPr>
          <p:cNvSpPr/>
          <p:nvPr/>
        </p:nvSpPr>
        <p:spPr>
          <a:xfrm>
            <a:off x="5300330" y="2481943"/>
            <a:ext cx="1307805" cy="184550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dj4e.com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F66A7A-6C0A-F342-6792-A179EAA6F862}"/>
              </a:ext>
            </a:extLst>
          </p:cNvPr>
          <p:cNvSpPr/>
          <p:nvPr/>
        </p:nvSpPr>
        <p:spPr>
          <a:xfrm>
            <a:off x="5300330" y="5156791"/>
            <a:ext cx="1307805" cy="712381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Gradebook</a:t>
            </a:r>
          </a:p>
        </p:txBody>
      </p:sp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331E78AF-12AF-3D5A-55C6-25AD3DE25AB4}"/>
              </a:ext>
            </a:extLst>
          </p:cNvPr>
          <p:cNvSpPr/>
          <p:nvPr/>
        </p:nvSpPr>
        <p:spPr>
          <a:xfrm>
            <a:off x="3413052" y="2950529"/>
            <a:ext cx="1887279" cy="79744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6CADFD89-BF71-C900-DEC6-EF28349BECC1}"/>
              </a:ext>
            </a:extLst>
          </p:cNvPr>
          <p:cNvSpPr/>
          <p:nvPr/>
        </p:nvSpPr>
        <p:spPr>
          <a:xfrm>
            <a:off x="5702596" y="4327446"/>
            <a:ext cx="503273" cy="829345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1F383E-E548-5ABF-7D15-80266408812B}"/>
              </a:ext>
            </a:extLst>
          </p:cNvPr>
          <p:cNvSpPr txBox="1"/>
          <p:nvPr/>
        </p:nvSpPr>
        <p:spPr>
          <a:xfrm>
            <a:off x="4672382" y="5328315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08B3C3-277F-1EF7-CF2E-E4CDF4644DDF}"/>
              </a:ext>
            </a:extLst>
          </p:cNvPr>
          <p:cNvSpPr txBox="1"/>
          <p:nvPr/>
        </p:nvSpPr>
        <p:spPr>
          <a:xfrm>
            <a:off x="5251267" y="4475384"/>
            <a:ext cx="435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LTI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3C7F20-EC47-FB6D-F415-43304566F29E}"/>
              </a:ext>
            </a:extLst>
          </p:cNvPr>
          <p:cNvSpPr txBox="1"/>
          <p:nvPr/>
        </p:nvSpPr>
        <p:spPr>
          <a:xfrm>
            <a:off x="5669935" y="187842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HTML</a:t>
            </a:r>
          </a:p>
        </p:txBody>
      </p:sp>
      <p:sp>
        <p:nvSpPr>
          <p:cNvPr id="33" name="Left-Right Arrow 32">
            <a:extLst>
              <a:ext uri="{FF2B5EF4-FFF2-40B4-BE49-F238E27FC236}">
                <a16:creationId xmlns:a16="http://schemas.microsoft.com/office/drawing/2014/main" id="{88F04285-C65E-1D14-254F-D61D77AA1A80}"/>
              </a:ext>
            </a:extLst>
          </p:cNvPr>
          <p:cNvSpPr/>
          <p:nvPr/>
        </p:nvSpPr>
        <p:spPr>
          <a:xfrm>
            <a:off x="6608135" y="2973165"/>
            <a:ext cx="1887278" cy="797442"/>
          </a:xfrm>
          <a:prstGeom prst="left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83D497-AF0A-EF31-1949-84375928E261}"/>
              </a:ext>
            </a:extLst>
          </p:cNvPr>
          <p:cNvSpPr txBox="1"/>
          <p:nvPr/>
        </p:nvSpPr>
        <p:spPr>
          <a:xfrm>
            <a:off x="7214213" y="2838929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7FD7EA-8B65-D50C-DCD2-221B2FD81E7F}"/>
              </a:ext>
            </a:extLst>
          </p:cNvPr>
          <p:cNvSpPr txBox="1"/>
          <p:nvPr/>
        </p:nvSpPr>
        <p:spPr>
          <a:xfrm>
            <a:off x="7183723" y="3585941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HTML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5E6FF4-43B3-6FD9-96F7-6B7814C47868}"/>
              </a:ext>
            </a:extLst>
          </p:cNvPr>
          <p:cNvSpPr txBox="1"/>
          <p:nvPr/>
        </p:nvSpPr>
        <p:spPr>
          <a:xfrm>
            <a:off x="5669935" y="1083830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1260760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8F48-9718-D9BA-CC1B-1627D1A2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F5C84B-14D0-313B-69A4-5399A023026B}"/>
              </a:ext>
            </a:extLst>
          </p:cNvPr>
          <p:cNvSpPr/>
          <p:nvPr/>
        </p:nvSpPr>
        <p:spPr>
          <a:xfrm>
            <a:off x="8495414" y="861237"/>
            <a:ext cx="3253563" cy="5007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drchuck.pythonanywhere.com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 err="1"/>
              <a:t>settings.py</a:t>
            </a:r>
            <a:endParaRPr lang="en-US" dirty="0"/>
          </a:p>
          <a:p>
            <a:pPr algn="ctr"/>
            <a:r>
              <a:rPr lang="en-US" dirty="0" err="1"/>
              <a:t>mysite</a:t>
            </a:r>
            <a:r>
              <a:rPr lang="en-US" dirty="0"/>
              <a:t>/</a:t>
            </a:r>
            <a:r>
              <a:rPr lang="en-US" dirty="0" err="1"/>
              <a:t>urls.py</a:t>
            </a:r>
            <a:endParaRPr lang="en-US" dirty="0"/>
          </a:p>
          <a:p>
            <a:pPr algn="ctr"/>
            <a:r>
              <a:rPr lang="en-US" dirty="0"/>
              <a:t>polls/</a:t>
            </a:r>
            <a:r>
              <a:rPr lang="en-US" dirty="0" err="1"/>
              <a:t>urls.py</a:t>
            </a:r>
            <a:endParaRPr lang="en-US" dirty="0"/>
          </a:p>
          <a:p>
            <a:pPr algn="ctr"/>
            <a:r>
              <a:rPr lang="en-US" dirty="0"/>
              <a:t>polls/</a:t>
            </a:r>
            <a:r>
              <a:rPr lang="en-US" dirty="0" err="1"/>
              <a:t>views.py</a:t>
            </a:r>
            <a:endParaRPr lang="en-US" dirty="0"/>
          </a:p>
          <a:p>
            <a:pPr algn="ctr"/>
            <a:r>
              <a:rPr lang="en-US" dirty="0"/>
              <a:t>magic codes</a:t>
            </a:r>
          </a:p>
          <a:p>
            <a:pPr algn="ctr"/>
            <a:r>
              <a:rPr lang="en-US" dirty="0"/>
              <a:t>signatures</a:t>
            </a:r>
          </a:p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83863E-73E6-A144-BE5B-30FF1C189A41}"/>
              </a:ext>
            </a:extLst>
          </p:cNvPr>
          <p:cNvSpPr/>
          <p:nvPr/>
        </p:nvSpPr>
        <p:spPr>
          <a:xfrm>
            <a:off x="1981201" y="925032"/>
            <a:ext cx="1431851" cy="5007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Browser</a:t>
            </a:r>
          </a:p>
          <a:p>
            <a:pPr algn="ctr"/>
            <a:r>
              <a:rPr lang="en-US" dirty="0" err="1"/>
              <a:t>FireFox</a:t>
            </a:r>
            <a:endParaRPr lang="en-US" dirty="0"/>
          </a:p>
          <a:p>
            <a:pPr algn="ctr"/>
            <a:r>
              <a:rPr lang="en-US" dirty="0"/>
              <a:t>Chrome</a:t>
            </a:r>
          </a:p>
        </p:txBody>
      </p:sp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5750F831-57B7-2840-77AA-C7AF23A48B11}"/>
              </a:ext>
            </a:extLst>
          </p:cNvPr>
          <p:cNvSpPr/>
          <p:nvPr/>
        </p:nvSpPr>
        <p:spPr>
          <a:xfrm>
            <a:off x="3413052" y="1233377"/>
            <a:ext cx="4997301" cy="79744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Develop / Test</a:t>
            </a:r>
          </a:p>
        </p:txBody>
      </p:sp>
      <p:pic>
        <p:nvPicPr>
          <p:cNvPr id="8" name="Picture 7" descr="A person in a black hat and grey jacket&#10;&#10;AI-generated content may be incorrect.">
            <a:extLst>
              <a:ext uri="{FF2B5EF4-FFF2-40B4-BE49-F238E27FC236}">
                <a16:creationId xmlns:a16="http://schemas.microsoft.com/office/drawing/2014/main" id="{B64C9DE7-6850-3566-B644-46C0BDCD2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17" y="2695353"/>
            <a:ext cx="914400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CA65433-A6FA-9E45-B41E-C1DA417474B7}"/>
              </a:ext>
            </a:extLst>
          </p:cNvPr>
          <p:cNvSpPr/>
          <p:nvPr/>
        </p:nvSpPr>
        <p:spPr>
          <a:xfrm>
            <a:off x="5300330" y="2481943"/>
            <a:ext cx="1307805" cy="184550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dj4e.com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D3989D-416C-6A03-D0CC-6B47F714797C}"/>
              </a:ext>
            </a:extLst>
          </p:cNvPr>
          <p:cNvSpPr/>
          <p:nvPr/>
        </p:nvSpPr>
        <p:spPr>
          <a:xfrm>
            <a:off x="5300330" y="5156791"/>
            <a:ext cx="1307805" cy="712381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Gradebook</a:t>
            </a:r>
          </a:p>
        </p:txBody>
      </p:sp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0F44AFF8-0145-97D4-44CA-6FF3161FC194}"/>
              </a:ext>
            </a:extLst>
          </p:cNvPr>
          <p:cNvSpPr/>
          <p:nvPr/>
        </p:nvSpPr>
        <p:spPr>
          <a:xfrm>
            <a:off x="3413052" y="2950529"/>
            <a:ext cx="1887279" cy="79744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Evaluate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F232ABB2-0FF8-9CAF-6465-887B6FACB2E8}"/>
              </a:ext>
            </a:extLst>
          </p:cNvPr>
          <p:cNvSpPr/>
          <p:nvPr/>
        </p:nvSpPr>
        <p:spPr>
          <a:xfrm>
            <a:off x="5702596" y="4327446"/>
            <a:ext cx="503273" cy="829345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AE4A2F-FC18-5611-8D56-308844FDD408}"/>
              </a:ext>
            </a:extLst>
          </p:cNvPr>
          <p:cNvSpPr txBox="1"/>
          <p:nvPr/>
        </p:nvSpPr>
        <p:spPr>
          <a:xfrm>
            <a:off x="4672382" y="5328315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AAD289-1A5E-CF1B-AD69-75E57C32182F}"/>
              </a:ext>
            </a:extLst>
          </p:cNvPr>
          <p:cNvSpPr txBox="1"/>
          <p:nvPr/>
        </p:nvSpPr>
        <p:spPr>
          <a:xfrm>
            <a:off x="5251267" y="4475384"/>
            <a:ext cx="435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LTI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6B866E2-D0A2-AC6F-53FC-88ABC2DE3EC9}"/>
              </a:ext>
            </a:extLst>
          </p:cNvPr>
          <p:cNvCxnSpPr>
            <a:cxnSpLocks/>
          </p:cNvCxnSpPr>
          <p:nvPr/>
        </p:nvCxnSpPr>
        <p:spPr>
          <a:xfrm flipH="1">
            <a:off x="6618001" y="2620711"/>
            <a:ext cx="1867547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9B57383-207C-CCBD-E9A9-0D77423DF8E4}"/>
              </a:ext>
            </a:extLst>
          </p:cNvPr>
          <p:cNvCxnSpPr>
            <a:cxnSpLocks/>
          </p:cNvCxnSpPr>
          <p:nvPr/>
        </p:nvCxnSpPr>
        <p:spPr>
          <a:xfrm flipV="1">
            <a:off x="6608135" y="2620711"/>
            <a:ext cx="1877413" cy="266662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1B02DB-21F6-408D-3807-F0BBEC41DA6F}"/>
              </a:ext>
            </a:extLst>
          </p:cNvPr>
          <p:cNvCxnSpPr>
            <a:cxnSpLocks/>
          </p:cNvCxnSpPr>
          <p:nvPr/>
        </p:nvCxnSpPr>
        <p:spPr>
          <a:xfrm flipH="1">
            <a:off x="6627866" y="2895035"/>
            <a:ext cx="1867547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A256F89-1268-D31D-F88B-8626ABAA1556}"/>
              </a:ext>
            </a:extLst>
          </p:cNvPr>
          <p:cNvCxnSpPr>
            <a:cxnSpLocks/>
          </p:cNvCxnSpPr>
          <p:nvPr/>
        </p:nvCxnSpPr>
        <p:spPr>
          <a:xfrm flipV="1">
            <a:off x="6618000" y="2895035"/>
            <a:ext cx="1877413" cy="266662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744D05-2DA4-EB0E-D0D2-62B7D4977C22}"/>
              </a:ext>
            </a:extLst>
          </p:cNvPr>
          <p:cNvCxnSpPr>
            <a:cxnSpLocks/>
          </p:cNvCxnSpPr>
          <p:nvPr/>
        </p:nvCxnSpPr>
        <p:spPr>
          <a:xfrm flipH="1">
            <a:off x="6627867" y="3189438"/>
            <a:ext cx="1867547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A6167E-F3E8-E322-0D46-77F5E4B1E996}"/>
              </a:ext>
            </a:extLst>
          </p:cNvPr>
          <p:cNvCxnSpPr>
            <a:cxnSpLocks/>
          </p:cNvCxnSpPr>
          <p:nvPr/>
        </p:nvCxnSpPr>
        <p:spPr>
          <a:xfrm flipV="1">
            <a:off x="6618001" y="3189438"/>
            <a:ext cx="1877413" cy="266662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543D9EF-1B34-DCCA-40A8-D8E467DC2AB0}"/>
              </a:ext>
            </a:extLst>
          </p:cNvPr>
          <p:cNvCxnSpPr>
            <a:cxnSpLocks/>
          </p:cNvCxnSpPr>
          <p:nvPr/>
        </p:nvCxnSpPr>
        <p:spPr>
          <a:xfrm flipH="1">
            <a:off x="6618001" y="3969343"/>
            <a:ext cx="1867547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6734E49-1708-E499-E107-37EB3E07B6D0}"/>
              </a:ext>
            </a:extLst>
          </p:cNvPr>
          <p:cNvCxnSpPr>
            <a:cxnSpLocks/>
          </p:cNvCxnSpPr>
          <p:nvPr/>
        </p:nvCxnSpPr>
        <p:spPr>
          <a:xfrm flipV="1">
            <a:off x="6608135" y="3969343"/>
            <a:ext cx="1877413" cy="266662"/>
          </a:xfrm>
          <a:prstGeom prst="straightConnector1">
            <a:avLst/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701CC6E-94AA-F1ED-B305-29ECFBFD628A}"/>
              </a:ext>
            </a:extLst>
          </p:cNvPr>
          <p:cNvSpPr txBox="1"/>
          <p:nvPr/>
        </p:nvSpPr>
        <p:spPr>
          <a:xfrm>
            <a:off x="7001734" y="3455030"/>
            <a:ext cx="117628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… up to 50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395491-917C-B6A8-DB75-E0110B117885}"/>
              </a:ext>
            </a:extLst>
          </p:cNvPr>
          <p:cNvSpPr txBox="1"/>
          <p:nvPr/>
        </p:nvSpPr>
        <p:spPr>
          <a:xfrm>
            <a:off x="5669935" y="187842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HTML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E11136-4D56-9572-99DD-244CF3A88C33}"/>
              </a:ext>
            </a:extLst>
          </p:cNvPr>
          <p:cNvSpPr txBox="1"/>
          <p:nvPr/>
        </p:nvSpPr>
        <p:spPr>
          <a:xfrm>
            <a:off x="5669935" y="1083830"/>
            <a:ext cx="67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2737066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6D43-C0BC-0D2A-1C9E-01FAEECF8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</a:t>
            </a:r>
            <a:r>
              <a:rPr lang="en-US" dirty="0" err="1"/>
              <a:t>autograder</a:t>
            </a:r>
            <a:r>
              <a:rPr lang="en-US" dirty="0"/>
              <a:t> code look like?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28034-EA87-6D3C-CE7F-6EBB734A87A9}"/>
              </a:ext>
            </a:extLst>
          </p:cNvPr>
          <p:cNvSpPr txBox="1"/>
          <p:nvPr/>
        </p:nvSpPr>
        <p:spPr>
          <a:xfrm>
            <a:off x="2358887" y="1558166"/>
            <a:ext cx="707757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$crawler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webauto_retrieve_url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($client, $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 $crawler === false ) return;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$html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webauto_get_html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($crawler);</a:t>
            </a:r>
          </a:p>
          <a:p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webauto_search_for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($html, 'Hello');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$check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webauto_get_check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 $check &amp;&amp;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stripos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html,$check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 !== false )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success_out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("Found ($check) in your html");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$passed += 1;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 else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error_out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("Did not find $check in your html");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error_out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("No score sent");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5768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396</Words>
  <Application>Microsoft Macintosh PowerPoint</Application>
  <PresentationFormat>Widescreen</PresentationFormat>
  <Paragraphs>75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Office Theme</vt:lpstr>
      <vt:lpstr>How the Auto-grader Works</vt:lpstr>
      <vt:lpstr>What is the autograder?</vt:lpstr>
      <vt:lpstr>Auto grader Philosophy</vt:lpstr>
      <vt:lpstr>PowerPoint Presentation</vt:lpstr>
      <vt:lpstr>PowerPoint Presentation</vt:lpstr>
      <vt:lpstr>What does autograder code look like?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Severance, Charles</dc:creator>
  <cp:lastModifiedBy>Severance, Charles</cp:lastModifiedBy>
  <cp:revision>20</cp:revision>
  <dcterms:created xsi:type="dcterms:W3CDTF">2021-02-05T19:57:12Z</dcterms:created>
  <dcterms:modified xsi:type="dcterms:W3CDTF">2025-12-31T15:41:47Z</dcterms:modified>
</cp:coreProperties>
</file>