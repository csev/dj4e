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94B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97"/>
    <p:restoredTop sz="94589"/>
  </p:normalViewPr>
  <p:slideViewPr>
    <p:cSldViewPr snapToGrid="0" snapToObjects="1">
      <p:cViewPr varScale="1">
        <p:scale>
          <a:sx n="120" d="100"/>
          <a:sy n="120" d="100"/>
        </p:scale>
        <p:origin x="5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C6F6A4-A735-3141-97AA-DF08CBAB5168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604A58-4508-1148-98EF-6831175F2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9290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AE149-BB27-FA42-992B-FEE3681658DC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072C97-1776-2A41-A98D-0464AF43FC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8050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AE149-BB27-FA42-992B-FEE3681658DC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072C97-1776-2A41-A98D-0464AF43FC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8600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AE149-BB27-FA42-992B-FEE3681658DC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072C97-1776-2A41-A98D-0464AF43FC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102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AE149-BB27-FA42-992B-FEE3681658DC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072C97-1776-2A41-A98D-0464AF43FC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4744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AE149-BB27-FA42-992B-FEE3681658DC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072C97-1776-2A41-A98D-0464AF43FC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3342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AE149-BB27-FA42-992B-FEE3681658DC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072C97-1776-2A41-A98D-0464AF43FC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6582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AE149-BB27-FA42-992B-FEE3681658DC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072C97-1776-2A41-A98D-0464AF43FC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2120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AE149-BB27-FA42-992B-FEE3681658DC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072C97-1776-2A41-A98D-0464AF43FC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8094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AE149-BB27-FA42-992B-FEE3681658DC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072C97-1776-2A41-A98D-0464AF43FC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850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AE149-BB27-FA42-992B-FEE3681658DC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072C97-1776-2A41-A98D-0464AF43FC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1734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AE149-BB27-FA42-992B-FEE3681658DC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072C97-1776-2A41-A98D-0464AF43FC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070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DAE149-BB27-FA42-992B-FEE3681658DC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072C97-1776-2A41-A98D-0464AF43FC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282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Inside the </a:t>
            </a:r>
            <a:r>
              <a:rPr lang="en-US" dirty="0" err="1"/>
              <a:t>Autograder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352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FFC34-6A65-765B-1BA5-FF7407CEF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</a:t>
            </a:r>
            <a:r>
              <a:rPr lang="en-US" dirty="0" err="1"/>
              <a:t>autograder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BAC2D8-C510-AD14-F178-B80779E21C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application running on www.dj4e.com launched from Canvas (or Coursera)</a:t>
            </a:r>
          </a:p>
          <a:p>
            <a:r>
              <a:rPr lang="en-US" dirty="0"/>
              <a:t>It contains a simple browser emulator library that can "crawl" a web site under program control</a:t>
            </a:r>
          </a:p>
          <a:p>
            <a:r>
              <a:rPr lang="en-US" dirty="0"/>
              <a:t>It looks at the response from the web site and checks it for the correct response, then continues to the next page</a:t>
            </a:r>
          </a:p>
          <a:p>
            <a:r>
              <a:rPr lang="en-US" dirty="0"/>
              <a:t>If the web site responds correctly to all the requests correctly a grace is sent back to Canvas (or Coursera) </a:t>
            </a:r>
          </a:p>
        </p:txBody>
      </p:sp>
    </p:spTree>
    <p:extLst>
      <p:ext uri="{BB962C8B-B14F-4D97-AF65-F5344CB8AC3E}">
        <p14:creationId xmlns:p14="http://schemas.microsoft.com/office/powerpoint/2010/main" val="28993408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ED6E6AE-F793-6C8A-DA03-0C91B5C3E90D}"/>
              </a:ext>
            </a:extLst>
          </p:cNvPr>
          <p:cNvSpPr/>
          <p:nvPr/>
        </p:nvSpPr>
        <p:spPr>
          <a:xfrm>
            <a:off x="1354033" y="657264"/>
            <a:ext cx="2190307" cy="55434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33FED3A-3AC3-C204-07B2-5ECE6E6CA3D3}"/>
              </a:ext>
            </a:extLst>
          </p:cNvPr>
          <p:cNvSpPr/>
          <p:nvPr/>
        </p:nvSpPr>
        <p:spPr>
          <a:xfrm>
            <a:off x="4876954" y="657262"/>
            <a:ext cx="2190307" cy="55434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r>
              <a:rPr lang="en-US" dirty="0"/>
              <a:t>Retrieve Page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Check Page</a:t>
            </a:r>
          </a:p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AB71BF-3D9D-0576-20B3-28E4D34F571C}"/>
              </a:ext>
            </a:extLst>
          </p:cNvPr>
          <p:cNvSpPr/>
          <p:nvPr/>
        </p:nvSpPr>
        <p:spPr>
          <a:xfrm>
            <a:off x="8825177" y="657262"/>
            <a:ext cx="2190307" cy="55434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r>
              <a:rPr lang="en-US" dirty="0"/>
              <a:t>Django</a:t>
            </a:r>
          </a:p>
          <a:p>
            <a:pPr algn="ctr"/>
            <a:r>
              <a:rPr lang="en-US" dirty="0" err="1"/>
              <a:t>settings.py</a:t>
            </a:r>
            <a:endParaRPr lang="en-US" dirty="0"/>
          </a:p>
          <a:p>
            <a:pPr algn="ctr"/>
            <a:r>
              <a:rPr lang="en-US" dirty="0" err="1"/>
              <a:t>urls.py</a:t>
            </a:r>
            <a:endParaRPr lang="en-US" dirty="0"/>
          </a:p>
          <a:p>
            <a:pPr algn="ctr"/>
            <a:r>
              <a:rPr lang="en-US" dirty="0" err="1"/>
              <a:t>views.py</a:t>
            </a:r>
            <a:endParaRPr lang="en-US" dirty="0"/>
          </a:p>
          <a:p>
            <a:pPr algn="ctr"/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6434215-EB18-FC0E-DC5C-C4C9D2B96828}"/>
              </a:ext>
            </a:extLst>
          </p:cNvPr>
          <p:cNvCxnSpPr>
            <a:cxnSpLocks/>
            <a:endCxn id="18" idx="3"/>
          </p:cNvCxnSpPr>
          <p:nvPr/>
        </p:nvCxnSpPr>
        <p:spPr>
          <a:xfrm flipH="1" flipV="1">
            <a:off x="3342321" y="1026595"/>
            <a:ext cx="1833157" cy="1152601"/>
          </a:xfrm>
          <a:prstGeom prst="straightConnector1">
            <a:avLst/>
          </a:prstGeom>
          <a:ln w="38100"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77D54F8-349B-7E48-E043-C1B009E8A358}"/>
              </a:ext>
            </a:extLst>
          </p:cNvPr>
          <p:cNvSpPr txBox="1"/>
          <p:nvPr/>
        </p:nvSpPr>
        <p:spPr>
          <a:xfrm>
            <a:off x="1756496" y="5498990"/>
            <a:ext cx="13853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Grade: 100%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A5EF57-3B7A-DA05-ADEC-F1AF23BD4EBE}"/>
              </a:ext>
            </a:extLst>
          </p:cNvPr>
          <p:cNvSpPr txBox="1"/>
          <p:nvPr/>
        </p:nvSpPr>
        <p:spPr>
          <a:xfrm>
            <a:off x="2030257" y="253225"/>
            <a:ext cx="585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LMS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C3A224-369C-C61B-0ADB-21057AFA87B6}"/>
              </a:ext>
            </a:extLst>
          </p:cNvPr>
          <p:cNvSpPr txBox="1"/>
          <p:nvPr/>
        </p:nvSpPr>
        <p:spPr>
          <a:xfrm>
            <a:off x="5175478" y="128441"/>
            <a:ext cx="1593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www.dj4e.com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D73443-01F1-53AF-4344-E3551CD8944F}"/>
              </a:ext>
            </a:extLst>
          </p:cNvPr>
          <p:cNvSpPr txBox="1"/>
          <p:nvPr/>
        </p:nvSpPr>
        <p:spPr>
          <a:xfrm>
            <a:off x="8930796" y="150865"/>
            <a:ext cx="1979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djtutorial.dj4e.com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2C719AF-CDB5-7F37-2815-A7E7036F06C4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3141875" y="3701130"/>
            <a:ext cx="2160381" cy="1982526"/>
          </a:xfrm>
          <a:prstGeom prst="straightConnector1">
            <a:avLst/>
          </a:prstGeom>
          <a:ln w="38100"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A93FBFA8-8533-EA10-20CC-8D3518D0BF2D}"/>
              </a:ext>
            </a:extLst>
          </p:cNvPr>
          <p:cNvSpPr/>
          <p:nvPr/>
        </p:nvSpPr>
        <p:spPr>
          <a:xfrm>
            <a:off x="1556052" y="841929"/>
            <a:ext cx="1786269" cy="369332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AG: Tutorial 01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0D9B0484-C982-32AA-65C1-7C61EE1AE934}"/>
              </a:ext>
            </a:extLst>
          </p:cNvPr>
          <p:cNvSpPr/>
          <p:nvPr/>
        </p:nvSpPr>
        <p:spPr>
          <a:xfrm>
            <a:off x="5175478" y="1993666"/>
            <a:ext cx="1567301" cy="371061"/>
          </a:xfrm>
          <a:prstGeom prst="roundRect">
            <a:avLst/>
          </a:prstGeom>
          <a:solidFill>
            <a:srgbClr val="094B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Evaluate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FDDA653-0C9F-D400-2DD7-6DDD35D5A030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6730914" y="3167270"/>
            <a:ext cx="2094263" cy="261730"/>
          </a:xfrm>
          <a:prstGeom prst="straightConnector1">
            <a:avLst/>
          </a:prstGeom>
          <a:ln w="38100"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A6C80AF-1EBD-F65B-0784-779C99E76265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6533321" y="3429000"/>
            <a:ext cx="2291856" cy="272130"/>
          </a:xfrm>
          <a:prstGeom prst="straightConnector1">
            <a:avLst/>
          </a:prstGeom>
          <a:ln w="38100"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B5F2A0E8-D17D-1E89-8E3C-176E5E2A3EA2}"/>
              </a:ext>
            </a:extLst>
          </p:cNvPr>
          <p:cNvSpPr txBox="1"/>
          <p:nvPr/>
        </p:nvSpPr>
        <p:spPr>
          <a:xfrm rot="1763165">
            <a:off x="4066561" y="1205346"/>
            <a:ext cx="435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LTI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24FBB07-409E-6A00-1A84-43D87F6EE050}"/>
              </a:ext>
            </a:extLst>
          </p:cNvPr>
          <p:cNvSpPr txBox="1"/>
          <p:nvPr/>
        </p:nvSpPr>
        <p:spPr>
          <a:xfrm rot="18900000">
            <a:off x="3919856" y="4231742"/>
            <a:ext cx="435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LTI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5686B50-230F-EA8C-2E2A-8AC6CFFCA572}"/>
              </a:ext>
            </a:extLst>
          </p:cNvPr>
          <p:cNvSpPr txBox="1"/>
          <p:nvPr/>
        </p:nvSpPr>
        <p:spPr>
          <a:xfrm>
            <a:off x="7608658" y="2852635"/>
            <a:ext cx="675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D08E77F-D1B8-BA0D-CDB8-7029C963651C}"/>
              </a:ext>
            </a:extLst>
          </p:cNvPr>
          <p:cNvSpPr txBox="1"/>
          <p:nvPr/>
        </p:nvSpPr>
        <p:spPr>
          <a:xfrm>
            <a:off x="7659433" y="3653713"/>
            <a:ext cx="675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</a:t>
            </a:r>
          </a:p>
        </p:txBody>
      </p:sp>
    </p:spTree>
    <p:extLst>
      <p:ext uri="{BB962C8B-B14F-4D97-AF65-F5344CB8AC3E}">
        <p14:creationId xmlns:p14="http://schemas.microsoft.com/office/powerpoint/2010/main" val="26210687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B6D43-C0BC-0D2A-1C9E-01FAEECF8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</a:t>
            </a:r>
            <a:r>
              <a:rPr lang="en-US" dirty="0" err="1"/>
              <a:t>autograder</a:t>
            </a:r>
            <a:r>
              <a:rPr lang="en-US" dirty="0"/>
              <a:t> code look like?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128034-EA87-6D3C-CE7F-6EBB734A87A9}"/>
              </a:ext>
            </a:extLst>
          </p:cNvPr>
          <p:cNvSpPr txBox="1"/>
          <p:nvPr/>
        </p:nvSpPr>
        <p:spPr>
          <a:xfrm>
            <a:off x="2358887" y="1558166"/>
            <a:ext cx="7077579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$crawler =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webauto_retrieve_url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($client, $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if ( $crawler === false ) return;</a:t>
            </a:r>
          </a:p>
          <a:p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$html =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webauto_get_html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($crawler);</a:t>
            </a:r>
          </a:p>
          <a:p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webauto_search_for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($html, 'Hello');</a:t>
            </a:r>
          </a:p>
          <a:p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$check =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webauto_get_check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if ( $check &amp;&amp;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stripos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($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html,$check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) !== false ) {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success_out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("Found ($check) in your html");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$passed += 1;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} else {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error_out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("Did not find $check in your html");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error_out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("No score sent");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return;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857683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FE576-096E-9574-D1BF-10E3E7F4A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E81F6F1-F563-B7D3-5021-5D569FA78CD9}"/>
              </a:ext>
            </a:extLst>
          </p:cNvPr>
          <p:cNvSpPr/>
          <p:nvPr/>
        </p:nvSpPr>
        <p:spPr>
          <a:xfrm>
            <a:off x="1354033" y="657264"/>
            <a:ext cx="2190307" cy="55434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31EAFD-B3A5-AFF2-EFC7-6C96FE79B52D}"/>
              </a:ext>
            </a:extLst>
          </p:cNvPr>
          <p:cNvSpPr/>
          <p:nvPr/>
        </p:nvSpPr>
        <p:spPr>
          <a:xfrm>
            <a:off x="4876954" y="657262"/>
            <a:ext cx="2190307" cy="55434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r>
              <a:rPr lang="en-US" dirty="0"/>
              <a:t>Retrieve Page</a:t>
            </a:r>
          </a:p>
          <a:p>
            <a:pPr algn="ctr"/>
            <a:r>
              <a:rPr lang="en-US" dirty="0"/>
              <a:t>Check Page</a:t>
            </a:r>
          </a:p>
          <a:p>
            <a:pPr algn="ctr"/>
            <a:r>
              <a:rPr lang="en-US" dirty="0"/>
              <a:t>Retrieve Page</a:t>
            </a:r>
          </a:p>
          <a:p>
            <a:pPr algn="ctr"/>
            <a:r>
              <a:rPr lang="en-US" dirty="0"/>
              <a:t>Check Page</a:t>
            </a:r>
          </a:p>
          <a:p>
            <a:pPr algn="ctr"/>
            <a:r>
              <a:rPr lang="en-US" dirty="0"/>
              <a:t>Retrieve Page</a:t>
            </a:r>
          </a:p>
          <a:p>
            <a:pPr algn="ctr"/>
            <a:r>
              <a:rPr lang="en-US" dirty="0"/>
              <a:t>Check Page</a:t>
            </a:r>
          </a:p>
          <a:p>
            <a:pPr algn="ctr"/>
            <a:r>
              <a:rPr lang="en-US" dirty="0"/>
              <a:t>Retrieve Page</a:t>
            </a:r>
          </a:p>
          <a:p>
            <a:pPr algn="ctr"/>
            <a:r>
              <a:rPr lang="en-US" dirty="0"/>
              <a:t>Check Page</a:t>
            </a:r>
          </a:p>
          <a:p>
            <a:pPr algn="ctr"/>
            <a:r>
              <a:rPr lang="en-US" dirty="0"/>
              <a:t>Retrieve Page</a:t>
            </a:r>
          </a:p>
          <a:p>
            <a:pPr algn="ctr"/>
            <a:r>
              <a:rPr lang="en-US" dirty="0"/>
              <a:t>Check Page</a:t>
            </a:r>
          </a:p>
          <a:p>
            <a:pPr algn="ctr"/>
            <a:r>
              <a:rPr lang="en-US" dirty="0"/>
              <a:t>Retrieve Page</a:t>
            </a:r>
          </a:p>
          <a:p>
            <a:pPr algn="ctr"/>
            <a:r>
              <a:rPr lang="en-US" dirty="0"/>
              <a:t>Check Page</a:t>
            </a:r>
          </a:p>
          <a:p>
            <a:pPr algn="ctr"/>
            <a:r>
              <a:rPr lang="en-US" dirty="0"/>
              <a:t>Retrieve Page</a:t>
            </a:r>
          </a:p>
          <a:p>
            <a:pPr algn="ctr"/>
            <a:r>
              <a:rPr lang="en-US" dirty="0"/>
              <a:t>Check Page</a:t>
            </a:r>
          </a:p>
          <a:p>
            <a:pPr algn="ctr"/>
            <a:r>
              <a:rPr lang="en-US" dirty="0"/>
              <a:t>Retrieve Page</a:t>
            </a:r>
          </a:p>
          <a:p>
            <a:pPr algn="ctr"/>
            <a:r>
              <a:rPr lang="en-US" dirty="0"/>
              <a:t>Check Page</a:t>
            </a:r>
          </a:p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DE1F107-5644-4A84-F759-ED41A2092347}"/>
              </a:ext>
            </a:extLst>
          </p:cNvPr>
          <p:cNvSpPr/>
          <p:nvPr/>
        </p:nvSpPr>
        <p:spPr>
          <a:xfrm>
            <a:off x="8825177" y="657262"/>
            <a:ext cx="2190307" cy="55434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r>
              <a:rPr lang="en-US" dirty="0"/>
              <a:t>Django</a:t>
            </a:r>
          </a:p>
          <a:p>
            <a:pPr algn="ctr"/>
            <a:r>
              <a:rPr lang="en-US" dirty="0" err="1"/>
              <a:t>settings.py</a:t>
            </a:r>
            <a:endParaRPr lang="en-US" dirty="0"/>
          </a:p>
          <a:p>
            <a:pPr algn="ctr"/>
            <a:r>
              <a:rPr lang="en-US" dirty="0" err="1"/>
              <a:t>urls.py</a:t>
            </a:r>
            <a:endParaRPr lang="en-US" dirty="0"/>
          </a:p>
          <a:p>
            <a:pPr algn="ctr"/>
            <a:r>
              <a:rPr lang="en-US" dirty="0" err="1"/>
              <a:t>views.py</a:t>
            </a:r>
            <a:endParaRPr lang="en-US" dirty="0"/>
          </a:p>
          <a:p>
            <a:pPr algn="ctr"/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C0725BC-6B4C-F872-668D-D5EB34E38EB9}"/>
              </a:ext>
            </a:extLst>
          </p:cNvPr>
          <p:cNvCxnSpPr>
            <a:cxnSpLocks/>
          </p:cNvCxnSpPr>
          <p:nvPr/>
        </p:nvCxnSpPr>
        <p:spPr>
          <a:xfrm flipH="1">
            <a:off x="3544340" y="841929"/>
            <a:ext cx="1332614" cy="0"/>
          </a:xfrm>
          <a:prstGeom prst="straightConnector1">
            <a:avLst/>
          </a:prstGeom>
          <a:ln w="38100"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6A3948D-FBE2-49B5-E4A4-325A13427C1B}"/>
              </a:ext>
            </a:extLst>
          </p:cNvPr>
          <p:cNvSpPr txBox="1"/>
          <p:nvPr/>
        </p:nvSpPr>
        <p:spPr>
          <a:xfrm>
            <a:off x="1756496" y="5498990"/>
            <a:ext cx="13853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Grade: 100%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148792-79D9-A6E3-D274-5C7D8573CEA0}"/>
              </a:ext>
            </a:extLst>
          </p:cNvPr>
          <p:cNvSpPr txBox="1"/>
          <p:nvPr/>
        </p:nvSpPr>
        <p:spPr>
          <a:xfrm>
            <a:off x="2030257" y="253225"/>
            <a:ext cx="837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Canvas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585325-F829-09A3-EE94-D3217697F0EC}"/>
              </a:ext>
            </a:extLst>
          </p:cNvPr>
          <p:cNvSpPr txBox="1"/>
          <p:nvPr/>
        </p:nvSpPr>
        <p:spPr>
          <a:xfrm>
            <a:off x="5175478" y="128441"/>
            <a:ext cx="1593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www.dj4e.com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71A664-EB60-642F-D4C1-2E8E6B517068}"/>
              </a:ext>
            </a:extLst>
          </p:cNvPr>
          <p:cNvSpPr txBox="1"/>
          <p:nvPr/>
        </p:nvSpPr>
        <p:spPr>
          <a:xfrm>
            <a:off x="8930796" y="150865"/>
            <a:ext cx="1979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djtutorial.dj4e.com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49B9F81-4040-4249-B0CB-D6CFA6E541F0}"/>
              </a:ext>
            </a:extLst>
          </p:cNvPr>
          <p:cNvCxnSpPr>
            <a:cxnSpLocks/>
          </p:cNvCxnSpPr>
          <p:nvPr/>
        </p:nvCxnSpPr>
        <p:spPr>
          <a:xfrm>
            <a:off x="3561705" y="5683656"/>
            <a:ext cx="1315249" cy="0"/>
          </a:xfrm>
          <a:prstGeom prst="straightConnector1">
            <a:avLst/>
          </a:prstGeom>
          <a:ln w="38100"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4DA1C4D5-80DD-4A54-AE72-E577028B8458}"/>
              </a:ext>
            </a:extLst>
          </p:cNvPr>
          <p:cNvSpPr/>
          <p:nvPr/>
        </p:nvSpPr>
        <p:spPr>
          <a:xfrm>
            <a:off x="1556052" y="841929"/>
            <a:ext cx="1786269" cy="369332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AG: Tutorial 01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63B4050A-CFBC-5EA9-B65B-989C85511EF5}"/>
              </a:ext>
            </a:extLst>
          </p:cNvPr>
          <p:cNvSpPr/>
          <p:nvPr/>
        </p:nvSpPr>
        <p:spPr>
          <a:xfrm>
            <a:off x="5163613" y="840200"/>
            <a:ext cx="1567301" cy="371061"/>
          </a:xfrm>
          <a:prstGeom prst="roundRect">
            <a:avLst/>
          </a:prstGeom>
          <a:solidFill>
            <a:srgbClr val="094B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Evaluate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E4A9C37-0B71-8188-E376-79DBD6EF679B}"/>
              </a:ext>
            </a:extLst>
          </p:cNvPr>
          <p:cNvCxnSpPr>
            <a:cxnSpLocks/>
          </p:cNvCxnSpPr>
          <p:nvPr/>
        </p:nvCxnSpPr>
        <p:spPr>
          <a:xfrm flipH="1">
            <a:off x="6730914" y="1372170"/>
            <a:ext cx="2094263" cy="22029"/>
          </a:xfrm>
          <a:prstGeom prst="straightConnector1">
            <a:avLst/>
          </a:prstGeom>
          <a:ln w="38100"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C46436B-B81C-D002-CC95-84C536DC7FC7}"/>
              </a:ext>
            </a:extLst>
          </p:cNvPr>
          <p:cNvCxnSpPr>
            <a:cxnSpLocks/>
          </p:cNvCxnSpPr>
          <p:nvPr/>
        </p:nvCxnSpPr>
        <p:spPr>
          <a:xfrm flipV="1">
            <a:off x="6533321" y="1394199"/>
            <a:ext cx="2291856" cy="296023"/>
          </a:xfrm>
          <a:prstGeom prst="straightConnector1">
            <a:avLst/>
          </a:prstGeom>
          <a:ln w="38100"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2B6E8F2-47D5-FD43-13D6-D485AB0EDDC3}"/>
              </a:ext>
            </a:extLst>
          </p:cNvPr>
          <p:cNvCxnSpPr>
            <a:cxnSpLocks/>
          </p:cNvCxnSpPr>
          <p:nvPr/>
        </p:nvCxnSpPr>
        <p:spPr>
          <a:xfrm flipH="1">
            <a:off x="6730914" y="1915617"/>
            <a:ext cx="2094263" cy="22029"/>
          </a:xfrm>
          <a:prstGeom prst="straightConnector1">
            <a:avLst/>
          </a:prstGeom>
          <a:ln w="38100"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960E402-9298-7EB8-2DF7-2FF7AFD4ED8F}"/>
              </a:ext>
            </a:extLst>
          </p:cNvPr>
          <p:cNvCxnSpPr>
            <a:cxnSpLocks/>
          </p:cNvCxnSpPr>
          <p:nvPr/>
        </p:nvCxnSpPr>
        <p:spPr>
          <a:xfrm flipV="1">
            <a:off x="6533321" y="1937646"/>
            <a:ext cx="2291856" cy="296023"/>
          </a:xfrm>
          <a:prstGeom prst="straightConnector1">
            <a:avLst/>
          </a:prstGeom>
          <a:ln w="38100"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0260F34-C702-BD37-7A85-B9B317B3CCD6}"/>
              </a:ext>
            </a:extLst>
          </p:cNvPr>
          <p:cNvCxnSpPr>
            <a:cxnSpLocks/>
          </p:cNvCxnSpPr>
          <p:nvPr/>
        </p:nvCxnSpPr>
        <p:spPr>
          <a:xfrm flipH="1">
            <a:off x="6730914" y="2413751"/>
            <a:ext cx="2094263" cy="22029"/>
          </a:xfrm>
          <a:prstGeom prst="straightConnector1">
            <a:avLst/>
          </a:prstGeom>
          <a:ln w="38100"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40D3285-510C-E09C-13B5-0F439A403A88}"/>
              </a:ext>
            </a:extLst>
          </p:cNvPr>
          <p:cNvCxnSpPr>
            <a:cxnSpLocks/>
          </p:cNvCxnSpPr>
          <p:nvPr/>
        </p:nvCxnSpPr>
        <p:spPr>
          <a:xfrm flipV="1">
            <a:off x="6533321" y="2435780"/>
            <a:ext cx="2291856" cy="296023"/>
          </a:xfrm>
          <a:prstGeom prst="straightConnector1">
            <a:avLst/>
          </a:prstGeom>
          <a:ln w="38100"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C1F6AC9-D252-C833-612D-206C1AA98B34}"/>
              </a:ext>
            </a:extLst>
          </p:cNvPr>
          <p:cNvCxnSpPr>
            <a:cxnSpLocks/>
          </p:cNvCxnSpPr>
          <p:nvPr/>
        </p:nvCxnSpPr>
        <p:spPr>
          <a:xfrm flipH="1">
            <a:off x="6730914" y="2957198"/>
            <a:ext cx="2094263" cy="22029"/>
          </a:xfrm>
          <a:prstGeom prst="straightConnector1">
            <a:avLst/>
          </a:prstGeom>
          <a:ln w="38100"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B21D8CF-7635-7441-309A-4FD1371FED4D}"/>
              </a:ext>
            </a:extLst>
          </p:cNvPr>
          <p:cNvCxnSpPr>
            <a:cxnSpLocks/>
          </p:cNvCxnSpPr>
          <p:nvPr/>
        </p:nvCxnSpPr>
        <p:spPr>
          <a:xfrm flipV="1">
            <a:off x="6533321" y="2979227"/>
            <a:ext cx="2291856" cy="296023"/>
          </a:xfrm>
          <a:prstGeom prst="straightConnector1">
            <a:avLst/>
          </a:prstGeom>
          <a:ln w="38100"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A1652C6-17C7-3F1B-9D3D-CB20F2AFA149}"/>
              </a:ext>
            </a:extLst>
          </p:cNvPr>
          <p:cNvCxnSpPr>
            <a:cxnSpLocks/>
          </p:cNvCxnSpPr>
          <p:nvPr/>
        </p:nvCxnSpPr>
        <p:spPr>
          <a:xfrm flipH="1">
            <a:off x="6730914" y="3593756"/>
            <a:ext cx="2094263" cy="22029"/>
          </a:xfrm>
          <a:prstGeom prst="straightConnector1">
            <a:avLst/>
          </a:prstGeom>
          <a:ln w="38100"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6F9B9F3-3E75-BB65-FDD4-1B03124B9585}"/>
              </a:ext>
            </a:extLst>
          </p:cNvPr>
          <p:cNvCxnSpPr>
            <a:cxnSpLocks/>
          </p:cNvCxnSpPr>
          <p:nvPr/>
        </p:nvCxnSpPr>
        <p:spPr>
          <a:xfrm flipV="1">
            <a:off x="6533321" y="3615785"/>
            <a:ext cx="2291856" cy="296023"/>
          </a:xfrm>
          <a:prstGeom prst="straightConnector1">
            <a:avLst/>
          </a:prstGeom>
          <a:ln w="38100"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F3F342F-6DF3-EB4C-277E-5A93B9C96BDD}"/>
              </a:ext>
            </a:extLst>
          </p:cNvPr>
          <p:cNvCxnSpPr>
            <a:cxnSpLocks/>
          </p:cNvCxnSpPr>
          <p:nvPr/>
        </p:nvCxnSpPr>
        <p:spPr>
          <a:xfrm flipH="1">
            <a:off x="6730914" y="4137203"/>
            <a:ext cx="2094263" cy="22029"/>
          </a:xfrm>
          <a:prstGeom prst="straightConnector1">
            <a:avLst/>
          </a:prstGeom>
          <a:ln w="38100"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A46AA3F-A717-BDFB-5B1C-0D3D595827F3}"/>
              </a:ext>
            </a:extLst>
          </p:cNvPr>
          <p:cNvCxnSpPr>
            <a:cxnSpLocks/>
          </p:cNvCxnSpPr>
          <p:nvPr/>
        </p:nvCxnSpPr>
        <p:spPr>
          <a:xfrm flipV="1">
            <a:off x="6533321" y="4159232"/>
            <a:ext cx="2291856" cy="296023"/>
          </a:xfrm>
          <a:prstGeom prst="straightConnector1">
            <a:avLst/>
          </a:prstGeom>
          <a:ln w="38100"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10B99F2-E776-A26D-AD70-60767C22EBB9}"/>
              </a:ext>
            </a:extLst>
          </p:cNvPr>
          <p:cNvCxnSpPr>
            <a:cxnSpLocks/>
          </p:cNvCxnSpPr>
          <p:nvPr/>
        </p:nvCxnSpPr>
        <p:spPr>
          <a:xfrm flipH="1">
            <a:off x="6730914" y="4627430"/>
            <a:ext cx="2094263" cy="22029"/>
          </a:xfrm>
          <a:prstGeom prst="straightConnector1">
            <a:avLst/>
          </a:prstGeom>
          <a:ln w="38100"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FDA7C94-701B-DE76-F4F6-3C0CCAAEC66F}"/>
              </a:ext>
            </a:extLst>
          </p:cNvPr>
          <p:cNvCxnSpPr>
            <a:cxnSpLocks/>
          </p:cNvCxnSpPr>
          <p:nvPr/>
        </p:nvCxnSpPr>
        <p:spPr>
          <a:xfrm flipV="1">
            <a:off x="6533321" y="4649459"/>
            <a:ext cx="2291856" cy="296023"/>
          </a:xfrm>
          <a:prstGeom prst="straightConnector1">
            <a:avLst/>
          </a:prstGeom>
          <a:ln w="38100"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A30730C-BA81-0B1C-8290-C7293A7F8DA4}"/>
              </a:ext>
            </a:extLst>
          </p:cNvPr>
          <p:cNvCxnSpPr>
            <a:cxnSpLocks/>
          </p:cNvCxnSpPr>
          <p:nvPr/>
        </p:nvCxnSpPr>
        <p:spPr>
          <a:xfrm flipH="1">
            <a:off x="6730914" y="5170877"/>
            <a:ext cx="2094263" cy="22029"/>
          </a:xfrm>
          <a:prstGeom prst="straightConnector1">
            <a:avLst/>
          </a:prstGeom>
          <a:ln w="38100"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52DAC18-8677-C469-FFC6-771EB65BF07B}"/>
              </a:ext>
            </a:extLst>
          </p:cNvPr>
          <p:cNvCxnSpPr>
            <a:cxnSpLocks/>
          </p:cNvCxnSpPr>
          <p:nvPr/>
        </p:nvCxnSpPr>
        <p:spPr>
          <a:xfrm flipV="1">
            <a:off x="6533321" y="5192906"/>
            <a:ext cx="2291856" cy="296023"/>
          </a:xfrm>
          <a:prstGeom prst="straightConnector1">
            <a:avLst/>
          </a:prstGeom>
          <a:ln w="38100"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53168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311</Words>
  <Application>Microsoft Macintosh PowerPoint</Application>
  <PresentationFormat>Widescreen</PresentationFormat>
  <Paragraphs>70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Courier New</vt:lpstr>
      <vt:lpstr>Office Theme</vt:lpstr>
      <vt:lpstr>Inside the Autograder</vt:lpstr>
      <vt:lpstr>What is the autograder?</vt:lpstr>
      <vt:lpstr>PowerPoint Presentation</vt:lpstr>
      <vt:lpstr>What does autograder code look like?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Severance, Charles</dc:creator>
  <cp:lastModifiedBy>Severance, Charles</cp:lastModifiedBy>
  <cp:revision>6</cp:revision>
  <dcterms:created xsi:type="dcterms:W3CDTF">2021-02-05T19:57:12Z</dcterms:created>
  <dcterms:modified xsi:type="dcterms:W3CDTF">2025-12-30T06:15:15Z</dcterms:modified>
</cp:coreProperties>
</file>