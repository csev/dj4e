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5"/>
  </p:notesMasterIdLst>
  <p:sldIdLst>
    <p:sldId id="256" r:id="rId2"/>
    <p:sldId id="258" r:id="rId3"/>
    <p:sldId id="266" r:id="rId4"/>
    <p:sldId id="262" r:id="rId5"/>
    <p:sldId id="268" r:id="rId6"/>
    <p:sldId id="259" r:id="rId7"/>
    <p:sldId id="270" r:id="rId8"/>
    <p:sldId id="271" r:id="rId9"/>
    <p:sldId id="261" r:id="rId10"/>
    <p:sldId id="263" r:id="rId11"/>
    <p:sldId id="264" r:id="rId12"/>
    <p:sldId id="269" r:id="rId13"/>
    <p:sldId id="265" r:id="rId14"/>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22853"/>
    <p:restoredTop sz="94661"/>
  </p:normalViewPr>
  <p:slideViewPr>
    <p:cSldViewPr snapToGrid="0" snapToObjects="1">
      <p:cViewPr varScale="1">
        <p:scale>
          <a:sx n="113" d="100"/>
          <a:sy n="113" d="100"/>
        </p:scale>
        <p:origin x="184" y="472"/>
      </p:cViewPr>
      <p:guideLst/>
    </p:cSldViewPr>
  </p:slideViewPr>
  <p:notesTextViewPr>
    <p:cViewPr>
      <p:scale>
        <a:sx n="1" d="1"/>
        <a:sy n="1" d="1"/>
      </p:scale>
      <p:origin x="0" y="-136"/>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notesMaster" Target="notesMasters/notesMaster1.xml"/><Relationship Id="rId10" Type="http://schemas.openxmlformats.org/officeDocument/2006/relationships/slide" Target="slides/slide9.xml"/><Relationship Id="rId19"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94999810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Hi, I’m Dr. Chuck, and I want to tell you about a new way that I’m offering Building Web Applications in Django, beginning August 1. I’m calling it a CLOC: a Campus Linked Open Course.</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this case, the online course will run alongside SI 357 and SI 664, the two University of Michigan courses in which I teach this material. The online students are not enrolled as University of Michigan students, and this is not a University of Michigan credentialed course. But they will follow the same overall schedule as the campus students.</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Online learners will have access to scheduled office hours and selected sessions involving the campus teaching team and teaching assistants. The goal is not to pretend that the online and campus experiences are identical. They are not. The goal is alignment.</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Our first offering begins August 1. The cost will be 300 dollars. That fee is intended primarily to cover the cost of the teaching assistants who will support online students through office hours, instructional sessions, and help with the course material.</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an experiment, and we will learn from it as we go. Online students will be encouraged to share feedback during office hours, in live sessions, and by email. When several people struggle with the same assignment or explanation, that is useful information. We may add examples, clarify instructions, adjust sessions, or create additional material.</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 think there is an important space between a completely self-paced online course and formal university enrollment. A Campus Aligned Open Course is meant to occupy that space. One course. Campus and online learners. A shared schedule, a shared instructional community, and a better chance for online learners to feel connected. Welcome to Building Web Applications in Django. Welcome to the experiment. And welcome to the CLOC.</a:t>
            </a:r>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cSld name="CLOC_MASTER">
    <p:bg>
      <p:bgPr>
        <a:solidFill>
          <a:srgbClr val="FFFFFF"/>
        </a:solid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610276366"/>
      </p:ext>
    </p:extLst>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2.xml"/><Relationship Id="rId1" Type="http://schemas.openxmlformats.org/officeDocument/2006/relationships/slideLayout" Target="../slideLayouts/slideLayout2.xml"/><Relationship Id="rId4" Type="http://schemas.openxmlformats.org/officeDocument/2006/relationships/image" Target="../media/image2.png"/></Relationships>
</file>

<file path=ppt/slides/_rels/slide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9.xml"/><Relationship Id="rId1" Type="http://schemas.openxmlformats.org/officeDocument/2006/relationships/slideLayout" Target="../slideLayouts/slideLayout2.xml"/><Relationship Id="rId4" Type="http://schemas.openxmlformats.org/officeDocument/2006/relationships/image" Target="../media/image2.png"/></Relationships>
</file>

<file path=ppt/slides/_rels/slide1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0.xml"/><Relationship Id="rId1" Type="http://schemas.openxmlformats.org/officeDocument/2006/relationships/slideLayout" Target="../slideLayouts/slideLayout1.xml"/><Relationship Id="rId4" Type="http://schemas.openxmlformats.org/officeDocument/2006/relationships/image" Target="../media/image2.png"/></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F2233"/>
        </a:solidFill>
        <a:effectLst/>
      </p:bgPr>
    </p:bg>
    <p:spTree>
      <p:nvGrpSpPr>
        <p:cNvPr id="1" name=""/>
        <p:cNvGrpSpPr/>
        <p:nvPr/>
      </p:nvGrpSpPr>
      <p:grpSpPr>
        <a:xfrm>
          <a:off x="0" y="0"/>
          <a:ext cx="0" cy="0"/>
          <a:chOff x="0" y="0"/>
          <a:chExt cx="0" cy="0"/>
        </a:xfrm>
      </p:grpSpPr>
      <p:sp>
        <p:nvSpPr>
          <p:cNvPr id="3" name="Shape 0"/>
          <p:cNvSpPr/>
          <p:nvPr/>
        </p:nvSpPr>
        <p:spPr>
          <a:xfrm>
            <a:off x="0" y="0"/>
            <a:ext cx="5943600" cy="6858000"/>
          </a:xfrm>
          <a:prstGeom prst="rect">
            <a:avLst/>
          </a:prstGeom>
          <a:solidFill>
            <a:srgbClr val="0F2233">
              <a:alpha val="93000"/>
            </a:srgbClr>
          </a:solidFill>
          <a:ln w="12700">
            <a:solidFill>
              <a:srgbClr val="0F2233">
                <a:alpha val="0"/>
              </a:srgbClr>
            </a:solidFill>
            <a:prstDash val="solid"/>
          </a:ln>
        </p:spPr>
        <p:txBody>
          <a:bodyPr/>
          <a:lstStyle/>
          <a:p>
            <a:endParaRPr/>
          </a:p>
        </p:txBody>
      </p:sp>
      <p:sp>
        <p:nvSpPr>
          <p:cNvPr id="4" name="Text 1"/>
          <p:cNvSpPr/>
          <p:nvPr/>
        </p:nvSpPr>
        <p:spPr>
          <a:xfrm>
            <a:off x="594360" y="566928"/>
            <a:ext cx="4846320" cy="1143000"/>
          </a:xfrm>
          <a:prstGeom prst="rect">
            <a:avLst/>
          </a:prstGeom>
          <a:noFill/>
          <a:ln/>
        </p:spPr>
        <p:txBody>
          <a:bodyPr wrap="square" lIns="0" tIns="0" rIns="0" bIns="0" rtlCol="0" anchor="ctr">
            <a:normAutofit/>
          </a:bodyPr>
          <a:lstStyle/>
          <a:p>
            <a:pPr marL="0" indent="0">
              <a:buNone/>
            </a:pPr>
            <a:r>
              <a:rPr lang="en-US" sz="3200" b="1" dirty="0">
                <a:solidFill>
                  <a:srgbClr val="FFFFFF"/>
                </a:solidFill>
                <a:latin typeface="Aptos Display" pitchFamily="34" charset="0"/>
                <a:ea typeface="Aptos Display" pitchFamily="34" charset="-122"/>
                <a:cs typeface="Aptos Display" pitchFamily="34" charset="-120"/>
              </a:rPr>
              <a:t>Building Web Applications</a:t>
            </a:r>
            <a:endParaRPr lang="en-US" sz="3200" dirty="0"/>
          </a:p>
          <a:p>
            <a:pPr marL="0" indent="0">
              <a:buNone/>
            </a:pPr>
            <a:r>
              <a:rPr lang="en-US" sz="3200" b="1" dirty="0">
                <a:solidFill>
                  <a:srgbClr val="FFFFFF"/>
                </a:solidFill>
                <a:latin typeface="Aptos Display" pitchFamily="34" charset="0"/>
                <a:ea typeface="Aptos Display" pitchFamily="34" charset="-122"/>
                <a:cs typeface="Aptos Display" pitchFamily="34" charset="-120"/>
              </a:rPr>
              <a:t>in Django</a:t>
            </a:r>
            <a:endParaRPr lang="en-US" sz="3200" dirty="0"/>
          </a:p>
        </p:txBody>
      </p:sp>
      <p:sp>
        <p:nvSpPr>
          <p:cNvPr id="5" name="Text 2"/>
          <p:cNvSpPr/>
          <p:nvPr/>
        </p:nvSpPr>
        <p:spPr>
          <a:xfrm>
            <a:off x="612648" y="1828800"/>
            <a:ext cx="4754880" cy="320040"/>
          </a:xfrm>
          <a:prstGeom prst="rect">
            <a:avLst/>
          </a:prstGeom>
          <a:noFill/>
          <a:ln/>
        </p:spPr>
        <p:txBody>
          <a:bodyPr wrap="square" lIns="0" tIns="0" rIns="0" bIns="0" rtlCol="0" anchor="ctr"/>
          <a:lstStyle/>
          <a:p>
            <a:pPr marL="0" indent="0">
              <a:buNone/>
            </a:pPr>
            <a:r>
              <a:rPr lang="en-US" sz="1900" dirty="0">
                <a:solidFill>
                  <a:srgbClr val="E9F6F6"/>
                </a:solidFill>
              </a:rPr>
              <a:t>A Campus-Linked Open Course</a:t>
            </a:r>
            <a:endParaRPr lang="en-US" sz="1900" dirty="0"/>
          </a:p>
        </p:txBody>
      </p:sp>
      <p:sp>
        <p:nvSpPr>
          <p:cNvPr id="6" name="Text 3"/>
          <p:cNvSpPr/>
          <p:nvPr/>
        </p:nvSpPr>
        <p:spPr>
          <a:xfrm>
            <a:off x="603504" y="2359152"/>
            <a:ext cx="4297680" cy="731520"/>
          </a:xfrm>
          <a:prstGeom prst="rect">
            <a:avLst/>
          </a:prstGeom>
          <a:noFill/>
          <a:ln/>
        </p:spPr>
        <p:txBody>
          <a:bodyPr wrap="square" lIns="0" tIns="0" rIns="0" bIns="0" rtlCol="0" anchor="ctr"/>
          <a:lstStyle/>
          <a:p>
            <a:pPr marL="0" indent="0">
              <a:buNone/>
            </a:pPr>
            <a:r>
              <a:rPr lang="en-US" sz="5600" b="1" dirty="0">
                <a:solidFill>
                  <a:srgbClr val="F8C463"/>
                </a:solidFill>
                <a:latin typeface="Aptos Display" pitchFamily="34" charset="0"/>
                <a:ea typeface="Aptos Display" pitchFamily="34" charset="-122"/>
                <a:cs typeface="Aptos Display" pitchFamily="34" charset="-120"/>
              </a:rPr>
              <a:t>CLOC</a:t>
            </a:r>
            <a:endParaRPr lang="en-US" sz="5600" dirty="0"/>
          </a:p>
        </p:txBody>
      </p:sp>
      <p:sp>
        <p:nvSpPr>
          <p:cNvPr id="7" name="Text 4"/>
          <p:cNvSpPr/>
          <p:nvPr/>
        </p:nvSpPr>
        <p:spPr>
          <a:xfrm>
            <a:off x="658368" y="3273552"/>
            <a:ext cx="4297680" cy="320040"/>
          </a:xfrm>
          <a:prstGeom prst="rect">
            <a:avLst/>
          </a:prstGeom>
          <a:noFill/>
          <a:ln/>
        </p:spPr>
        <p:txBody>
          <a:bodyPr wrap="square" lIns="0" tIns="0" rIns="0" bIns="0" rtlCol="0" anchor="ctr"/>
          <a:lstStyle/>
          <a:p>
            <a:pPr marL="0" indent="0">
              <a:buNone/>
            </a:pPr>
            <a:r>
              <a:rPr lang="en-US" sz="1800" dirty="0">
                <a:solidFill>
                  <a:srgbClr val="FFFFFF"/>
                </a:solidFill>
              </a:rPr>
              <a:t>First offering begins August 1</a:t>
            </a:r>
            <a:endParaRPr lang="en-US" sz="1800" dirty="0"/>
          </a:p>
        </p:txBody>
      </p:sp>
      <p:sp>
        <p:nvSpPr>
          <p:cNvPr id="8" name="Shape 5"/>
          <p:cNvSpPr/>
          <p:nvPr/>
        </p:nvSpPr>
        <p:spPr>
          <a:xfrm>
            <a:off x="658368" y="3840480"/>
            <a:ext cx="2880360" cy="384048"/>
          </a:xfrm>
          <a:prstGeom prst="roundRect">
            <a:avLst>
              <a:gd name="adj" fmla="val 19048"/>
            </a:avLst>
          </a:prstGeom>
          <a:solidFill>
            <a:srgbClr val="138A96"/>
          </a:solidFill>
          <a:ln w="12700">
            <a:solidFill>
              <a:srgbClr val="138A96">
                <a:alpha val="0"/>
              </a:srgbClr>
            </a:solidFill>
            <a:prstDash val="solid"/>
          </a:ln>
        </p:spPr>
        <p:txBody>
          <a:bodyPr/>
          <a:lstStyle/>
          <a:p>
            <a:endParaRPr/>
          </a:p>
        </p:txBody>
      </p:sp>
      <p:sp>
        <p:nvSpPr>
          <p:cNvPr id="9" name="Text 6"/>
          <p:cNvSpPr/>
          <p:nvPr/>
        </p:nvSpPr>
        <p:spPr>
          <a:xfrm>
            <a:off x="768096" y="3922776"/>
            <a:ext cx="2660904" cy="182880"/>
          </a:xfrm>
          <a:prstGeom prst="rect">
            <a:avLst/>
          </a:prstGeom>
          <a:noFill/>
          <a:ln/>
        </p:spPr>
        <p:txBody>
          <a:bodyPr wrap="square" lIns="0" tIns="0" rIns="0" bIns="0" rtlCol="0" anchor="ctr"/>
          <a:lstStyle/>
          <a:p>
            <a:pPr marL="0" indent="0" algn="ctr">
              <a:buNone/>
            </a:pPr>
            <a:r>
              <a:rPr lang="en-US" sz="1150" b="1" dirty="0">
                <a:solidFill>
                  <a:srgbClr val="FFFFFF"/>
                </a:solidFill>
              </a:rPr>
              <a:t>$300 • supports instructional staff</a:t>
            </a:r>
            <a:endParaRPr lang="en-US" sz="1150" dirty="0"/>
          </a:p>
        </p:txBody>
      </p:sp>
      <p:sp>
        <p:nvSpPr>
          <p:cNvPr id="2" name="Text 6">
            <a:extLst>
              <a:ext uri="{FF2B5EF4-FFF2-40B4-BE49-F238E27FC236}">
                <a16:creationId xmlns:a16="http://schemas.microsoft.com/office/drawing/2014/main" id="{20BAB88A-5B40-25CF-4959-C20D7F46BC69}"/>
              </a:ext>
            </a:extLst>
          </p:cNvPr>
          <p:cNvSpPr/>
          <p:nvPr/>
        </p:nvSpPr>
        <p:spPr>
          <a:xfrm>
            <a:off x="640080" y="4509708"/>
            <a:ext cx="4800600" cy="502920"/>
          </a:xfrm>
          <a:prstGeom prst="roundRect">
            <a:avLst/>
          </a:prstGeom>
          <a:solidFill>
            <a:srgbClr val="FFCB05"/>
          </a:solidFill>
          <a:ln>
            <a:solidFill>
              <a:srgbClr val="FFCB05">
                <a:alpha val="0"/>
              </a:srgbClr>
            </a:solidFill>
          </a:ln>
        </p:spPr>
        <p:txBody>
          <a:bodyPr wrap="square" lIns="508" tIns="508" rIns="508" bIns="508" rtlCol="0" anchor="ctr">
            <a:normAutofit/>
          </a:bodyPr>
          <a:lstStyle/>
          <a:p>
            <a:pPr marL="0" indent="0" algn="ctr">
              <a:buNone/>
            </a:pPr>
            <a:r>
              <a:rPr lang="en-US" sz="1400" b="1" dirty="0">
                <a:solidFill>
                  <a:srgbClr val="00274C"/>
                </a:solidFill>
                <a:latin typeface="Aptos" pitchFamily="34" charset="0"/>
                <a:ea typeface="Aptos" pitchFamily="34" charset="-122"/>
                <a:cs typeface="Aptos" pitchFamily="34" charset="-120"/>
              </a:rPr>
              <a:t>This is an experiment to explore feasibility of this course model.</a:t>
            </a:r>
            <a:endParaRPr lang="en-US" sz="1400" dirty="0"/>
          </a:p>
        </p:txBody>
      </p:sp>
      <p:sp>
        <p:nvSpPr>
          <p:cNvPr id="11" name="TextBox 10">
            <a:extLst>
              <a:ext uri="{FF2B5EF4-FFF2-40B4-BE49-F238E27FC236}">
                <a16:creationId xmlns:a16="http://schemas.microsoft.com/office/drawing/2014/main" id="{86348356-21D6-B404-353E-9CAD96DE0212}"/>
              </a:ext>
            </a:extLst>
          </p:cNvPr>
          <p:cNvSpPr txBox="1"/>
          <p:nvPr/>
        </p:nvSpPr>
        <p:spPr>
          <a:xfrm>
            <a:off x="1159627" y="5263082"/>
            <a:ext cx="3476529" cy="523220"/>
          </a:xfrm>
          <a:prstGeom prst="rect">
            <a:avLst/>
          </a:prstGeom>
          <a:noFill/>
        </p:spPr>
        <p:txBody>
          <a:bodyPr wrap="none" rtlCol="0">
            <a:spAutoFit/>
          </a:bodyPr>
          <a:lstStyle/>
          <a:p>
            <a:r>
              <a:rPr lang="en-US" sz="2800" dirty="0" err="1">
                <a:solidFill>
                  <a:schemeClr val="bg1"/>
                </a:solidFill>
              </a:rPr>
              <a:t>django.dr-chuck.com</a:t>
            </a:r>
            <a:endParaRPr lang="en-US" sz="2800" dirty="0">
              <a:solidFill>
                <a:schemeClr val="bg1"/>
              </a:solidFill>
            </a:endParaRPr>
          </a:p>
        </p:txBody>
      </p:sp>
      <p:sp>
        <p:nvSpPr>
          <p:cNvPr id="12" name="Shape 0">
            <a:extLst>
              <a:ext uri="{FF2B5EF4-FFF2-40B4-BE49-F238E27FC236}">
                <a16:creationId xmlns:a16="http://schemas.microsoft.com/office/drawing/2014/main" id="{0D82E5D1-7BE7-95D6-2F90-D898443A3873}"/>
              </a:ext>
            </a:extLst>
          </p:cNvPr>
          <p:cNvSpPr/>
          <p:nvPr/>
        </p:nvSpPr>
        <p:spPr>
          <a:xfrm>
            <a:off x="3619263" y="6291072"/>
            <a:ext cx="3606259" cy="502920"/>
          </a:xfrm>
          <a:prstGeom prst="rect">
            <a:avLst/>
          </a:prstGeom>
          <a:solidFill>
            <a:srgbClr val="0F2233"/>
          </a:solidFill>
          <a:ln w="12700">
            <a:solidFill>
              <a:srgbClr val="0F2233">
                <a:alpha val="0"/>
              </a:srgbClr>
            </a:solidFill>
            <a:prstDash val="solid"/>
          </a:ln>
        </p:spPr>
        <p:txBody>
          <a:bodyPr/>
          <a:lstStyle/>
          <a:p>
            <a:endParaRPr/>
          </a:p>
        </p:txBody>
      </p:sp>
      <p:pic>
        <p:nvPicPr>
          <p:cNvPr id="14" name="Picture 13" descr="A computer on a desk&#10;&#10;AI-generated content may be incorrect.">
            <a:extLst>
              <a:ext uri="{FF2B5EF4-FFF2-40B4-BE49-F238E27FC236}">
                <a16:creationId xmlns:a16="http://schemas.microsoft.com/office/drawing/2014/main" id="{2993E7BA-2990-0A8D-F715-F7D767362E5C}"/>
              </a:ext>
            </a:extLst>
          </p:cNvPr>
          <p:cNvPicPr>
            <a:picLocks noChangeAspect="1"/>
          </p:cNvPicPr>
          <p:nvPr/>
        </p:nvPicPr>
        <p:blipFill>
          <a:blip r:embed="rId3"/>
          <a:srcRect r="50484" b="10404"/>
          <a:stretch>
            <a:fillRect/>
          </a:stretch>
        </p:blipFill>
        <p:spPr>
          <a:xfrm>
            <a:off x="5921839" y="1389888"/>
            <a:ext cx="2924852" cy="2978566"/>
          </a:xfrm>
          <a:prstGeom prst="rect">
            <a:avLst/>
          </a:prstGeom>
        </p:spPr>
      </p:pic>
      <p:sp>
        <p:nvSpPr>
          <p:cNvPr id="15" name="TextBox 14">
            <a:extLst>
              <a:ext uri="{FF2B5EF4-FFF2-40B4-BE49-F238E27FC236}">
                <a16:creationId xmlns:a16="http://schemas.microsoft.com/office/drawing/2014/main" id="{74BB14BB-0209-ED99-A060-BD3467519881}"/>
              </a:ext>
            </a:extLst>
          </p:cNvPr>
          <p:cNvSpPr txBox="1"/>
          <p:nvPr/>
        </p:nvSpPr>
        <p:spPr>
          <a:xfrm>
            <a:off x="7117082" y="5053898"/>
            <a:ext cx="3476529" cy="523220"/>
          </a:xfrm>
          <a:prstGeom prst="rect">
            <a:avLst/>
          </a:prstGeom>
          <a:noFill/>
        </p:spPr>
        <p:txBody>
          <a:bodyPr wrap="none" rtlCol="0">
            <a:spAutoFit/>
          </a:bodyPr>
          <a:lstStyle/>
          <a:p>
            <a:r>
              <a:rPr lang="en-US" sz="2800" dirty="0" err="1">
                <a:solidFill>
                  <a:schemeClr val="bg1"/>
                </a:solidFill>
              </a:rPr>
              <a:t>django.dr-chuck.com</a:t>
            </a:r>
            <a:endParaRPr lang="en-US" sz="2800" dirty="0">
              <a:solidFill>
                <a:schemeClr val="bg1"/>
              </a:solidFill>
            </a:endParaRPr>
          </a:p>
        </p:txBody>
      </p:sp>
      <p:pic>
        <p:nvPicPr>
          <p:cNvPr id="16" name="Picture 15" descr="A qr code on a white background&#10;&#10;AI-generated content may be incorrect.">
            <a:extLst>
              <a:ext uri="{FF2B5EF4-FFF2-40B4-BE49-F238E27FC236}">
                <a16:creationId xmlns:a16="http://schemas.microsoft.com/office/drawing/2014/main" id="{F7D642F7-7EB0-A1D5-D261-BB767B7B388D}"/>
              </a:ext>
            </a:extLst>
          </p:cNvPr>
          <p:cNvPicPr>
            <a:picLocks noChangeAspect="1"/>
          </p:cNvPicPr>
          <p:nvPr/>
        </p:nvPicPr>
        <p:blipFill>
          <a:blip r:embed="rId4"/>
          <a:stretch>
            <a:fillRect/>
          </a:stretch>
        </p:blipFill>
        <p:spPr>
          <a:xfrm>
            <a:off x="9022200" y="1389888"/>
            <a:ext cx="2968402" cy="2968402"/>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F4F7FB"/>
          </a:solidFill>
          <a:ln w="12700">
            <a:solidFill>
              <a:srgbClr val="F4F7FB">
                <a:alpha val="0"/>
              </a:srgbClr>
            </a:solidFill>
            <a:prstDash val="solid"/>
          </a:ln>
        </p:spPr>
        <p:txBody>
          <a:bodyPr/>
          <a:lstStyle/>
          <a:p>
            <a:endParaRPr lang="en-US"/>
          </a:p>
        </p:txBody>
      </p:sp>
      <p:sp>
        <p:nvSpPr>
          <p:cNvPr id="3" name="Shape 1"/>
          <p:cNvSpPr/>
          <p:nvPr/>
        </p:nvSpPr>
        <p:spPr>
          <a:xfrm>
            <a:off x="0" y="0"/>
            <a:ext cx="155448" cy="6858000"/>
          </a:xfrm>
          <a:prstGeom prst="rect">
            <a:avLst/>
          </a:prstGeom>
          <a:solidFill>
            <a:srgbClr val="FFCB05"/>
          </a:solidFill>
          <a:ln w="12700">
            <a:solidFill>
              <a:srgbClr val="FFCB05">
                <a:alpha val="0"/>
              </a:srgbClr>
            </a:solidFill>
            <a:prstDash val="solid"/>
          </a:ln>
        </p:spPr>
        <p:txBody>
          <a:bodyPr/>
          <a:lstStyle/>
          <a:p>
            <a:endParaRPr lang="en-US"/>
          </a:p>
        </p:txBody>
      </p:sp>
      <p:sp>
        <p:nvSpPr>
          <p:cNvPr id="4" name="Text 2"/>
          <p:cNvSpPr/>
          <p:nvPr/>
        </p:nvSpPr>
        <p:spPr>
          <a:xfrm>
            <a:off x="594360" y="402336"/>
            <a:ext cx="5257800" cy="502920"/>
          </a:xfrm>
          <a:prstGeom prst="rect">
            <a:avLst/>
          </a:prstGeom>
          <a:noFill/>
          <a:ln/>
        </p:spPr>
        <p:txBody>
          <a:bodyPr wrap="square" lIns="508" tIns="508" rIns="508" bIns="508" rtlCol="0" anchor="ctr">
            <a:normAutofit/>
          </a:bodyPr>
          <a:lstStyle/>
          <a:p>
            <a:pPr marL="0" indent="0" algn="l">
              <a:buNone/>
            </a:pPr>
            <a:r>
              <a:rPr lang="en-US" sz="3100" b="1" dirty="0">
                <a:solidFill>
                  <a:srgbClr val="00274C"/>
                </a:solidFill>
                <a:latin typeface="Aptos" pitchFamily="34" charset="0"/>
                <a:ea typeface="Aptos" pitchFamily="34" charset="-122"/>
                <a:cs typeface="Aptos" pitchFamily="34" charset="-120"/>
              </a:rPr>
              <a:t>Why a CLOC?</a:t>
            </a:r>
            <a:endParaRPr lang="en-US" sz="3100" dirty="0"/>
          </a:p>
        </p:txBody>
      </p:sp>
      <p:sp>
        <p:nvSpPr>
          <p:cNvPr id="5" name="Text 3"/>
          <p:cNvSpPr/>
          <p:nvPr/>
        </p:nvSpPr>
        <p:spPr>
          <a:xfrm>
            <a:off x="621792" y="941832"/>
            <a:ext cx="5303520" cy="320040"/>
          </a:xfrm>
          <a:prstGeom prst="rect">
            <a:avLst/>
          </a:prstGeom>
          <a:noFill/>
          <a:ln/>
        </p:spPr>
        <p:txBody>
          <a:bodyPr wrap="square" lIns="508" tIns="508" rIns="508" bIns="508" rtlCol="0" anchor="ctr">
            <a:normAutofit fontScale="85000" lnSpcReduction="10000"/>
          </a:bodyPr>
          <a:lstStyle/>
          <a:p>
            <a:pPr marL="0" indent="0" algn="l">
              <a:buNone/>
            </a:pPr>
            <a:r>
              <a:rPr lang="en-US" sz="1500" dirty="0">
                <a:solidFill>
                  <a:srgbClr val="4F5B66"/>
                </a:solidFill>
                <a:latin typeface="Aptos" pitchFamily="34" charset="0"/>
                <a:ea typeface="Aptos" pitchFamily="34" charset="-122"/>
                <a:cs typeface="Aptos" pitchFamily="34" charset="-120"/>
              </a:rPr>
              <a:t>A structure for learners who want more than “watch videos and hope.”</a:t>
            </a:r>
            <a:endParaRPr lang="en-US" sz="1500" dirty="0"/>
          </a:p>
        </p:txBody>
      </p:sp>
      <p:pic>
        <p:nvPicPr>
          <p:cNvPr id="6" name="Image 0" descr="/mnt/data/a_realistic_high_quality_digital_photo_cgi_style.png"/>
          <p:cNvPicPr>
            <a:picLocks noChangeAspect="1"/>
          </p:cNvPicPr>
          <p:nvPr/>
        </p:nvPicPr>
        <p:blipFill>
          <a:blip r:embed="rId3"/>
          <a:srcRect r="32016"/>
          <a:stretch>
            <a:fillRect/>
          </a:stretch>
        </p:blipFill>
        <p:spPr>
          <a:xfrm>
            <a:off x="6720101" y="653796"/>
            <a:ext cx="3450102" cy="3298874"/>
          </a:xfrm>
          <a:prstGeom prst="rect">
            <a:avLst/>
          </a:prstGeom>
        </p:spPr>
      </p:pic>
      <p:sp>
        <p:nvSpPr>
          <p:cNvPr id="7" name="Text 4"/>
          <p:cNvSpPr/>
          <p:nvPr/>
        </p:nvSpPr>
        <p:spPr>
          <a:xfrm>
            <a:off x="676656" y="1417320"/>
            <a:ext cx="5166360" cy="320040"/>
          </a:xfrm>
          <a:prstGeom prst="rect">
            <a:avLst/>
          </a:prstGeom>
          <a:noFill/>
          <a:ln/>
        </p:spPr>
        <p:txBody>
          <a:bodyPr wrap="square" lIns="508" tIns="508" rIns="508" bIns="508" rtlCol="0" anchor="ctr">
            <a:normAutofit fontScale="77500" lnSpcReduction="20000"/>
          </a:bodyPr>
          <a:lstStyle/>
          <a:p>
            <a:pPr marL="0" indent="0" algn="l">
              <a:buNone/>
            </a:pPr>
            <a:r>
              <a:rPr lang="en-US" sz="2300" b="1" dirty="0">
                <a:solidFill>
                  <a:srgbClr val="00274C"/>
                </a:solidFill>
                <a:latin typeface="Aptos" pitchFamily="34" charset="0"/>
                <a:ea typeface="Aptos" pitchFamily="34" charset="-122"/>
                <a:cs typeface="Aptos" pitchFamily="34" charset="-120"/>
              </a:rPr>
              <a:t>Online courses scale, but learners often need:</a:t>
            </a:r>
            <a:endParaRPr lang="en-US" sz="2300" dirty="0"/>
          </a:p>
        </p:txBody>
      </p:sp>
      <p:sp>
        <p:nvSpPr>
          <p:cNvPr id="8" name="Text 5"/>
          <p:cNvSpPr/>
          <p:nvPr/>
        </p:nvSpPr>
        <p:spPr>
          <a:xfrm>
            <a:off x="841247" y="1965960"/>
            <a:ext cx="6164463" cy="2240280"/>
          </a:xfrm>
          <a:prstGeom prst="rect">
            <a:avLst/>
          </a:prstGeom>
          <a:noFill/>
          <a:ln/>
        </p:spPr>
        <p:txBody>
          <a:bodyPr wrap="square" lIns="635" tIns="635" rIns="635" bIns="635" rtlCol="0" anchor="ctr">
            <a:normAutofit/>
          </a:bodyPr>
          <a:lstStyle/>
          <a:p>
            <a:pPr marL="342900" indent="-342900">
              <a:buFont typeface="Arial" panose="020B0604020202020204" pitchFamily="34" charset="0"/>
              <a:buChar char="•"/>
            </a:pPr>
            <a:r>
              <a:rPr lang="en-US" sz="2000" dirty="0">
                <a:solidFill>
                  <a:srgbClr val="06254A"/>
                </a:solidFill>
                <a:latin typeface="Aptos" pitchFamily="34" charset="0"/>
                <a:ea typeface="Aptos" pitchFamily="34" charset="-122"/>
                <a:cs typeface="Aptos" pitchFamily="34" charset="-120"/>
              </a:rPr>
              <a:t>a calendar that creates momentum</a:t>
            </a:r>
            <a:endParaRPr lang="en-US" sz="2000" dirty="0"/>
          </a:p>
          <a:p>
            <a:pPr marL="342900" indent="-342900">
              <a:buFont typeface="Arial" panose="020B0604020202020204" pitchFamily="34" charset="0"/>
              <a:buChar char="•"/>
            </a:pPr>
            <a:r>
              <a:rPr lang="en-US" sz="2000" dirty="0">
                <a:solidFill>
                  <a:srgbClr val="06254A"/>
                </a:solidFill>
                <a:latin typeface="Aptos" pitchFamily="34" charset="0"/>
                <a:ea typeface="Aptos" pitchFamily="34" charset="-122"/>
                <a:cs typeface="Aptos" pitchFamily="34" charset="-120"/>
              </a:rPr>
              <a:t>office hours and responsive help</a:t>
            </a:r>
            <a:endParaRPr lang="en-US" sz="2000" dirty="0"/>
          </a:p>
          <a:p>
            <a:pPr marL="342900" indent="-342900">
              <a:buFont typeface="Arial" panose="020B0604020202020204" pitchFamily="34" charset="0"/>
              <a:buChar char="•"/>
            </a:pPr>
            <a:r>
              <a:rPr lang="en-US" sz="2000" dirty="0">
                <a:solidFill>
                  <a:srgbClr val="06254A"/>
                </a:solidFill>
                <a:latin typeface="Aptos" pitchFamily="34" charset="0"/>
                <a:ea typeface="Aptos" pitchFamily="34" charset="-122"/>
                <a:cs typeface="Aptos" pitchFamily="34" charset="-120"/>
              </a:rPr>
              <a:t>assignments that build toward a real application</a:t>
            </a:r>
            <a:endParaRPr lang="en-US" sz="2000" dirty="0"/>
          </a:p>
          <a:p>
            <a:pPr marL="342900" indent="-342900">
              <a:buFont typeface="Arial" panose="020B0604020202020204" pitchFamily="34" charset="0"/>
              <a:buChar char="•"/>
            </a:pPr>
            <a:r>
              <a:rPr lang="en-US" sz="2000" dirty="0">
                <a:solidFill>
                  <a:srgbClr val="06254A"/>
                </a:solidFill>
                <a:latin typeface="Aptos" pitchFamily="34" charset="0"/>
                <a:ea typeface="Aptos" pitchFamily="34" charset="-122"/>
                <a:cs typeface="Aptos" pitchFamily="34" charset="-120"/>
              </a:rPr>
              <a:t>human feedback when the course is confusing</a:t>
            </a:r>
            <a:endParaRPr lang="en-US" sz="2000" dirty="0"/>
          </a:p>
          <a:p>
            <a:pPr marL="342900" indent="-342900">
              <a:buFont typeface="Arial" panose="020B0604020202020204" pitchFamily="34" charset="0"/>
              <a:buChar char="•"/>
            </a:pPr>
            <a:r>
              <a:rPr lang="en-US" sz="2000" dirty="0">
                <a:solidFill>
                  <a:srgbClr val="06254A"/>
                </a:solidFill>
                <a:latin typeface="Aptos" pitchFamily="34" charset="0"/>
                <a:ea typeface="Aptos" pitchFamily="34" charset="-122"/>
                <a:cs typeface="Aptos" pitchFamily="34" charset="-120"/>
              </a:rPr>
              <a:t>a cohort moving through the material together</a:t>
            </a:r>
            <a:endParaRPr lang="en-US" sz="2000" dirty="0"/>
          </a:p>
        </p:txBody>
      </p:sp>
      <p:sp>
        <p:nvSpPr>
          <p:cNvPr id="9" name="Text 6"/>
          <p:cNvSpPr/>
          <p:nvPr/>
        </p:nvSpPr>
        <p:spPr>
          <a:xfrm>
            <a:off x="749807" y="4800599"/>
            <a:ext cx="5535245" cy="743673"/>
          </a:xfrm>
          <a:prstGeom prst="rect">
            <a:avLst/>
          </a:prstGeom>
          <a:noFill/>
          <a:ln/>
        </p:spPr>
        <p:txBody>
          <a:bodyPr wrap="square" lIns="508" tIns="508" rIns="508" bIns="508" rtlCol="0" anchor="ctr">
            <a:normAutofit fontScale="85000" lnSpcReduction="10000"/>
          </a:bodyPr>
          <a:lstStyle/>
          <a:p>
            <a:pPr marL="0" indent="0" algn="l">
              <a:buNone/>
            </a:pPr>
            <a:r>
              <a:rPr lang="en-US" sz="2500" b="1" dirty="0">
                <a:solidFill>
                  <a:srgbClr val="00274C"/>
                </a:solidFill>
                <a:latin typeface="Aptos" pitchFamily="34" charset="0"/>
                <a:ea typeface="Aptos" pitchFamily="34" charset="-122"/>
                <a:cs typeface="Aptos" pitchFamily="34" charset="-120"/>
              </a:rPr>
              <a:t>CLOC keeps the online flexibility while providing campus-like rhythm and support.</a:t>
            </a:r>
            <a:endParaRPr lang="en-US" sz="2500" dirty="0"/>
          </a:p>
        </p:txBody>
      </p:sp>
      <p:sp>
        <p:nvSpPr>
          <p:cNvPr id="11" name="TextBox 10">
            <a:extLst>
              <a:ext uri="{FF2B5EF4-FFF2-40B4-BE49-F238E27FC236}">
                <a16:creationId xmlns:a16="http://schemas.microsoft.com/office/drawing/2014/main" id="{55E89F23-B97D-100D-BABE-A4F08518ABA8}"/>
              </a:ext>
            </a:extLst>
          </p:cNvPr>
          <p:cNvSpPr txBox="1"/>
          <p:nvPr/>
        </p:nvSpPr>
        <p:spPr>
          <a:xfrm>
            <a:off x="8525466" y="5916168"/>
            <a:ext cx="3476529" cy="523220"/>
          </a:xfrm>
          <a:prstGeom prst="rect">
            <a:avLst/>
          </a:prstGeom>
          <a:noFill/>
        </p:spPr>
        <p:txBody>
          <a:bodyPr wrap="none" rtlCol="0">
            <a:spAutoFit/>
          </a:bodyPr>
          <a:lstStyle/>
          <a:p>
            <a:r>
              <a:rPr lang="en-US" sz="2800" dirty="0" err="1"/>
              <a:t>django.dr-chuck.com</a:t>
            </a:r>
            <a:endParaRPr lang="en-US" sz="2800" dirty="0"/>
          </a:p>
        </p:txBody>
      </p:sp>
      <p:pic>
        <p:nvPicPr>
          <p:cNvPr id="12" name="Picture 11" descr="A qr code on a white background&#10;&#10;AI-generated content may be incorrect.">
            <a:extLst>
              <a:ext uri="{FF2B5EF4-FFF2-40B4-BE49-F238E27FC236}">
                <a16:creationId xmlns:a16="http://schemas.microsoft.com/office/drawing/2014/main" id="{EC7617EB-78A6-A103-1FC3-F6BB294515E5}"/>
              </a:ext>
            </a:extLst>
          </p:cNvPr>
          <p:cNvPicPr>
            <a:picLocks noChangeAspect="1"/>
          </p:cNvPicPr>
          <p:nvPr/>
        </p:nvPicPr>
        <p:blipFill>
          <a:blip r:embed="rId4"/>
          <a:stretch>
            <a:fillRect/>
          </a:stretch>
        </p:blipFill>
        <p:spPr>
          <a:xfrm>
            <a:off x="9033593" y="2947766"/>
            <a:ext cx="2968402" cy="2968402"/>
          </a:xfrm>
          <a:prstGeom prst="rect">
            <a:avLst/>
          </a:prstGeom>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pic>
        <p:nvPicPr>
          <p:cNvPr id="2" name="Picture 1" descr="A computer on a desk&#10;&#10;AI-generated content may be incorrect.">
            <a:extLst>
              <a:ext uri="{FF2B5EF4-FFF2-40B4-BE49-F238E27FC236}">
                <a16:creationId xmlns:a16="http://schemas.microsoft.com/office/drawing/2014/main" id="{D704FCC6-AFA1-9E07-BD3E-578C1E4CBB8C}"/>
              </a:ext>
            </a:extLst>
          </p:cNvPr>
          <p:cNvPicPr>
            <a:picLocks noChangeAspect="1"/>
          </p:cNvPicPr>
          <p:nvPr/>
        </p:nvPicPr>
        <p:blipFill>
          <a:blip r:embed="rId2"/>
          <a:stretch>
            <a:fillRect/>
          </a:stretch>
        </p:blipFill>
        <p:spPr>
          <a:xfrm>
            <a:off x="0" y="-1"/>
            <a:ext cx="12192000" cy="6861645"/>
          </a:xfrm>
          <a:prstGeom prst="rect">
            <a:avLst/>
          </a:prstGeom>
        </p:spPr>
      </p:pic>
    </p:spTree>
    <p:extLst>
      <p:ext uri="{BB962C8B-B14F-4D97-AF65-F5344CB8AC3E}">
        <p14:creationId xmlns:p14="http://schemas.microsoft.com/office/powerpoint/2010/main" val="2972914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F4F7FB"/>
          </a:solidFill>
          <a:ln w="12700">
            <a:solidFill>
              <a:srgbClr val="F4F7FB">
                <a:alpha val="0"/>
              </a:srgbClr>
            </a:solidFill>
            <a:prstDash val="solid"/>
          </a:ln>
        </p:spPr>
        <p:txBody>
          <a:bodyPr/>
          <a:lstStyle/>
          <a:p>
            <a:endParaRPr lang="en-US"/>
          </a:p>
        </p:txBody>
      </p:sp>
      <p:sp>
        <p:nvSpPr>
          <p:cNvPr id="3" name="Shape 1"/>
          <p:cNvSpPr/>
          <p:nvPr/>
        </p:nvSpPr>
        <p:spPr>
          <a:xfrm>
            <a:off x="0" y="0"/>
            <a:ext cx="155448" cy="6858000"/>
          </a:xfrm>
          <a:prstGeom prst="rect">
            <a:avLst/>
          </a:prstGeom>
          <a:solidFill>
            <a:srgbClr val="FFCB05"/>
          </a:solidFill>
          <a:ln w="12700">
            <a:solidFill>
              <a:srgbClr val="FFCB05">
                <a:alpha val="0"/>
              </a:srgbClr>
            </a:solidFill>
            <a:prstDash val="solid"/>
          </a:ln>
        </p:spPr>
        <p:txBody>
          <a:bodyPr/>
          <a:lstStyle/>
          <a:p>
            <a:endParaRPr lang="en-US"/>
          </a:p>
        </p:txBody>
      </p:sp>
      <p:sp>
        <p:nvSpPr>
          <p:cNvPr id="4" name="Text 2"/>
          <p:cNvSpPr/>
          <p:nvPr/>
        </p:nvSpPr>
        <p:spPr>
          <a:xfrm>
            <a:off x="594360" y="402336"/>
            <a:ext cx="5257800" cy="502920"/>
          </a:xfrm>
          <a:prstGeom prst="rect">
            <a:avLst/>
          </a:prstGeom>
          <a:noFill/>
          <a:ln/>
        </p:spPr>
        <p:txBody>
          <a:bodyPr wrap="square" lIns="508" tIns="508" rIns="508" bIns="508" rtlCol="0" anchor="ctr">
            <a:normAutofit/>
          </a:bodyPr>
          <a:lstStyle/>
          <a:p>
            <a:pPr marL="0" indent="0" algn="l">
              <a:buNone/>
            </a:pPr>
            <a:r>
              <a:rPr lang="en-US" sz="3100" b="1" dirty="0">
                <a:solidFill>
                  <a:srgbClr val="00274C"/>
                </a:solidFill>
                <a:latin typeface="Aptos" pitchFamily="34" charset="0"/>
                <a:ea typeface="Aptos" pitchFamily="34" charset="-122"/>
                <a:cs typeface="Aptos" pitchFamily="34" charset="-120"/>
              </a:rPr>
              <a:t>Similarities and differences</a:t>
            </a:r>
            <a:endParaRPr lang="en-US" sz="3100" dirty="0"/>
          </a:p>
        </p:txBody>
      </p:sp>
      <p:sp>
        <p:nvSpPr>
          <p:cNvPr id="5" name="Text 3"/>
          <p:cNvSpPr/>
          <p:nvPr/>
        </p:nvSpPr>
        <p:spPr>
          <a:xfrm>
            <a:off x="621792" y="941832"/>
            <a:ext cx="5303520" cy="320040"/>
          </a:xfrm>
          <a:prstGeom prst="rect">
            <a:avLst/>
          </a:prstGeom>
          <a:noFill/>
          <a:ln/>
        </p:spPr>
        <p:txBody>
          <a:bodyPr wrap="square" lIns="508" tIns="508" rIns="508" bIns="508" rtlCol="0" anchor="ctr">
            <a:normAutofit fontScale="92500"/>
          </a:bodyPr>
          <a:lstStyle/>
          <a:p>
            <a:pPr marL="0" indent="0" algn="l">
              <a:buNone/>
            </a:pPr>
            <a:r>
              <a:rPr lang="en-US" sz="1500" dirty="0">
                <a:solidFill>
                  <a:srgbClr val="4F5B66"/>
                </a:solidFill>
                <a:latin typeface="Aptos" pitchFamily="34" charset="0"/>
                <a:ea typeface="Aptos" pitchFamily="34" charset="-122"/>
                <a:cs typeface="Aptos" pitchFamily="34" charset="-120"/>
              </a:rPr>
              <a:t>CLOC borrows from known models but solves a different problem.</a:t>
            </a:r>
            <a:endParaRPr lang="en-US" sz="1500" dirty="0"/>
          </a:p>
        </p:txBody>
      </p:sp>
      <p:sp>
        <p:nvSpPr>
          <p:cNvPr id="6" name="Shape 4"/>
          <p:cNvSpPr/>
          <p:nvPr/>
        </p:nvSpPr>
        <p:spPr>
          <a:xfrm>
            <a:off x="749808" y="1417320"/>
            <a:ext cx="3017520" cy="4434840"/>
          </a:xfrm>
          <a:prstGeom prst="roundRect">
            <a:avLst>
              <a:gd name="adj" fmla="val 1818"/>
            </a:avLst>
          </a:prstGeom>
          <a:solidFill>
            <a:srgbClr val="E8EEF6"/>
          </a:solidFill>
          <a:ln w="12700">
            <a:solidFill>
              <a:srgbClr val="C6D1DD"/>
            </a:solidFill>
            <a:prstDash val="solid"/>
          </a:ln>
        </p:spPr>
        <p:txBody>
          <a:bodyPr/>
          <a:lstStyle/>
          <a:p>
            <a:endParaRPr lang="en-US"/>
          </a:p>
        </p:txBody>
      </p:sp>
      <p:sp>
        <p:nvSpPr>
          <p:cNvPr id="7" name="Text 5"/>
          <p:cNvSpPr/>
          <p:nvPr/>
        </p:nvSpPr>
        <p:spPr>
          <a:xfrm>
            <a:off x="914400" y="1700784"/>
            <a:ext cx="2651760" cy="320040"/>
          </a:xfrm>
          <a:prstGeom prst="rect">
            <a:avLst/>
          </a:prstGeom>
          <a:noFill/>
          <a:ln/>
        </p:spPr>
        <p:txBody>
          <a:bodyPr wrap="square" lIns="508" tIns="508" rIns="508" bIns="508" rtlCol="0" anchor="ctr">
            <a:normAutofit fontScale="92500" lnSpcReduction="20000"/>
          </a:bodyPr>
          <a:lstStyle/>
          <a:p>
            <a:pPr marL="0" indent="0" algn="ctr">
              <a:buNone/>
            </a:pPr>
            <a:r>
              <a:rPr lang="en-US" sz="2600" b="1" dirty="0">
                <a:solidFill>
                  <a:srgbClr val="00274C"/>
                </a:solidFill>
                <a:latin typeface="Aptos" pitchFamily="34" charset="0"/>
                <a:ea typeface="Aptos" pitchFamily="34" charset="-122"/>
                <a:cs typeface="Aptos" pitchFamily="34" charset="-120"/>
              </a:rPr>
              <a:t>MOOC</a:t>
            </a:r>
            <a:endParaRPr lang="en-US" sz="2600" dirty="0"/>
          </a:p>
        </p:txBody>
      </p:sp>
      <p:sp>
        <p:nvSpPr>
          <p:cNvPr id="12" name="Text 10"/>
          <p:cNvSpPr/>
          <p:nvPr/>
        </p:nvSpPr>
        <p:spPr>
          <a:xfrm>
            <a:off x="1078992" y="2331720"/>
            <a:ext cx="2423160" cy="2194560"/>
          </a:xfrm>
          <a:prstGeom prst="rect">
            <a:avLst/>
          </a:prstGeom>
          <a:noFill/>
          <a:ln/>
        </p:spPr>
        <p:txBody>
          <a:bodyPr wrap="square" lIns="635" tIns="635" rIns="635" bIns="635" rtlCol="0" anchor="ctr">
            <a:normAutofit/>
          </a:bodyPr>
          <a:lstStyle/>
          <a:p>
            <a:r>
              <a:rPr lang="en-US" sz="1600" dirty="0">
                <a:solidFill>
                  <a:srgbClr val="06254A"/>
                </a:solidFill>
                <a:latin typeface="Aptos" pitchFamily="34" charset="0"/>
                <a:ea typeface="Aptos" pitchFamily="34" charset="-122"/>
                <a:cs typeface="Aptos" pitchFamily="34" charset="-120"/>
              </a:rPr>
              <a:t>open access</a:t>
            </a:r>
            <a:endParaRPr lang="en-US" sz="1600" dirty="0"/>
          </a:p>
          <a:p>
            <a:r>
              <a:rPr lang="en-US" sz="1600" dirty="0">
                <a:solidFill>
                  <a:srgbClr val="06254A"/>
                </a:solidFill>
                <a:latin typeface="Aptos" pitchFamily="34" charset="0"/>
                <a:ea typeface="Aptos" pitchFamily="34" charset="-122"/>
                <a:cs typeface="Aptos" pitchFamily="34" charset="-120"/>
              </a:rPr>
              <a:t>large scale</a:t>
            </a:r>
            <a:endParaRPr lang="en-US" sz="1600" dirty="0"/>
          </a:p>
          <a:p>
            <a:r>
              <a:rPr lang="en-US" sz="1600" dirty="0">
                <a:solidFill>
                  <a:srgbClr val="06254A"/>
                </a:solidFill>
                <a:latin typeface="Aptos" pitchFamily="34" charset="0"/>
                <a:ea typeface="Aptos" pitchFamily="34" charset="-122"/>
                <a:cs typeface="Aptos" pitchFamily="34" charset="-120"/>
              </a:rPr>
              <a:t>mostly self-directed</a:t>
            </a:r>
            <a:endParaRPr lang="en-US" sz="1600" dirty="0"/>
          </a:p>
          <a:p>
            <a:r>
              <a:rPr lang="en-US" sz="1600" dirty="0">
                <a:solidFill>
                  <a:srgbClr val="06254A"/>
                </a:solidFill>
                <a:latin typeface="Aptos" pitchFamily="34" charset="0"/>
                <a:ea typeface="Aptos" pitchFamily="34" charset="-122"/>
                <a:cs typeface="Aptos" pitchFamily="34" charset="-120"/>
              </a:rPr>
              <a:t>no live support</a:t>
            </a:r>
          </a:p>
          <a:p>
            <a:r>
              <a:rPr lang="en-US" sz="1600" dirty="0">
                <a:solidFill>
                  <a:srgbClr val="06254A"/>
                </a:solidFill>
                <a:latin typeface="Aptos" pitchFamily="34" charset="0"/>
              </a:rPr>
              <a:t>no instructor interaction</a:t>
            </a:r>
            <a:endParaRPr lang="en-US" sz="1600" dirty="0"/>
          </a:p>
        </p:txBody>
      </p:sp>
      <p:grpSp>
        <p:nvGrpSpPr>
          <p:cNvPr id="21" name="Group 20">
            <a:extLst>
              <a:ext uri="{FF2B5EF4-FFF2-40B4-BE49-F238E27FC236}">
                <a16:creationId xmlns:a16="http://schemas.microsoft.com/office/drawing/2014/main" id="{1C031EF2-51AF-109D-8C28-EA481D4D6034}"/>
              </a:ext>
            </a:extLst>
          </p:cNvPr>
          <p:cNvGrpSpPr/>
          <p:nvPr/>
        </p:nvGrpSpPr>
        <p:grpSpPr>
          <a:xfrm>
            <a:off x="7991856" y="1438507"/>
            <a:ext cx="3017520" cy="4434840"/>
            <a:chOff x="4370832" y="1417320"/>
            <a:chExt cx="3017520" cy="4434840"/>
          </a:xfrm>
        </p:grpSpPr>
        <p:sp>
          <p:nvSpPr>
            <p:cNvPr id="8" name="Shape 6"/>
            <p:cNvSpPr/>
            <p:nvPr/>
          </p:nvSpPr>
          <p:spPr>
            <a:xfrm>
              <a:off x="4370832" y="1417320"/>
              <a:ext cx="3017520" cy="4434840"/>
            </a:xfrm>
            <a:prstGeom prst="roundRect">
              <a:avLst>
                <a:gd name="adj" fmla="val 1818"/>
              </a:avLst>
            </a:prstGeom>
            <a:solidFill>
              <a:srgbClr val="E8EEF6"/>
            </a:solidFill>
            <a:ln w="12700">
              <a:solidFill>
                <a:srgbClr val="C6D1DD"/>
              </a:solidFill>
              <a:prstDash val="solid"/>
            </a:ln>
          </p:spPr>
          <p:txBody>
            <a:bodyPr/>
            <a:lstStyle/>
            <a:p>
              <a:endParaRPr lang="en-US"/>
            </a:p>
          </p:txBody>
        </p:sp>
        <p:sp>
          <p:nvSpPr>
            <p:cNvPr id="9" name="Text 7"/>
            <p:cNvSpPr/>
            <p:nvPr/>
          </p:nvSpPr>
          <p:spPr>
            <a:xfrm>
              <a:off x="4535424" y="1700784"/>
              <a:ext cx="2651760" cy="320040"/>
            </a:xfrm>
            <a:prstGeom prst="rect">
              <a:avLst/>
            </a:prstGeom>
            <a:noFill/>
            <a:ln/>
          </p:spPr>
          <p:txBody>
            <a:bodyPr wrap="square" lIns="508" tIns="508" rIns="508" bIns="508" rtlCol="0" anchor="ctr">
              <a:normAutofit fontScale="92500" lnSpcReduction="20000"/>
            </a:bodyPr>
            <a:lstStyle/>
            <a:p>
              <a:pPr marL="0" indent="0" algn="ctr">
                <a:buNone/>
              </a:pPr>
              <a:r>
                <a:rPr lang="en-US" sz="2600" b="1" dirty="0">
                  <a:solidFill>
                    <a:srgbClr val="00274C"/>
                  </a:solidFill>
                  <a:latin typeface="Aptos" pitchFamily="34" charset="0"/>
                  <a:ea typeface="Aptos" pitchFamily="34" charset="-122"/>
                  <a:cs typeface="Aptos" pitchFamily="34" charset="-120"/>
                </a:rPr>
                <a:t>Campus course</a:t>
              </a:r>
              <a:endParaRPr lang="en-US" sz="2600" dirty="0"/>
            </a:p>
          </p:txBody>
        </p:sp>
        <p:sp>
          <p:nvSpPr>
            <p:cNvPr id="13" name="Text 11"/>
            <p:cNvSpPr/>
            <p:nvPr/>
          </p:nvSpPr>
          <p:spPr>
            <a:xfrm>
              <a:off x="4663440" y="2020825"/>
              <a:ext cx="2423160" cy="3810148"/>
            </a:xfrm>
            <a:prstGeom prst="rect">
              <a:avLst/>
            </a:prstGeom>
            <a:noFill/>
            <a:ln/>
          </p:spPr>
          <p:txBody>
            <a:bodyPr wrap="square" lIns="635" tIns="635" rIns="635" bIns="635" rtlCol="0" anchor="ctr">
              <a:normAutofit/>
            </a:bodyPr>
            <a:lstStyle/>
            <a:p>
              <a:r>
                <a:rPr lang="en-US" sz="1600" dirty="0">
                  <a:solidFill>
                    <a:srgbClr val="06254A"/>
                  </a:solidFill>
                  <a:latin typeface="Aptos" pitchFamily="34" charset="0"/>
                  <a:ea typeface="Aptos" pitchFamily="34" charset="-122"/>
                  <a:cs typeface="Aptos" pitchFamily="34" charset="-120"/>
                </a:rPr>
                <a:t>course calendar / cohort</a:t>
              </a:r>
            </a:p>
            <a:p>
              <a:r>
                <a:rPr lang="en-US" sz="1600" dirty="0">
                  <a:solidFill>
                    <a:srgbClr val="06254A"/>
                  </a:solidFill>
                  <a:latin typeface="Aptos" pitchFamily="34" charset="0"/>
                </a:rPr>
                <a:t>weekly communications</a:t>
              </a:r>
            </a:p>
            <a:p>
              <a:r>
                <a:rPr lang="en-US" sz="1600" dirty="0"/>
                <a:t>instructor interaction</a:t>
              </a:r>
            </a:p>
            <a:p>
              <a:r>
                <a:rPr lang="en-US" sz="1600" dirty="0">
                  <a:solidFill>
                    <a:srgbClr val="06254A"/>
                  </a:solidFill>
                  <a:latin typeface="Aptos" pitchFamily="34" charset="0"/>
                  <a:ea typeface="Aptos" pitchFamily="34" charset="-122"/>
                  <a:cs typeface="Aptos" pitchFamily="34" charset="-120"/>
                </a:rPr>
                <a:t>weekly live help sessions</a:t>
              </a:r>
            </a:p>
            <a:p>
              <a:endParaRPr lang="en-US" sz="1600" dirty="0">
                <a:solidFill>
                  <a:srgbClr val="06254A"/>
                </a:solidFill>
                <a:latin typeface="Aptos" pitchFamily="34" charset="0"/>
                <a:ea typeface="Aptos" pitchFamily="34" charset="-122"/>
                <a:cs typeface="Aptos" pitchFamily="34" charset="-120"/>
              </a:endParaRPr>
            </a:p>
            <a:p>
              <a:r>
                <a:rPr lang="en-US" sz="1600" dirty="0">
                  <a:solidFill>
                    <a:srgbClr val="06254A"/>
                  </a:solidFill>
                  <a:latin typeface="Aptos" pitchFamily="34" charset="0"/>
                  <a:ea typeface="Aptos" pitchFamily="34" charset="-122"/>
                  <a:cs typeface="Aptos" pitchFamily="34" charset="-120"/>
                </a:rPr>
                <a:t>limited enrollment</a:t>
              </a:r>
            </a:p>
            <a:p>
              <a:r>
                <a:rPr lang="en-US" sz="1600" dirty="0">
                  <a:solidFill>
                    <a:srgbClr val="06254A"/>
                  </a:solidFill>
                  <a:latin typeface="Aptos" pitchFamily="34" charset="0"/>
                  <a:ea typeface="Aptos" pitchFamily="34" charset="-122"/>
                  <a:cs typeface="Aptos" pitchFamily="34" charset="-120"/>
                </a:rPr>
                <a:t>campus credit cost</a:t>
              </a:r>
            </a:p>
            <a:p>
              <a:r>
                <a:rPr lang="en-US" sz="1600" dirty="0">
                  <a:solidFill>
                    <a:srgbClr val="06254A"/>
                  </a:solidFill>
                  <a:latin typeface="Aptos" pitchFamily="34" charset="0"/>
                </a:rPr>
                <a:t>real deadlines / late points</a:t>
              </a:r>
            </a:p>
            <a:p>
              <a:r>
                <a:rPr lang="en-US" sz="1600" dirty="0">
                  <a:solidFill>
                    <a:srgbClr val="06254A"/>
                  </a:solidFill>
                  <a:latin typeface="Aptos" pitchFamily="34" charset="0"/>
                </a:rPr>
                <a:t>exams and grades</a:t>
              </a:r>
            </a:p>
            <a:p>
              <a:r>
                <a:rPr lang="en-US" sz="1600" dirty="0">
                  <a:solidFill>
                    <a:srgbClr val="06254A"/>
                  </a:solidFill>
                  <a:latin typeface="Aptos" pitchFamily="34" charset="0"/>
                </a:rPr>
                <a:t>course ends after 15 weeks</a:t>
              </a:r>
            </a:p>
            <a:p>
              <a:endParaRPr lang="en-US" sz="1600" dirty="0">
                <a:solidFill>
                  <a:srgbClr val="06254A"/>
                </a:solidFill>
                <a:latin typeface="Aptos" pitchFamily="34" charset="0"/>
              </a:endParaRPr>
            </a:p>
            <a:p>
              <a:endParaRPr lang="en-US" sz="1600" dirty="0">
                <a:solidFill>
                  <a:srgbClr val="06254A"/>
                </a:solidFill>
                <a:latin typeface="Aptos" pitchFamily="34" charset="0"/>
              </a:endParaRPr>
            </a:p>
          </p:txBody>
        </p:sp>
      </p:grpSp>
      <p:sp>
        <p:nvSpPr>
          <p:cNvPr id="15" name="Text 13"/>
          <p:cNvSpPr/>
          <p:nvPr/>
        </p:nvSpPr>
        <p:spPr>
          <a:xfrm>
            <a:off x="960120" y="6153912"/>
            <a:ext cx="10424160" cy="256032"/>
          </a:xfrm>
          <a:prstGeom prst="rect">
            <a:avLst/>
          </a:prstGeom>
          <a:noFill/>
          <a:ln/>
        </p:spPr>
        <p:txBody>
          <a:bodyPr wrap="square" lIns="508" tIns="508" rIns="508" bIns="508" rtlCol="0" anchor="ctr">
            <a:normAutofit fontScale="92500" lnSpcReduction="20000"/>
          </a:bodyPr>
          <a:lstStyle/>
          <a:p>
            <a:pPr marL="0" indent="0" algn="ctr">
              <a:buNone/>
            </a:pPr>
            <a:r>
              <a:rPr lang="en-US" sz="2000" b="1" dirty="0">
                <a:solidFill>
                  <a:srgbClr val="00274C"/>
                </a:solidFill>
                <a:latin typeface="Aptos" pitchFamily="34" charset="0"/>
                <a:ea typeface="Aptos" pitchFamily="34" charset="-122"/>
                <a:cs typeface="Aptos" pitchFamily="34" charset="-120"/>
              </a:rPr>
              <a:t>CLOC is not “MOOC plus.” It is pretty much an additional online section for a campus course.</a:t>
            </a:r>
            <a:endParaRPr lang="en-US" sz="2000" dirty="0"/>
          </a:p>
        </p:txBody>
      </p:sp>
      <p:grpSp>
        <p:nvGrpSpPr>
          <p:cNvPr id="20" name="Group 19">
            <a:extLst>
              <a:ext uri="{FF2B5EF4-FFF2-40B4-BE49-F238E27FC236}">
                <a16:creationId xmlns:a16="http://schemas.microsoft.com/office/drawing/2014/main" id="{DA896B83-C4E7-34AF-57E7-44E1EEFEE22D}"/>
              </a:ext>
            </a:extLst>
          </p:cNvPr>
          <p:cNvGrpSpPr/>
          <p:nvPr/>
        </p:nvGrpSpPr>
        <p:grpSpPr>
          <a:xfrm>
            <a:off x="4837176" y="1427913"/>
            <a:ext cx="3017520" cy="4456027"/>
            <a:chOff x="7991856" y="1417320"/>
            <a:chExt cx="3017520" cy="4456027"/>
          </a:xfrm>
        </p:grpSpPr>
        <p:sp>
          <p:nvSpPr>
            <p:cNvPr id="17" name="Shape 8">
              <a:extLst>
                <a:ext uri="{FF2B5EF4-FFF2-40B4-BE49-F238E27FC236}">
                  <a16:creationId xmlns:a16="http://schemas.microsoft.com/office/drawing/2014/main" id="{8BA03157-A419-A320-3415-F14D7BD6FFF7}"/>
                </a:ext>
              </a:extLst>
            </p:cNvPr>
            <p:cNvSpPr/>
            <p:nvPr/>
          </p:nvSpPr>
          <p:spPr>
            <a:xfrm>
              <a:off x="7991856" y="1417320"/>
              <a:ext cx="3017520" cy="4434840"/>
            </a:xfrm>
            <a:prstGeom prst="roundRect">
              <a:avLst>
                <a:gd name="adj" fmla="val 1818"/>
              </a:avLst>
            </a:prstGeom>
            <a:solidFill>
              <a:srgbClr val="FFF5C7"/>
            </a:solidFill>
            <a:ln w="25400">
              <a:solidFill>
                <a:srgbClr val="FFCB05"/>
              </a:solidFill>
              <a:prstDash val="solid"/>
            </a:ln>
          </p:spPr>
          <p:txBody>
            <a:bodyPr/>
            <a:lstStyle/>
            <a:p>
              <a:endParaRPr lang="en-US"/>
            </a:p>
          </p:txBody>
        </p:sp>
        <p:sp>
          <p:nvSpPr>
            <p:cNvPr id="18" name="Text 9">
              <a:extLst>
                <a:ext uri="{FF2B5EF4-FFF2-40B4-BE49-F238E27FC236}">
                  <a16:creationId xmlns:a16="http://schemas.microsoft.com/office/drawing/2014/main" id="{AE0D7C33-86DE-F5E4-EA47-9AF868D094CB}"/>
                </a:ext>
              </a:extLst>
            </p:cNvPr>
            <p:cNvSpPr/>
            <p:nvPr/>
          </p:nvSpPr>
          <p:spPr>
            <a:xfrm>
              <a:off x="8156448" y="1700784"/>
              <a:ext cx="2651760" cy="320040"/>
            </a:xfrm>
            <a:prstGeom prst="rect">
              <a:avLst/>
            </a:prstGeom>
            <a:noFill/>
            <a:ln/>
          </p:spPr>
          <p:txBody>
            <a:bodyPr wrap="square" lIns="508" tIns="508" rIns="508" bIns="508" rtlCol="0" anchor="ctr">
              <a:normAutofit fontScale="92500" lnSpcReduction="20000"/>
            </a:bodyPr>
            <a:lstStyle/>
            <a:p>
              <a:pPr marL="0" indent="0" algn="ctr">
                <a:buNone/>
              </a:pPr>
              <a:r>
                <a:rPr lang="en-US" sz="2600" b="1" dirty="0">
                  <a:solidFill>
                    <a:srgbClr val="00274C"/>
                  </a:solidFill>
                  <a:latin typeface="Aptos" pitchFamily="34" charset="0"/>
                  <a:ea typeface="Aptos" pitchFamily="34" charset="-122"/>
                  <a:cs typeface="Aptos" pitchFamily="34" charset="-120"/>
                </a:rPr>
                <a:t>CLOC</a:t>
              </a:r>
              <a:endParaRPr lang="en-US" sz="2600" dirty="0"/>
            </a:p>
          </p:txBody>
        </p:sp>
        <p:sp>
          <p:nvSpPr>
            <p:cNvPr id="19" name="Text 12">
              <a:extLst>
                <a:ext uri="{FF2B5EF4-FFF2-40B4-BE49-F238E27FC236}">
                  <a16:creationId xmlns:a16="http://schemas.microsoft.com/office/drawing/2014/main" id="{9D96A3D7-F852-AEC0-62F9-D176189A4D64}"/>
                </a:ext>
              </a:extLst>
            </p:cNvPr>
            <p:cNvSpPr/>
            <p:nvPr/>
          </p:nvSpPr>
          <p:spPr>
            <a:xfrm>
              <a:off x="8275320" y="2020825"/>
              <a:ext cx="2468880" cy="3852522"/>
            </a:xfrm>
            <a:prstGeom prst="rect">
              <a:avLst/>
            </a:prstGeom>
            <a:noFill/>
            <a:ln/>
          </p:spPr>
          <p:txBody>
            <a:bodyPr wrap="square" lIns="635" tIns="635" rIns="635" bIns="635" rtlCol="0" anchor="ctr">
              <a:normAutofit/>
            </a:bodyPr>
            <a:lstStyle/>
            <a:p>
              <a:r>
                <a:rPr lang="en-US" sz="1600" dirty="0">
                  <a:solidFill>
                    <a:srgbClr val="06254A"/>
                  </a:solidFill>
                  <a:latin typeface="Aptos" pitchFamily="34" charset="0"/>
                  <a:ea typeface="Aptos" pitchFamily="34" charset="-122"/>
                  <a:cs typeface="Aptos" pitchFamily="34" charset="-120"/>
                </a:rPr>
                <a:t>course calendar / cohort</a:t>
              </a:r>
            </a:p>
            <a:p>
              <a:r>
                <a:rPr lang="en-US" sz="1600" dirty="0">
                  <a:solidFill>
                    <a:srgbClr val="06254A"/>
                  </a:solidFill>
                  <a:latin typeface="Aptos" pitchFamily="34" charset="0"/>
                </a:rPr>
                <a:t>weekly communications</a:t>
              </a:r>
            </a:p>
            <a:p>
              <a:r>
                <a:rPr lang="en-US" sz="1600" dirty="0">
                  <a:solidFill>
                    <a:srgbClr val="06254A"/>
                  </a:solidFill>
                  <a:latin typeface="Aptos" pitchFamily="34" charset="0"/>
                </a:rPr>
                <a:t>instructor interaction</a:t>
              </a:r>
              <a:endParaRPr lang="en-US" sz="1600" dirty="0"/>
            </a:p>
            <a:p>
              <a:r>
                <a:rPr lang="en-US" sz="1600" dirty="0">
                  <a:solidFill>
                    <a:srgbClr val="06254A"/>
                  </a:solidFill>
                  <a:latin typeface="Aptos" pitchFamily="34" charset="0"/>
                  <a:ea typeface="Aptos" pitchFamily="34" charset="-122"/>
                  <a:cs typeface="Aptos" pitchFamily="34" charset="-120"/>
                </a:rPr>
                <a:t>weekly live help sessions</a:t>
              </a:r>
            </a:p>
            <a:p>
              <a:endParaRPr lang="en-US" sz="1600" dirty="0">
                <a:solidFill>
                  <a:srgbClr val="06254A"/>
                </a:solidFill>
                <a:latin typeface="Aptos" pitchFamily="34" charset="0"/>
                <a:ea typeface="Aptos" pitchFamily="34" charset="-122"/>
                <a:cs typeface="Aptos" pitchFamily="34" charset="-120"/>
              </a:endParaRPr>
            </a:p>
            <a:p>
              <a:r>
                <a:rPr lang="en-US" sz="1600" dirty="0">
                  <a:solidFill>
                    <a:srgbClr val="06254A"/>
                  </a:solidFill>
                  <a:latin typeface="Aptos" pitchFamily="34" charset="0"/>
                  <a:ea typeface="Aptos" pitchFamily="34" charset="-122"/>
                  <a:cs typeface="Aptos" pitchFamily="34" charset="-120"/>
                </a:rPr>
                <a:t>open enrollment</a:t>
              </a:r>
            </a:p>
            <a:p>
              <a:r>
                <a:rPr lang="en-US" sz="1600" dirty="0">
                  <a:solidFill>
                    <a:srgbClr val="06254A"/>
                  </a:solidFill>
                  <a:latin typeface="Aptos" pitchFamily="34" charset="0"/>
                  <a:ea typeface="Aptos" pitchFamily="34" charset="-122"/>
                  <a:cs typeface="Aptos" pitchFamily="34" charset="-120"/>
                </a:rPr>
                <a:t>low cost / non-credit</a:t>
              </a:r>
            </a:p>
            <a:p>
              <a:r>
                <a:rPr lang="en-US" sz="1600" dirty="0">
                  <a:solidFill>
                    <a:srgbClr val="06254A"/>
                  </a:solidFill>
                  <a:latin typeface="Aptos" pitchFamily="34" charset="0"/>
                  <a:ea typeface="Aptos" pitchFamily="34" charset="-122"/>
                  <a:cs typeface="Aptos" pitchFamily="34" charset="-120"/>
                </a:rPr>
                <a:t>schedule / no late points</a:t>
              </a:r>
            </a:p>
            <a:p>
              <a:r>
                <a:rPr lang="en-US" sz="1600" dirty="0">
                  <a:solidFill>
                    <a:srgbClr val="06254A"/>
                  </a:solidFill>
                  <a:latin typeface="Aptos" pitchFamily="34" charset="0"/>
                </a:rPr>
                <a:t>no exams /no grades</a:t>
              </a:r>
            </a:p>
            <a:p>
              <a:r>
                <a:rPr lang="en-US" sz="1600" dirty="0">
                  <a:solidFill>
                    <a:srgbClr val="06254A"/>
                  </a:solidFill>
                  <a:latin typeface="Aptos" pitchFamily="34" charset="0"/>
                </a:rPr>
                <a:t>cohort 15 weeks</a:t>
              </a:r>
            </a:p>
            <a:p>
              <a:r>
                <a:rPr lang="en-US" sz="1600" dirty="0">
                  <a:solidFill>
                    <a:srgbClr val="06254A"/>
                  </a:solidFill>
                  <a:latin typeface="Aptos" pitchFamily="34" charset="0"/>
                </a:rPr>
                <a:t>self-paced for 360 days</a:t>
              </a:r>
            </a:p>
            <a:p>
              <a:r>
                <a:rPr lang="en-US" sz="1600" dirty="0">
                  <a:solidFill>
                    <a:srgbClr val="06254A"/>
                  </a:solidFill>
                  <a:latin typeface="Aptos" pitchFamily="34" charset="0"/>
                </a:rPr>
                <a:t>certificate/badge maybe </a:t>
              </a:r>
              <a:endParaRPr lang="en-US" sz="1600" dirty="0"/>
            </a:p>
          </p:txBody>
        </p:sp>
      </p:gr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hape 1"/>
          <p:cNvSpPr/>
          <p:nvPr/>
        </p:nvSpPr>
        <p:spPr>
          <a:xfrm>
            <a:off x="0" y="0"/>
            <a:ext cx="155448" cy="6858000"/>
          </a:xfrm>
          <a:prstGeom prst="rect">
            <a:avLst/>
          </a:prstGeom>
          <a:solidFill>
            <a:srgbClr val="FFCB05"/>
          </a:solidFill>
          <a:ln w="12700">
            <a:solidFill>
              <a:srgbClr val="FFCB05">
                <a:alpha val="0"/>
              </a:srgbClr>
            </a:solidFill>
            <a:prstDash val="solid"/>
          </a:ln>
        </p:spPr>
        <p:txBody>
          <a:bodyPr/>
          <a:lstStyle/>
          <a:p>
            <a:endParaRPr lang="en-US"/>
          </a:p>
        </p:txBody>
      </p:sp>
      <p:sp>
        <p:nvSpPr>
          <p:cNvPr id="4" name="Text 2"/>
          <p:cNvSpPr/>
          <p:nvPr/>
        </p:nvSpPr>
        <p:spPr>
          <a:xfrm>
            <a:off x="594360" y="402336"/>
            <a:ext cx="5257800" cy="502920"/>
          </a:xfrm>
          <a:prstGeom prst="rect">
            <a:avLst/>
          </a:prstGeom>
          <a:noFill/>
          <a:ln/>
        </p:spPr>
        <p:txBody>
          <a:bodyPr wrap="square" lIns="508" tIns="508" rIns="508" bIns="508" rtlCol="0" anchor="ctr">
            <a:normAutofit/>
          </a:bodyPr>
          <a:lstStyle/>
          <a:p>
            <a:pPr marL="0" indent="0" algn="l">
              <a:buNone/>
            </a:pPr>
            <a:r>
              <a:rPr lang="en-US" sz="3100" b="1" dirty="0">
                <a:solidFill>
                  <a:srgbClr val="00274C"/>
                </a:solidFill>
                <a:latin typeface="Aptos" pitchFamily="34" charset="0"/>
                <a:ea typeface="Aptos" pitchFamily="34" charset="-122"/>
                <a:cs typeface="Aptos" pitchFamily="34" charset="-120"/>
              </a:rPr>
              <a:t>First CLOC offering</a:t>
            </a:r>
            <a:endParaRPr lang="en-US" sz="3100" dirty="0"/>
          </a:p>
        </p:txBody>
      </p:sp>
      <p:sp>
        <p:nvSpPr>
          <p:cNvPr id="5" name="Text 3"/>
          <p:cNvSpPr/>
          <p:nvPr/>
        </p:nvSpPr>
        <p:spPr>
          <a:xfrm>
            <a:off x="621792" y="941832"/>
            <a:ext cx="5303520" cy="320040"/>
          </a:xfrm>
          <a:prstGeom prst="rect">
            <a:avLst/>
          </a:prstGeom>
          <a:noFill/>
          <a:ln/>
        </p:spPr>
        <p:txBody>
          <a:bodyPr wrap="square" lIns="508" tIns="508" rIns="508" bIns="508" rtlCol="0" anchor="ctr">
            <a:normAutofit/>
          </a:bodyPr>
          <a:lstStyle/>
          <a:p>
            <a:pPr marL="0" indent="0" algn="l">
              <a:buNone/>
            </a:pPr>
            <a:r>
              <a:rPr lang="en-US" sz="1500" dirty="0">
                <a:solidFill>
                  <a:srgbClr val="4F5B66"/>
                </a:solidFill>
                <a:latin typeface="Aptos" pitchFamily="34" charset="0"/>
                <a:ea typeface="Aptos" pitchFamily="34" charset="-122"/>
                <a:cs typeface="Aptos" pitchFamily="34" charset="-120"/>
              </a:rPr>
              <a:t>A focused pilot for Building Web Applications in Django.</a:t>
            </a:r>
            <a:endParaRPr lang="en-US" sz="1500" dirty="0"/>
          </a:p>
        </p:txBody>
      </p:sp>
      <p:pic>
        <p:nvPicPr>
          <p:cNvPr id="6" name="Image 0" descr="/mnt/data/a_wide_cinematic_photorealistic_digital_illustra.png"/>
          <p:cNvPicPr>
            <a:picLocks noChangeAspect="1"/>
          </p:cNvPicPr>
          <p:nvPr/>
        </p:nvPicPr>
        <p:blipFill>
          <a:blip r:embed="rId3"/>
          <a:stretch>
            <a:fillRect/>
          </a:stretch>
        </p:blipFill>
        <p:spPr>
          <a:xfrm>
            <a:off x="6233007" y="1687180"/>
            <a:ext cx="5349240" cy="3538728"/>
          </a:xfrm>
          <a:prstGeom prst="rect">
            <a:avLst/>
          </a:prstGeom>
        </p:spPr>
      </p:pic>
      <p:sp>
        <p:nvSpPr>
          <p:cNvPr id="7" name="Text 4"/>
          <p:cNvSpPr/>
          <p:nvPr/>
        </p:nvSpPr>
        <p:spPr>
          <a:xfrm>
            <a:off x="868680" y="1481328"/>
            <a:ext cx="1170432" cy="274320"/>
          </a:xfrm>
          <a:prstGeom prst="rect">
            <a:avLst/>
          </a:prstGeom>
          <a:noFill/>
          <a:ln/>
        </p:spPr>
        <p:txBody>
          <a:bodyPr wrap="square" lIns="508" tIns="508" rIns="508" bIns="508" rtlCol="0" anchor="ctr">
            <a:normAutofit/>
          </a:bodyPr>
          <a:lstStyle/>
          <a:p>
            <a:pPr marL="0" indent="0" algn="l">
              <a:buNone/>
            </a:pPr>
            <a:r>
              <a:rPr lang="en-US" sz="1500" b="1" dirty="0">
                <a:solidFill>
                  <a:srgbClr val="FFCB05"/>
                </a:solidFill>
                <a:latin typeface="Aptos" pitchFamily="34" charset="0"/>
                <a:ea typeface="Aptos" pitchFamily="34" charset="-122"/>
                <a:cs typeface="Aptos" pitchFamily="34" charset="-120"/>
              </a:rPr>
              <a:t>Starts</a:t>
            </a:r>
            <a:endParaRPr lang="en-US" sz="1500" dirty="0"/>
          </a:p>
        </p:txBody>
      </p:sp>
      <p:sp>
        <p:nvSpPr>
          <p:cNvPr id="8" name="Text 5"/>
          <p:cNvSpPr/>
          <p:nvPr/>
        </p:nvSpPr>
        <p:spPr>
          <a:xfrm>
            <a:off x="2148840" y="1234440"/>
            <a:ext cx="3474720" cy="868680"/>
          </a:xfrm>
          <a:prstGeom prst="rect">
            <a:avLst/>
          </a:prstGeom>
          <a:noFill/>
          <a:ln/>
        </p:spPr>
        <p:txBody>
          <a:bodyPr wrap="square" lIns="508" tIns="508" rIns="508" bIns="508" rtlCol="0" anchor="ctr">
            <a:normAutofit/>
          </a:bodyPr>
          <a:lstStyle/>
          <a:p>
            <a:pPr marL="0" indent="0" algn="l">
              <a:buNone/>
            </a:pPr>
            <a:r>
              <a:rPr lang="en-US" sz="2200" b="1" dirty="0">
                <a:solidFill>
                  <a:srgbClr val="00274C"/>
                </a:solidFill>
                <a:latin typeface="Aptos" pitchFamily="34" charset="0"/>
              </a:rPr>
              <a:t>September 1</a:t>
            </a:r>
          </a:p>
          <a:p>
            <a:pPr marL="0" indent="0" algn="l">
              <a:buNone/>
            </a:pPr>
            <a:r>
              <a:rPr lang="en-US" sz="2200" b="1" dirty="0">
                <a:solidFill>
                  <a:srgbClr val="00274C"/>
                </a:solidFill>
                <a:latin typeface="Aptos" pitchFamily="34" charset="0"/>
              </a:rPr>
              <a:t>Early access during August</a:t>
            </a:r>
            <a:endParaRPr lang="en-US" sz="2200" dirty="0"/>
          </a:p>
        </p:txBody>
      </p:sp>
      <p:sp>
        <p:nvSpPr>
          <p:cNvPr id="9" name="Text 6"/>
          <p:cNvSpPr/>
          <p:nvPr/>
        </p:nvSpPr>
        <p:spPr>
          <a:xfrm>
            <a:off x="868680" y="2194560"/>
            <a:ext cx="1170432" cy="274320"/>
          </a:xfrm>
          <a:prstGeom prst="rect">
            <a:avLst/>
          </a:prstGeom>
          <a:noFill/>
          <a:ln/>
        </p:spPr>
        <p:txBody>
          <a:bodyPr wrap="square" lIns="508" tIns="508" rIns="508" bIns="508" rtlCol="0" anchor="ctr">
            <a:normAutofit/>
          </a:bodyPr>
          <a:lstStyle/>
          <a:p>
            <a:pPr marL="0" indent="0" algn="l">
              <a:buNone/>
            </a:pPr>
            <a:r>
              <a:rPr lang="en-US" sz="1500" b="1" dirty="0">
                <a:solidFill>
                  <a:srgbClr val="FFCB05"/>
                </a:solidFill>
                <a:latin typeface="Aptos" pitchFamily="34" charset="0"/>
                <a:ea typeface="Aptos" pitchFamily="34" charset="-122"/>
                <a:cs typeface="Aptos" pitchFamily="34" charset="-120"/>
              </a:rPr>
              <a:t>Cost</a:t>
            </a:r>
            <a:endParaRPr lang="en-US" sz="1500" dirty="0"/>
          </a:p>
        </p:txBody>
      </p:sp>
      <p:sp>
        <p:nvSpPr>
          <p:cNvPr id="10" name="Text 7"/>
          <p:cNvSpPr/>
          <p:nvPr/>
        </p:nvSpPr>
        <p:spPr>
          <a:xfrm>
            <a:off x="2148840" y="2176272"/>
            <a:ext cx="3474720" cy="320040"/>
          </a:xfrm>
          <a:prstGeom prst="rect">
            <a:avLst/>
          </a:prstGeom>
          <a:noFill/>
          <a:ln/>
        </p:spPr>
        <p:txBody>
          <a:bodyPr wrap="square" lIns="508" tIns="508" rIns="508" bIns="508" rtlCol="0" anchor="ctr">
            <a:normAutofit lnSpcReduction="10000"/>
          </a:bodyPr>
          <a:lstStyle/>
          <a:p>
            <a:pPr marL="0" indent="0" algn="l">
              <a:buNone/>
            </a:pPr>
            <a:r>
              <a:rPr lang="en-US" sz="2200" b="1" dirty="0">
                <a:solidFill>
                  <a:srgbClr val="00274C"/>
                </a:solidFill>
                <a:latin typeface="Aptos" pitchFamily="34" charset="0"/>
                <a:ea typeface="Aptos" pitchFamily="34" charset="-122"/>
                <a:cs typeface="Aptos" pitchFamily="34" charset="-120"/>
              </a:rPr>
              <a:t>$300</a:t>
            </a:r>
            <a:endParaRPr lang="en-US" sz="2200" dirty="0"/>
          </a:p>
        </p:txBody>
      </p:sp>
      <p:sp>
        <p:nvSpPr>
          <p:cNvPr id="11" name="Text 8"/>
          <p:cNvSpPr/>
          <p:nvPr/>
        </p:nvSpPr>
        <p:spPr>
          <a:xfrm>
            <a:off x="868680" y="2907792"/>
            <a:ext cx="1170432" cy="274320"/>
          </a:xfrm>
          <a:prstGeom prst="rect">
            <a:avLst/>
          </a:prstGeom>
          <a:noFill/>
          <a:ln/>
        </p:spPr>
        <p:txBody>
          <a:bodyPr wrap="square" lIns="508" tIns="508" rIns="508" bIns="508" rtlCol="0" anchor="ctr">
            <a:normAutofit/>
          </a:bodyPr>
          <a:lstStyle/>
          <a:p>
            <a:pPr marL="0" indent="0" algn="l">
              <a:buNone/>
            </a:pPr>
            <a:r>
              <a:rPr lang="en-US" sz="1500" b="1" dirty="0">
                <a:solidFill>
                  <a:srgbClr val="FFCB05"/>
                </a:solidFill>
                <a:latin typeface="Aptos" pitchFamily="34" charset="0"/>
                <a:ea typeface="Aptos" pitchFamily="34" charset="-122"/>
                <a:cs typeface="Aptos" pitchFamily="34" charset="-120"/>
              </a:rPr>
              <a:t>Supports</a:t>
            </a:r>
            <a:endParaRPr lang="en-US" sz="1500" dirty="0"/>
          </a:p>
        </p:txBody>
      </p:sp>
      <p:sp>
        <p:nvSpPr>
          <p:cNvPr id="12" name="Text 9"/>
          <p:cNvSpPr/>
          <p:nvPr/>
        </p:nvSpPr>
        <p:spPr>
          <a:xfrm>
            <a:off x="2148839" y="2734056"/>
            <a:ext cx="3474720" cy="603504"/>
          </a:xfrm>
          <a:prstGeom prst="rect">
            <a:avLst/>
          </a:prstGeom>
          <a:noFill/>
          <a:ln/>
        </p:spPr>
        <p:txBody>
          <a:bodyPr wrap="square" lIns="508" tIns="508" rIns="508" bIns="508" rtlCol="0" anchor="ctr">
            <a:normAutofit fontScale="92500" lnSpcReduction="10000"/>
          </a:bodyPr>
          <a:lstStyle/>
          <a:p>
            <a:pPr marL="0" indent="0" algn="l">
              <a:buNone/>
            </a:pPr>
            <a:r>
              <a:rPr lang="en-US" sz="2200" b="1" dirty="0">
                <a:solidFill>
                  <a:srgbClr val="00274C"/>
                </a:solidFill>
                <a:latin typeface="Aptos" pitchFamily="34" charset="0"/>
                <a:ea typeface="Aptos" pitchFamily="34" charset="-122"/>
                <a:cs typeface="Aptos" pitchFamily="34" charset="-120"/>
              </a:rPr>
              <a:t>Teaching assistants</a:t>
            </a:r>
            <a:br>
              <a:rPr lang="en-US" sz="2200" b="1" dirty="0">
                <a:solidFill>
                  <a:srgbClr val="00274C"/>
                </a:solidFill>
                <a:latin typeface="Aptos" pitchFamily="34" charset="0"/>
                <a:ea typeface="Aptos" pitchFamily="34" charset="-122"/>
                <a:cs typeface="Aptos" pitchFamily="34" charset="-120"/>
              </a:rPr>
            </a:br>
            <a:r>
              <a:rPr lang="en-US" sz="2200" b="1" dirty="0">
                <a:solidFill>
                  <a:srgbClr val="00274C"/>
                </a:solidFill>
                <a:latin typeface="Aptos" pitchFamily="34" charset="0"/>
                <a:ea typeface="Aptos" pitchFamily="34" charset="-122"/>
                <a:cs typeface="Aptos" pitchFamily="34" charset="-120"/>
              </a:rPr>
              <a:t>start in September</a:t>
            </a:r>
            <a:endParaRPr lang="en-US" sz="2200" dirty="0"/>
          </a:p>
        </p:txBody>
      </p:sp>
      <p:sp>
        <p:nvSpPr>
          <p:cNvPr id="13" name="Text 10"/>
          <p:cNvSpPr/>
          <p:nvPr/>
        </p:nvSpPr>
        <p:spPr>
          <a:xfrm>
            <a:off x="868680" y="3621024"/>
            <a:ext cx="1170432" cy="274320"/>
          </a:xfrm>
          <a:prstGeom prst="rect">
            <a:avLst/>
          </a:prstGeom>
          <a:noFill/>
          <a:ln/>
        </p:spPr>
        <p:txBody>
          <a:bodyPr wrap="square" lIns="508" tIns="508" rIns="508" bIns="508" rtlCol="0" anchor="ctr">
            <a:normAutofit/>
          </a:bodyPr>
          <a:lstStyle/>
          <a:p>
            <a:pPr marL="0" indent="0" algn="l">
              <a:buNone/>
            </a:pPr>
            <a:r>
              <a:rPr lang="en-US" sz="1500" b="1" dirty="0">
                <a:solidFill>
                  <a:srgbClr val="FFCB05"/>
                </a:solidFill>
                <a:latin typeface="Aptos" pitchFamily="34" charset="0"/>
                <a:ea typeface="Aptos" pitchFamily="34" charset="-122"/>
                <a:cs typeface="Aptos" pitchFamily="34" charset="-120"/>
              </a:rPr>
              <a:t>Aligned with</a:t>
            </a:r>
            <a:endParaRPr lang="en-US" sz="1500" dirty="0"/>
          </a:p>
        </p:txBody>
      </p:sp>
      <p:sp>
        <p:nvSpPr>
          <p:cNvPr id="14" name="Text 11"/>
          <p:cNvSpPr/>
          <p:nvPr/>
        </p:nvSpPr>
        <p:spPr>
          <a:xfrm>
            <a:off x="2148840" y="3602736"/>
            <a:ext cx="3474720" cy="320040"/>
          </a:xfrm>
          <a:prstGeom prst="rect">
            <a:avLst/>
          </a:prstGeom>
          <a:noFill/>
          <a:ln/>
        </p:spPr>
        <p:txBody>
          <a:bodyPr wrap="square" lIns="508" tIns="508" rIns="508" bIns="508" rtlCol="0" anchor="ctr">
            <a:normAutofit lnSpcReduction="10000"/>
          </a:bodyPr>
          <a:lstStyle/>
          <a:p>
            <a:pPr marL="0" indent="0" algn="l">
              <a:buNone/>
            </a:pPr>
            <a:r>
              <a:rPr lang="en-US" sz="2200" b="1" dirty="0">
                <a:solidFill>
                  <a:srgbClr val="00274C"/>
                </a:solidFill>
                <a:latin typeface="Aptos" pitchFamily="34" charset="0"/>
                <a:ea typeface="Aptos" pitchFamily="34" charset="-122"/>
                <a:cs typeface="Aptos" pitchFamily="34" charset="-120"/>
              </a:rPr>
              <a:t>SI357 learning path</a:t>
            </a:r>
            <a:endParaRPr lang="en-US" sz="2200" dirty="0"/>
          </a:p>
        </p:txBody>
      </p:sp>
      <p:sp>
        <p:nvSpPr>
          <p:cNvPr id="15" name="Text 12"/>
          <p:cNvSpPr/>
          <p:nvPr/>
        </p:nvSpPr>
        <p:spPr>
          <a:xfrm>
            <a:off x="868680" y="4334256"/>
            <a:ext cx="1170432" cy="274320"/>
          </a:xfrm>
          <a:prstGeom prst="rect">
            <a:avLst/>
          </a:prstGeom>
          <a:noFill/>
          <a:ln/>
        </p:spPr>
        <p:txBody>
          <a:bodyPr wrap="square" lIns="508" tIns="508" rIns="508" bIns="508" rtlCol="0" anchor="ctr">
            <a:normAutofit/>
          </a:bodyPr>
          <a:lstStyle/>
          <a:p>
            <a:pPr marL="0" indent="0" algn="l">
              <a:buNone/>
            </a:pPr>
            <a:r>
              <a:rPr lang="en-US" sz="1500" b="1" dirty="0">
                <a:solidFill>
                  <a:srgbClr val="FFCB05"/>
                </a:solidFill>
                <a:latin typeface="Aptos" pitchFamily="34" charset="0"/>
                <a:ea typeface="Aptos" pitchFamily="34" charset="-122"/>
                <a:cs typeface="Aptos" pitchFamily="34" charset="-120"/>
              </a:rPr>
              <a:t>Pilot mindset</a:t>
            </a:r>
            <a:endParaRPr lang="en-US" sz="1500" dirty="0"/>
          </a:p>
        </p:txBody>
      </p:sp>
      <p:sp>
        <p:nvSpPr>
          <p:cNvPr id="16" name="Text 13"/>
          <p:cNvSpPr/>
          <p:nvPr/>
        </p:nvSpPr>
        <p:spPr>
          <a:xfrm>
            <a:off x="2148840" y="4315968"/>
            <a:ext cx="3474720" cy="320040"/>
          </a:xfrm>
          <a:prstGeom prst="rect">
            <a:avLst/>
          </a:prstGeom>
          <a:noFill/>
          <a:ln/>
        </p:spPr>
        <p:txBody>
          <a:bodyPr wrap="square" lIns="508" tIns="508" rIns="508" bIns="508" rtlCol="0" anchor="ctr">
            <a:normAutofit fontScale="70000" lnSpcReduction="20000"/>
          </a:bodyPr>
          <a:lstStyle/>
          <a:p>
            <a:pPr marL="0" indent="0" algn="l">
              <a:buNone/>
            </a:pPr>
            <a:r>
              <a:rPr lang="en-US" sz="2200" b="1" dirty="0">
                <a:solidFill>
                  <a:srgbClr val="00274C"/>
                </a:solidFill>
                <a:latin typeface="Aptos" pitchFamily="34" charset="0"/>
                <a:ea typeface="Aptos" pitchFamily="34" charset="-122"/>
                <a:cs typeface="Aptos" pitchFamily="34" charset="-120"/>
              </a:rPr>
              <a:t>feedback during office hours and email</a:t>
            </a:r>
            <a:endParaRPr lang="en-US" sz="2200" dirty="0"/>
          </a:p>
        </p:txBody>
      </p:sp>
      <p:sp>
        <p:nvSpPr>
          <p:cNvPr id="17" name="Text 14"/>
          <p:cNvSpPr/>
          <p:nvPr/>
        </p:nvSpPr>
        <p:spPr>
          <a:xfrm>
            <a:off x="841248" y="5413248"/>
            <a:ext cx="5074920" cy="502920"/>
          </a:xfrm>
          <a:prstGeom prst="roundRect">
            <a:avLst/>
          </a:prstGeom>
          <a:solidFill>
            <a:srgbClr val="FFCB05"/>
          </a:solidFill>
          <a:ln>
            <a:solidFill>
              <a:srgbClr val="FFCB05">
                <a:alpha val="0"/>
              </a:srgbClr>
            </a:solidFill>
          </a:ln>
        </p:spPr>
        <p:txBody>
          <a:bodyPr wrap="square" lIns="508" tIns="508" rIns="508" bIns="508" rtlCol="0" anchor="ctr">
            <a:normAutofit/>
          </a:bodyPr>
          <a:lstStyle/>
          <a:p>
            <a:pPr marL="0" indent="0" algn="ctr">
              <a:buNone/>
            </a:pPr>
            <a:r>
              <a:rPr lang="en-US" sz="1400" b="1" dirty="0">
                <a:solidFill>
                  <a:srgbClr val="00274C"/>
                </a:solidFill>
                <a:latin typeface="Aptos" pitchFamily="34" charset="0"/>
                <a:ea typeface="Aptos" pitchFamily="34" charset="-122"/>
                <a:cs typeface="Aptos" pitchFamily="34" charset="-120"/>
              </a:rPr>
              <a:t>Flexible online learning + campus connection</a:t>
            </a:r>
            <a:endParaRPr lang="en-US" sz="1400" dirty="0"/>
          </a:p>
        </p:txBody>
      </p:sp>
      <p:sp>
        <p:nvSpPr>
          <p:cNvPr id="19" name="TextBox 18">
            <a:extLst>
              <a:ext uri="{FF2B5EF4-FFF2-40B4-BE49-F238E27FC236}">
                <a16:creationId xmlns:a16="http://schemas.microsoft.com/office/drawing/2014/main" id="{3C870B27-9FC9-2C8D-1AE5-33799BC55EB2}"/>
              </a:ext>
            </a:extLst>
          </p:cNvPr>
          <p:cNvSpPr txBox="1"/>
          <p:nvPr/>
        </p:nvSpPr>
        <p:spPr>
          <a:xfrm>
            <a:off x="8525466" y="5916168"/>
            <a:ext cx="3476529" cy="523220"/>
          </a:xfrm>
          <a:prstGeom prst="rect">
            <a:avLst/>
          </a:prstGeom>
          <a:noFill/>
        </p:spPr>
        <p:txBody>
          <a:bodyPr wrap="none" rtlCol="0">
            <a:spAutoFit/>
          </a:bodyPr>
          <a:lstStyle/>
          <a:p>
            <a:r>
              <a:rPr lang="en-US" sz="2800" dirty="0" err="1"/>
              <a:t>django.dr-chuck.com</a:t>
            </a:r>
            <a:endParaRPr lang="en-US" sz="28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4">
    <p:bg>
      <p:bgPr>
        <a:solidFill>
          <a:srgbClr val="FBF8EF"/>
        </a:solidFill>
        <a:effectLst/>
      </p:bgPr>
    </p:bg>
    <p:spTree>
      <p:nvGrpSpPr>
        <p:cNvPr id="1" name=""/>
        <p:cNvGrpSpPr/>
        <p:nvPr/>
      </p:nvGrpSpPr>
      <p:grpSpPr>
        <a:xfrm>
          <a:off x="0" y="0"/>
          <a:ext cx="0" cy="0"/>
          <a:chOff x="0" y="0"/>
          <a:chExt cx="0" cy="0"/>
        </a:xfrm>
      </p:grpSpPr>
      <p:sp>
        <p:nvSpPr>
          <p:cNvPr id="2" name="Text 0"/>
          <p:cNvSpPr/>
          <p:nvPr/>
        </p:nvSpPr>
        <p:spPr>
          <a:xfrm>
            <a:off x="502920" y="347472"/>
            <a:ext cx="7680960" cy="502920"/>
          </a:xfrm>
          <a:prstGeom prst="rect">
            <a:avLst/>
          </a:prstGeom>
          <a:noFill/>
          <a:ln/>
        </p:spPr>
        <p:txBody>
          <a:bodyPr wrap="square" lIns="0" tIns="0" rIns="0" bIns="0" rtlCol="0" anchor="ctr"/>
          <a:lstStyle/>
          <a:p>
            <a:pPr marL="0" indent="0">
              <a:buNone/>
            </a:pPr>
            <a:r>
              <a:rPr lang="en-US" sz="3100" b="1" dirty="0">
                <a:solidFill>
                  <a:srgbClr val="18324A"/>
                </a:solidFill>
                <a:latin typeface="Aptos Display" pitchFamily="34" charset="0"/>
                <a:ea typeface="Aptos Display" pitchFamily="34" charset="-122"/>
                <a:cs typeface="Aptos Display" pitchFamily="34" charset="-120"/>
              </a:rPr>
              <a:t>What “campus linked” means</a:t>
            </a:r>
            <a:endParaRPr lang="en-US" sz="3100" dirty="0"/>
          </a:p>
        </p:txBody>
      </p:sp>
      <p:sp>
        <p:nvSpPr>
          <p:cNvPr id="3" name="Text 1"/>
          <p:cNvSpPr/>
          <p:nvPr/>
        </p:nvSpPr>
        <p:spPr>
          <a:xfrm>
            <a:off x="530352" y="896112"/>
            <a:ext cx="8046720" cy="310896"/>
          </a:xfrm>
          <a:prstGeom prst="rect">
            <a:avLst/>
          </a:prstGeom>
          <a:noFill/>
          <a:ln/>
        </p:spPr>
        <p:txBody>
          <a:bodyPr wrap="square" lIns="0" tIns="0" rIns="0" bIns="0" rtlCol="0" anchor="ctr"/>
          <a:lstStyle/>
          <a:p>
            <a:pPr marL="0" indent="0">
              <a:buNone/>
            </a:pPr>
            <a:r>
              <a:rPr lang="en-US" sz="1400" dirty="0">
                <a:solidFill>
                  <a:srgbClr val="425466"/>
                </a:solidFill>
              </a:rPr>
              <a:t>An online course deliberately aligned with live campus courses</a:t>
            </a:r>
            <a:endParaRPr lang="en-US" sz="1400" dirty="0"/>
          </a:p>
        </p:txBody>
      </p:sp>
      <p:sp>
        <p:nvSpPr>
          <p:cNvPr id="4" name="Text 2"/>
          <p:cNvSpPr/>
          <p:nvPr/>
        </p:nvSpPr>
        <p:spPr>
          <a:xfrm>
            <a:off x="859536" y="2409767"/>
            <a:ext cx="2103120" cy="502920"/>
          </a:xfrm>
          <a:prstGeom prst="rect">
            <a:avLst/>
          </a:prstGeom>
          <a:noFill/>
          <a:ln/>
        </p:spPr>
        <p:txBody>
          <a:bodyPr wrap="square" lIns="0" tIns="0" rIns="0" bIns="0" rtlCol="0" anchor="ctr"/>
          <a:lstStyle/>
          <a:p>
            <a:pPr marL="0" indent="0" algn="ctr">
              <a:buNone/>
            </a:pPr>
            <a:r>
              <a:rPr lang="en-US" sz="3400" b="1" dirty="0">
                <a:solidFill>
                  <a:srgbClr val="18324A"/>
                </a:solidFill>
              </a:rPr>
              <a:t>SI 357</a:t>
            </a:r>
            <a:endParaRPr lang="en-US" sz="3400" dirty="0"/>
          </a:p>
        </p:txBody>
      </p:sp>
      <p:sp>
        <p:nvSpPr>
          <p:cNvPr id="6" name="Shape 4"/>
          <p:cNvSpPr/>
          <p:nvPr/>
        </p:nvSpPr>
        <p:spPr>
          <a:xfrm>
            <a:off x="2999232" y="2638367"/>
            <a:ext cx="5577840" cy="0"/>
          </a:xfrm>
          <a:prstGeom prst="line">
            <a:avLst/>
          </a:prstGeom>
          <a:noFill/>
          <a:ln w="38100">
            <a:solidFill>
              <a:srgbClr val="138A96"/>
            </a:solidFill>
            <a:prstDash val="solid"/>
            <a:tailEnd type="triangle"/>
          </a:ln>
        </p:spPr>
        <p:txBody>
          <a:bodyPr/>
          <a:lstStyle/>
          <a:p>
            <a:endParaRPr/>
          </a:p>
        </p:txBody>
      </p:sp>
      <p:sp>
        <p:nvSpPr>
          <p:cNvPr id="8" name="Text 6"/>
          <p:cNvSpPr/>
          <p:nvPr/>
        </p:nvSpPr>
        <p:spPr>
          <a:xfrm>
            <a:off x="4050792" y="2281751"/>
            <a:ext cx="3474720" cy="292608"/>
          </a:xfrm>
          <a:prstGeom prst="rect">
            <a:avLst/>
          </a:prstGeom>
          <a:noFill/>
          <a:ln/>
        </p:spPr>
        <p:txBody>
          <a:bodyPr wrap="square" lIns="0" tIns="0" rIns="0" bIns="0" rtlCol="0" anchor="ctr"/>
          <a:lstStyle/>
          <a:p>
            <a:pPr marL="0" indent="0" algn="ctr">
              <a:buNone/>
            </a:pPr>
            <a:r>
              <a:rPr lang="en-US" sz="1900" dirty="0">
                <a:solidFill>
                  <a:srgbClr val="425466"/>
                </a:solidFill>
              </a:rPr>
              <a:t>same overall schedule</a:t>
            </a:r>
            <a:endParaRPr lang="en-US" sz="1900" dirty="0"/>
          </a:p>
        </p:txBody>
      </p:sp>
      <p:sp>
        <p:nvSpPr>
          <p:cNvPr id="10" name="Text 8"/>
          <p:cNvSpPr/>
          <p:nvPr/>
        </p:nvSpPr>
        <p:spPr>
          <a:xfrm>
            <a:off x="8823960" y="2240280"/>
            <a:ext cx="2560320" cy="777240"/>
          </a:xfrm>
          <a:prstGeom prst="rect">
            <a:avLst/>
          </a:prstGeom>
          <a:noFill/>
          <a:ln/>
        </p:spPr>
        <p:txBody>
          <a:bodyPr wrap="square" lIns="0" tIns="0" rIns="0" bIns="0" rtlCol="0" anchor="ctr"/>
          <a:lstStyle/>
          <a:p>
            <a:pPr marL="0" indent="0" algn="ctr">
              <a:buNone/>
            </a:pPr>
            <a:r>
              <a:rPr lang="en-US" sz="2800" b="1" dirty="0">
                <a:solidFill>
                  <a:srgbClr val="138A96"/>
                </a:solidFill>
              </a:rPr>
              <a:t>Online</a:t>
            </a:r>
            <a:endParaRPr lang="en-US" sz="2800" dirty="0"/>
          </a:p>
          <a:p>
            <a:pPr marL="0" indent="0" algn="ctr">
              <a:buNone/>
            </a:pPr>
            <a:r>
              <a:rPr lang="en-US" sz="2800" b="1" dirty="0">
                <a:solidFill>
                  <a:srgbClr val="138A96"/>
                </a:solidFill>
              </a:rPr>
              <a:t>learners</a:t>
            </a:r>
            <a:endParaRPr lang="en-US" sz="2800" dirty="0"/>
          </a:p>
        </p:txBody>
      </p:sp>
      <p:sp>
        <p:nvSpPr>
          <p:cNvPr id="11" name="Text 9"/>
          <p:cNvSpPr/>
          <p:nvPr/>
        </p:nvSpPr>
        <p:spPr>
          <a:xfrm>
            <a:off x="8686800" y="3127248"/>
            <a:ext cx="2834640" cy="867212"/>
          </a:xfrm>
          <a:prstGeom prst="rect">
            <a:avLst/>
          </a:prstGeom>
          <a:noFill/>
          <a:ln/>
        </p:spPr>
        <p:txBody>
          <a:bodyPr wrap="square" lIns="0" tIns="0" rIns="0" bIns="0" rtlCol="0" anchor="ctr"/>
          <a:lstStyle/>
          <a:p>
            <a:pPr marL="0" indent="0" algn="ctr">
              <a:buNone/>
            </a:pPr>
            <a:r>
              <a:rPr lang="en-US" sz="2000" dirty="0">
                <a:solidFill>
                  <a:srgbClr val="425466"/>
                </a:solidFill>
              </a:rPr>
              <a:t>not UM enrolled • no UM credit</a:t>
            </a:r>
            <a:endParaRPr lang="en-US" sz="2000" dirty="0"/>
          </a:p>
        </p:txBody>
      </p:sp>
      <p:sp>
        <p:nvSpPr>
          <p:cNvPr id="12" name="Shape 10"/>
          <p:cNvSpPr/>
          <p:nvPr/>
        </p:nvSpPr>
        <p:spPr>
          <a:xfrm>
            <a:off x="4754880" y="4800600"/>
            <a:ext cx="2560320" cy="384048"/>
          </a:xfrm>
          <a:prstGeom prst="roundRect">
            <a:avLst>
              <a:gd name="adj" fmla="val 19048"/>
            </a:avLst>
          </a:prstGeom>
          <a:solidFill>
            <a:srgbClr val="F5A623"/>
          </a:solidFill>
          <a:ln w="12700">
            <a:solidFill>
              <a:srgbClr val="F5A623">
                <a:alpha val="0"/>
              </a:srgbClr>
            </a:solidFill>
            <a:prstDash val="solid"/>
          </a:ln>
        </p:spPr>
        <p:txBody>
          <a:bodyPr/>
          <a:lstStyle/>
          <a:p>
            <a:endParaRPr/>
          </a:p>
        </p:txBody>
      </p:sp>
      <p:sp>
        <p:nvSpPr>
          <p:cNvPr id="13" name="Text 11"/>
          <p:cNvSpPr/>
          <p:nvPr/>
        </p:nvSpPr>
        <p:spPr>
          <a:xfrm>
            <a:off x="4864608" y="4882896"/>
            <a:ext cx="2340864" cy="182880"/>
          </a:xfrm>
          <a:prstGeom prst="rect">
            <a:avLst/>
          </a:prstGeom>
          <a:noFill/>
          <a:ln/>
        </p:spPr>
        <p:txBody>
          <a:bodyPr wrap="square" lIns="0" tIns="0" rIns="0" bIns="0" rtlCol="0" anchor="ctr"/>
          <a:lstStyle/>
          <a:p>
            <a:pPr marL="0" indent="0" algn="ctr">
              <a:buNone/>
            </a:pPr>
            <a:r>
              <a:rPr lang="en-US" sz="1150" b="1" dirty="0">
                <a:solidFill>
                  <a:srgbClr val="FFFFFF"/>
                </a:solidFill>
              </a:rPr>
              <a:t>aligned ≠ identical</a:t>
            </a:r>
            <a:endParaRPr lang="en-US" sz="1150" dirty="0"/>
          </a:p>
        </p:txBody>
      </p:sp>
      <p:sp>
        <p:nvSpPr>
          <p:cNvPr id="17" name="Text 9">
            <a:extLst>
              <a:ext uri="{FF2B5EF4-FFF2-40B4-BE49-F238E27FC236}">
                <a16:creationId xmlns:a16="http://schemas.microsoft.com/office/drawing/2014/main" id="{D6D80B38-196A-1E4A-9C22-68BFF643DB3F}"/>
              </a:ext>
            </a:extLst>
          </p:cNvPr>
          <p:cNvSpPr/>
          <p:nvPr/>
        </p:nvSpPr>
        <p:spPr>
          <a:xfrm>
            <a:off x="493776" y="3022414"/>
            <a:ext cx="2834640" cy="1402824"/>
          </a:xfrm>
          <a:prstGeom prst="rect">
            <a:avLst/>
          </a:prstGeom>
          <a:noFill/>
          <a:ln/>
        </p:spPr>
        <p:txBody>
          <a:bodyPr wrap="square" lIns="0" tIns="0" rIns="0" bIns="0" rtlCol="0" anchor="ctr"/>
          <a:lstStyle/>
          <a:p>
            <a:pPr marL="0" indent="0" algn="ctr">
              <a:buNone/>
            </a:pPr>
            <a:r>
              <a:rPr lang="en-US" sz="2000" dirty="0">
                <a:solidFill>
                  <a:srgbClr val="425466"/>
                </a:solidFill>
              </a:rPr>
              <a:t>UM enrolled Students in degree programs</a:t>
            </a:r>
            <a:endParaRPr lang="en-US" sz="2000" dirty="0"/>
          </a:p>
        </p:txBody>
      </p:sp>
      <p:sp>
        <p:nvSpPr>
          <p:cNvPr id="18" name="Text 9">
            <a:extLst>
              <a:ext uri="{FF2B5EF4-FFF2-40B4-BE49-F238E27FC236}">
                <a16:creationId xmlns:a16="http://schemas.microsoft.com/office/drawing/2014/main" id="{6D59E66D-A8E2-C774-E770-6C8639ABF27B}"/>
              </a:ext>
            </a:extLst>
          </p:cNvPr>
          <p:cNvSpPr/>
          <p:nvPr/>
        </p:nvSpPr>
        <p:spPr>
          <a:xfrm>
            <a:off x="8686800" y="3889248"/>
            <a:ext cx="2834640" cy="1585864"/>
          </a:xfrm>
          <a:prstGeom prst="rect">
            <a:avLst/>
          </a:prstGeom>
          <a:noFill/>
          <a:ln/>
        </p:spPr>
        <p:txBody>
          <a:bodyPr wrap="square" lIns="0" tIns="0" rIns="0" bIns="0" rtlCol="0" anchor="ctr"/>
          <a:lstStyle/>
          <a:p>
            <a:pPr marL="0" indent="0" algn="ctr">
              <a:buNone/>
            </a:pPr>
            <a:r>
              <a:rPr lang="en-US" sz="2000" dirty="0">
                <a:solidFill>
                  <a:srgbClr val="425466"/>
                </a:solidFill>
              </a:rPr>
              <a:t>If the experiment works, we will find a way to issue LinkedIn badge at the end of the course</a:t>
            </a:r>
            <a:endParaRPr lang="en-US" sz="2000" dirty="0"/>
          </a:p>
        </p:txBody>
      </p:sp>
      <p:sp>
        <p:nvSpPr>
          <p:cNvPr id="19" name="Text 6">
            <a:extLst>
              <a:ext uri="{FF2B5EF4-FFF2-40B4-BE49-F238E27FC236}">
                <a16:creationId xmlns:a16="http://schemas.microsoft.com/office/drawing/2014/main" id="{77E25051-DAD1-F0A2-9E0C-DFF79FECBB66}"/>
              </a:ext>
            </a:extLst>
          </p:cNvPr>
          <p:cNvSpPr/>
          <p:nvPr/>
        </p:nvSpPr>
        <p:spPr>
          <a:xfrm>
            <a:off x="4050792" y="2780099"/>
            <a:ext cx="3474720" cy="292608"/>
          </a:xfrm>
          <a:prstGeom prst="rect">
            <a:avLst/>
          </a:prstGeom>
          <a:noFill/>
          <a:ln/>
        </p:spPr>
        <p:txBody>
          <a:bodyPr wrap="square" lIns="0" tIns="0" rIns="0" bIns="0" rtlCol="0" anchor="ctr"/>
          <a:lstStyle/>
          <a:p>
            <a:pPr marL="0" indent="0" algn="ctr">
              <a:buNone/>
            </a:pPr>
            <a:r>
              <a:rPr lang="en-US" sz="1900" dirty="0">
                <a:solidFill>
                  <a:srgbClr val="425466"/>
                </a:solidFill>
              </a:rPr>
              <a:t>same course content</a:t>
            </a:r>
            <a:endParaRPr lang="en-US" sz="1900" dirty="0"/>
          </a:p>
        </p:txBody>
      </p:sp>
      <p:sp>
        <p:nvSpPr>
          <p:cNvPr id="20" name="TextBox 19">
            <a:extLst>
              <a:ext uri="{FF2B5EF4-FFF2-40B4-BE49-F238E27FC236}">
                <a16:creationId xmlns:a16="http://schemas.microsoft.com/office/drawing/2014/main" id="{C35B4ECB-9FA5-B958-DCF7-85DEA027FC26}"/>
              </a:ext>
            </a:extLst>
          </p:cNvPr>
          <p:cNvSpPr txBox="1"/>
          <p:nvPr/>
        </p:nvSpPr>
        <p:spPr>
          <a:xfrm>
            <a:off x="8525466" y="5916168"/>
            <a:ext cx="3476529" cy="523220"/>
          </a:xfrm>
          <a:prstGeom prst="rect">
            <a:avLst/>
          </a:prstGeom>
          <a:noFill/>
        </p:spPr>
        <p:txBody>
          <a:bodyPr wrap="none" rtlCol="0">
            <a:spAutoFit/>
          </a:bodyPr>
          <a:lstStyle/>
          <a:p>
            <a:r>
              <a:rPr lang="en-US" sz="2800" dirty="0" err="1"/>
              <a:t>django.dr-chuck.com</a:t>
            </a:r>
            <a:endParaRPr lang="en-US" sz="28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Picture 6" descr="A screenshot of a computer&#10;&#10;AI-generated content may be incorrect.">
            <a:extLst>
              <a:ext uri="{FF2B5EF4-FFF2-40B4-BE49-F238E27FC236}">
                <a16:creationId xmlns:a16="http://schemas.microsoft.com/office/drawing/2014/main" id="{AF23D128-BE19-6A7B-63C5-E91A02340BF5}"/>
              </a:ext>
            </a:extLst>
          </p:cNvPr>
          <p:cNvPicPr>
            <a:picLocks noChangeAspect="1"/>
          </p:cNvPicPr>
          <p:nvPr/>
        </p:nvPicPr>
        <p:blipFill>
          <a:blip r:embed="rId2"/>
          <a:stretch>
            <a:fillRect/>
          </a:stretch>
        </p:blipFill>
        <p:spPr>
          <a:xfrm>
            <a:off x="318499" y="275069"/>
            <a:ext cx="7772400" cy="4243954"/>
          </a:xfrm>
          <a:prstGeom prst="rect">
            <a:avLst/>
          </a:prstGeom>
          <a:ln w="38100">
            <a:solidFill>
              <a:schemeClr val="tx1"/>
            </a:solidFill>
          </a:ln>
        </p:spPr>
      </p:pic>
      <p:pic>
        <p:nvPicPr>
          <p:cNvPr id="9" name="Picture 8" descr="A screenshot of a computer&#10;&#10;AI-generated content may be incorrect.">
            <a:extLst>
              <a:ext uri="{FF2B5EF4-FFF2-40B4-BE49-F238E27FC236}">
                <a16:creationId xmlns:a16="http://schemas.microsoft.com/office/drawing/2014/main" id="{DFFFB8F4-D41C-86FF-9E6C-F9AB518BE0FA}"/>
              </a:ext>
            </a:extLst>
          </p:cNvPr>
          <p:cNvPicPr>
            <a:picLocks noChangeAspect="1"/>
          </p:cNvPicPr>
          <p:nvPr/>
        </p:nvPicPr>
        <p:blipFill>
          <a:blip r:embed="rId3"/>
          <a:stretch>
            <a:fillRect/>
          </a:stretch>
        </p:blipFill>
        <p:spPr>
          <a:xfrm>
            <a:off x="5006251" y="2499723"/>
            <a:ext cx="6781800" cy="4038600"/>
          </a:xfrm>
          <a:prstGeom prst="rect">
            <a:avLst/>
          </a:prstGeom>
          <a:ln w="38100">
            <a:solidFill>
              <a:schemeClr val="tx1"/>
            </a:solidFill>
          </a:ln>
        </p:spPr>
      </p:pic>
      <p:sp>
        <p:nvSpPr>
          <p:cNvPr id="2" name="TextBox 1">
            <a:extLst>
              <a:ext uri="{FF2B5EF4-FFF2-40B4-BE49-F238E27FC236}">
                <a16:creationId xmlns:a16="http://schemas.microsoft.com/office/drawing/2014/main" id="{62FD5444-D91B-8E30-5C45-64638D8B4625}"/>
              </a:ext>
            </a:extLst>
          </p:cNvPr>
          <p:cNvSpPr txBox="1"/>
          <p:nvPr/>
        </p:nvSpPr>
        <p:spPr>
          <a:xfrm>
            <a:off x="8397151" y="864176"/>
            <a:ext cx="3476529" cy="523220"/>
          </a:xfrm>
          <a:prstGeom prst="rect">
            <a:avLst/>
          </a:prstGeom>
          <a:noFill/>
        </p:spPr>
        <p:txBody>
          <a:bodyPr wrap="none" rtlCol="0">
            <a:spAutoFit/>
          </a:bodyPr>
          <a:lstStyle/>
          <a:p>
            <a:r>
              <a:rPr lang="en-US" sz="2800" dirty="0" err="1"/>
              <a:t>django.dr-chuck.com</a:t>
            </a:r>
            <a:endParaRPr lang="en-US" sz="2800" dirty="0"/>
          </a:p>
        </p:txBody>
      </p:sp>
    </p:spTree>
    <p:extLst>
      <p:ext uri="{BB962C8B-B14F-4D97-AF65-F5344CB8AC3E}">
        <p14:creationId xmlns:p14="http://schemas.microsoft.com/office/powerpoint/2010/main" val="162608511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descr="A screenshot of a web application&#10;&#10;AI-generated content may be incorrect.">
            <a:extLst>
              <a:ext uri="{FF2B5EF4-FFF2-40B4-BE49-F238E27FC236}">
                <a16:creationId xmlns:a16="http://schemas.microsoft.com/office/drawing/2014/main" id="{41C80248-1DB7-ACBE-29F8-6147784276D9}"/>
              </a:ext>
            </a:extLst>
          </p:cNvPr>
          <p:cNvPicPr>
            <a:picLocks noChangeAspect="1"/>
          </p:cNvPicPr>
          <p:nvPr/>
        </p:nvPicPr>
        <p:blipFill>
          <a:blip r:embed="rId2"/>
          <a:stretch>
            <a:fillRect/>
          </a:stretch>
        </p:blipFill>
        <p:spPr>
          <a:xfrm>
            <a:off x="978911" y="195209"/>
            <a:ext cx="10234178" cy="6250720"/>
          </a:xfrm>
          <a:prstGeom prst="rect">
            <a:avLst/>
          </a:prstGeom>
        </p:spPr>
      </p:pic>
    </p:spTree>
    <p:extLst>
      <p:ext uri="{BB962C8B-B14F-4D97-AF65-F5344CB8AC3E}">
        <p14:creationId xmlns:p14="http://schemas.microsoft.com/office/powerpoint/2010/main" val="928484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6">
    <p:bg>
      <p:bgPr>
        <a:solidFill>
          <a:srgbClr val="FBF8EF"/>
        </a:solidFill>
        <a:effectLst/>
      </p:bgPr>
    </p:bg>
    <p:spTree>
      <p:nvGrpSpPr>
        <p:cNvPr id="1" name=""/>
        <p:cNvGrpSpPr/>
        <p:nvPr/>
      </p:nvGrpSpPr>
      <p:grpSpPr>
        <a:xfrm>
          <a:off x="0" y="0"/>
          <a:ext cx="0" cy="0"/>
          <a:chOff x="0" y="0"/>
          <a:chExt cx="0" cy="0"/>
        </a:xfrm>
      </p:grpSpPr>
      <p:sp>
        <p:nvSpPr>
          <p:cNvPr id="2" name="Text 0"/>
          <p:cNvSpPr/>
          <p:nvPr/>
        </p:nvSpPr>
        <p:spPr>
          <a:xfrm>
            <a:off x="502920" y="347472"/>
            <a:ext cx="7680960" cy="502920"/>
          </a:xfrm>
          <a:prstGeom prst="rect">
            <a:avLst/>
          </a:prstGeom>
          <a:noFill/>
          <a:ln/>
        </p:spPr>
        <p:txBody>
          <a:bodyPr wrap="square" lIns="0" tIns="0" rIns="0" bIns="0" rtlCol="0" anchor="ctr"/>
          <a:lstStyle/>
          <a:p>
            <a:pPr marL="0" indent="0">
              <a:buNone/>
            </a:pPr>
            <a:r>
              <a:rPr lang="en-US" sz="3100" b="1" dirty="0">
                <a:solidFill>
                  <a:srgbClr val="18324A"/>
                </a:solidFill>
                <a:latin typeface="Aptos Display" pitchFamily="34" charset="0"/>
                <a:ea typeface="Aptos Display" pitchFamily="34" charset="-122"/>
                <a:cs typeface="Aptos Display" pitchFamily="34" charset="-120"/>
              </a:rPr>
              <a:t>What online learners get</a:t>
            </a:r>
            <a:endParaRPr lang="en-US" sz="3100" dirty="0"/>
          </a:p>
        </p:txBody>
      </p:sp>
      <p:sp>
        <p:nvSpPr>
          <p:cNvPr id="3" name="Text 1"/>
          <p:cNvSpPr/>
          <p:nvPr/>
        </p:nvSpPr>
        <p:spPr>
          <a:xfrm>
            <a:off x="530352" y="896112"/>
            <a:ext cx="8046720" cy="310896"/>
          </a:xfrm>
          <a:prstGeom prst="rect">
            <a:avLst/>
          </a:prstGeom>
          <a:noFill/>
          <a:ln/>
        </p:spPr>
        <p:txBody>
          <a:bodyPr wrap="square" lIns="0" tIns="0" rIns="0" bIns="0" rtlCol="0" anchor="ctr"/>
          <a:lstStyle/>
          <a:p>
            <a:pPr marL="0" indent="0">
              <a:buNone/>
            </a:pPr>
            <a:r>
              <a:rPr lang="en-US" sz="1400" dirty="0">
                <a:solidFill>
                  <a:srgbClr val="425466"/>
                </a:solidFill>
              </a:rPr>
              <a:t>More than recorded lectures: rhythm, support, and community</a:t>
            </a:r>
            <a:endParaRPr lang="en-US" sz="1400" dirty="0"/>
          </a:p>
        </p:txBody>
      </p:sp>
      <p:sp>
        <p:nvSpPr>
          <p:cNvPr id="4" name="Shape 2"/>
          <p:cNvSpPr/>
          <p:nvPr/>
        </p:nvSpPr>
        <p:spPr>
          <a:xfrm>
            <a:off x="1005840" y="1920240"/>
            <a:ext cx="960120" cy="960120"/>
          </a:xfrm>
          <a:prstGeom prst="ellipse">
            <a:avLst/>
          </a:prstGeom>
          <a:solidFill>
            <a:srgbClr val="138A96"/>
          </a:solidFill>
          <a:ln w="25400">
            <a:solidFill>
              <a:srgbClr val="FFFFFF"/>
            </a:solidFill>
            <a:prstDash val="solid"/>
          </a:ln>
        </p:spPr>
        <p:txBody>
          <a:bodyPr/>
          <a:lstStyle/>
          <a:p>
            <a:endParaRPr/>
          </a:p>
        </p:txBody>
      </p:sp>
      <p:sp>
        <p:nvSpPr>
          <p:cNvPr id="5" name="Text 3"/>
          <p:cNvSpPr/>
          <p:nvPr/>
        </p:nvSpPr>
        <p:spPr>
          <a:xfrm>
            <a:off x="2148840" y="1975104"/>
            <a:ext cx="1828800" cy="274320"/>
          </a:xfrm>
          <a:prstGeom prst="rect">
            <a:avLst/>
          </a:prstGeom>
          <a:noFill/>
          <a:ln/>
        </p:spPr>
        <p:txBody>
          <a:bodyPr wrap="square" lIns="0" tIns="0" rIns="0" bIns="0" rtlCol="0" anchor="ctr"/>
          <a:lstStyle/>
          <a:p>
            <a:pPr marL="0" indent="0">
              <a:buNone/>
            </a:pPr>
            <a:r>
              <a:rPr lang="en-US" sz="2100" b="1" dirty="0">
                <a:solidFill>
                  <a:srgbClr val="18324A"/>
                </a:solidFill>
              </a:rPr>
              <a:t>Schedule</a:t>
            </a:r>
            <a:endParaRPr lang="en-US" sz="2100" dirty="0"/>
          </a:p>
        </p:txBody>
      </p:sp>
      <p:sp>
        <p:nvSpPr>
          <p:cNvPr id="6" name="Text 4"/>
          <p:cNvSpPr/>
          <p:nvPr/>
        </p:nvSpPr>
        <p:spPr>
          <a:xfrm>
            <a:off x="2148840" y="2331720"/>
            <a:ext cx="1965960" cy="457200"/>
          </a:xfrm>
          <a:prstGeom prst="rect">
            <a:avLst/>
          </a:prstGeom>
          <a:noFill/>
          <a:ln/>
        </p:spPr>
        <p:txBody>
          <a:bodyPr wrap="square" lIns="0" tIns="0" rIns="0" bIns="0" rtlCol="0" anchor="ctr">
            <a:normAutofit/>
          </a:bodyPr>
          <a:lstStyle/>
          <a:p>
            <a:pPr marL="0" indent="0">
              <a:buNone/>
            </a:pPr>
            <a:r>
              <a:rPr lang="en-US" sz="1400" dirty="0">
                <a:solidFill>
                  <a:srgbClr val="425466"/>
                </a:solidFill>
              </a:rPr>
              <a:t>a reason to keep going</a:t>
            </a:r>
            <a:endParaRPr lang="en-US" sz="1400" dirty="0"/>
          </a:p>
        </p:txBody>
      </p:sp>
      <p:sp>
        <p:nvSpPr>
          <p:cNvPr id="7" name="Shape 5"/>
          <p:cNvSpPr/>
          <p:nvPr/>
        </p:nvSpPr>
        <p:spPr>
          <a:xfrm>
            <a:off x="3429000" y="3246120"/>
            <a:ext cx="960120" cy="960120"/>
          </a:xfrm>
          <a:prstGeom prst="ellipse">
            <a:avLst/>
          </a:prstGeom>
          <a:solidFill>
            <a:srgbClr val="F5A623"/>
          </a:solidFill>
          <a:ln w="25400">
            <a:solidFill>
              <a:srgbClr val="FFFFFF"/>
            </a:solidFill>
            <a:prstDash val="solid"/>
          </a:ln>
        </p:spPr>
        <p:txBody>
          <a:bodyPr/>
          <a:lstStyle/>
          <a:p>
            <a:endParaRPr/>
          </a:p>
        </p:txBody>
      </p:sp>
      <p:sp>
        <p:nvSpPr>
          <p:cNvPr id="8" name="Text 6"/>
          <p:cNvSpPr/>
          <p:nvPr/>
        </p:nvSpPr>
        <p:spPr>
          <a:xfrm>
            <a:off x="4572000" y="3300984"/>
            <a:ext cx="1828800" cy="274320"/>
          </a:xfrm>
          <a:prstGeom prst="rect">
            <a:avLst/>
          </a:prstGeom>
          <a:noFill/>
          <a:ln/>
        </p:spPr>
        <p:txBody>
          <a:bodyPr wrap="square" lIns="0" tIns="0" rIns="0" bIns="0" rtlCol="0" anchor="ctr"/>
          <a:lstStyle/>
          <a:p>
            <a:pPr marL="0" indent="0">
              <a:buNone/>
            </a:pPr>
            <a:r>
              <a:rPr lang="en-US" sz="2100" b="1" dirty="0">
                <a:solidFill>
                  <a:srgbClr val="18324A"/>
                </a:solidFill>
              </a:rPr>
              <a:t>Office hours</a:t>
            </a:r>
            <a:endParaRPr lang="en-US" sz="2100" dirty="0"/>
          </a:p>
        </p:txBody>
      </p:sp>
      <p:sp>
        <p:nvSpPr>
          <p:cNvPr id="9" name="Text 7"/>
          <p:cNvSpPr/>
          <p:nvPr/>
        </p:nvSpPr>
        <p:spPr>
          <a:xfrm>
            <a:off x="4572000" y="3657600"/>
            <a:ext cx="1965960" cy="457200"/>
          </a:xfrm>
          <a:prstGeom prst="rect">
            <a:avLst/>
          </a:prstGeom>
          <a:noFill/>
          <a:ln/>
        </p:spPr>
        <p:txBody>
          <a:bodyPr wrap="square" lIns="0" tIns="0" rIns="0" bIns="0" rtlCol="0" anchor="ctr">
            <a:normAutofit/>
          </a:bodyPr>
          <a:lstStyle/>
          <a:p>
            <a:pPr marL="0" indent="0">
              <a:buNone/>
            </a:pPr>
            <a:r>
              <a:rPr lang="en-US" sz="1400" dirty="0">
                <a:solidFill>
                  <a:srgbClr val="425466"/>
                </a:solidFill>
              </a:rPr>
              <a:t>help when questions matter</a:t>
            </a:r>
            <a:endParaRPr lang="en-US" sz="1400" dirty="0"/>
          </a:p>
        </p:txBody>
      </p:sp>
      <p:sp>
        <p:nvSpPr>
          <p:cNvPr id="10" name="Shape 8"/>
          <p:cNvSpPr/>
          <p:nvPr/>
        </p:nvSpPr>
        <p:spPr>
          <a:xfrm>
            <a:off x="6035040" y="1920240"/>
            <a:ext cx="960120" cy="960120"/>
          </a:xfrm>
          <a:prstGeom prst="ellipse">
            <a:avLst/>
          </a:prstGeom>
          <a:solidFill>
            <a:srgbClr val="5E8C42"/>
          </a:solidFill>
          <a:ln w="25400">
            <a:solidFill>
              <a:srgbClr val="FFFFFF"/>
            </a:solidFill>
            <a:prstDash val="solid"/>
          </a:ln>
        </p:spPr>
        <p:txBody>
          <a:bodyPr/>
          <a:lstStyle/>
          <a:p>
            <a:endParaRPr/>
          </a:p>
        </p:txBody>
      </p:sp>
      <p:sp>
        <p:nvSpPr>
          <p:cNvPr id="11" name="Text 9"/>
          <p:cNvSpPr/>
          <p:nvPr/>
        </p:nvSpPr>
        <p:spPr>
          <a:xfrm>
            <a:off x="7178040" y="1975104"/>
            <a:ext cx="1828800" cy="274320"/>
          </a:xfrm>
          <a:prstGeom prst="rect">
            <a:avLst/>
          </a:prstGeom>
          <a:noFill/>
          <a:ln/>
        </p:spPr>
        <p:txBody>
          <a:bodyPr wrap="square" lIns="0" tIns="0" rIns="0" bIns="0" rtlCol="0" anchor="ctr"/>
          <a:lstStyle/>
          <a:p>
            <a:pPr marL="0" indent="0">
              <a:buNone/>
            </a:pPr>
            <a:r>
              <a:rPr lang="en-US" sz="2100" b="1" dirty="0">
                <a:solidFill>
                  <a:srgbClr val="18324A"/>
                </a:solidFill>
              </a:rPr>
              <a:t>IA sessions</a:t>
            </a:r>
            <a:endParaRPr lang="en-US" sz="2100" dirty="0"/>
          </a:p>
        </p:txBody>
      </p:sp>
      <p:sp>
        <p:nvSpPr>
          <p:cNvPr id="12" name="Text 10"/>
          <p:cNvSpPr/>
          <p:nvPr/>
        </p:nvSpPr>
        <p:spPr>
          <a:xfrm>
            <a:off x="7178040" y="2331720"/>
            <a:ext cx="1965960" cy="457200"/>
          </a:xfrm>
          <a:prstGeom prst="rect">
            <a:avLst/>
          </a:prstGeom>
          <a:noFill/>
          <a:ln/>
        </p:spPr>
        <p:txBody>
          <a:bodyPr wrap="square" lIns="0" tIns="0" rIns="0" bIns="0" rtlCol="0" anchor="ctr">
            <a:normAutofit/>
          </a:bodyPr>
          <a:lstStyle/>
          <a:p>
            <a:pPr marL="0" indent="0">
              <a:buNone/>
            </a:pPr>
            <a:r>
              <a:rPr lang="en-US" sz="1400" dirty="0">
                <a:solidFill>
                  <a:srgbClr val="425466"/>
                </a:solidFill>
              </a:rPr>
              <a:t>support from the teaching team</a:t>
            </a:r>
            <a:endParaRPr lang="en-US" sz="1400" dirty="0"/>
          </a:p>
        </p:txBody>
      </p:sp>
      <p:sp>
        <p:nvSpPr>
          <p:cNvPr id="13" name="Shape 11"/>
          <p:cNvSpPr/>
          <p:nvPr/>
        </p:nvSpPr>
        <p:spPr>
          <a:xfrm>
            <a:off x="8549640" y="3246120"/>
            <a:ext cx="960120" cy="960120"/>
          </a:xfrm>
          <a:prstGeom prst="ellipse">
            <a:avLst/>
          </a:prstGeom>
          <a:solidFill>
            <a:srgbClr val="138A96"/>
          </a:solidFill>
          <a:ln w="25400">
            <a:solidFill>
              <a:srgbClr val="FFFFFF"/>
            </a:solidFill>
            <a:prstDash val="solid"/>
          </a:ln>
        </p:spPr>
        <p:txBody>
          <a:bodyPr/>
          <a:lstStyle/>
          <a:p>
            <a:endParaRPr/>
          </a:p>
        </p:txBody>
      </p:sp>
      <p:sp>
        <p:nvSpPr>
          <p:cNvPr id="14" name="Text 12"/>
          <p:cNvSpPr/>
          <p:nvPr/>
        </p:nvSpPr>
        <p:spPr>
          <a:xfrm>
            <a:off x="9692640" y="3300984"/>
            <a:ext cx="1828800" cy="274320"/>
          </a:xfrm>
          <a:prstGeom prst="rect">
            <a:avLst/>
          </a:prstGeom>
          <a:noFill/>
          <a:ln/>
        </p:spPr>
        <p:txBody>
          <a:bodyPr wrap="square" lIns="0" tIns="0" rIns="0" bIns="0" rtlCol="0" anchor="ctr"/>
          <a:lstStyle/>
          <a:p>
            <a:pPr marL="0" indent="0">
              <a:buNone/>
            </a:pPr>
            <a:r>
              <a:rPr lang="en-US" sz="2100" b="1" dirty="0">
                <a:solidFill>
                  <a:srgbClr val="18324A"/>
                </a:solidFill>
              </a:rPr>
              <a:t>Community</a:t>
            </a:r>
            <a:endParaRPr lang="en-US" sz="2100" dirty="0"/>
          </a:p>
        </p:txBody>
      </p:sp>
      <p:sp>
        <p:nvSpPr>
          <p:cNvPr id="15" name="Text 13"/>
          <p:cNvSpPr/>
          <p:nvPr/>
        </p:nvSpPr>
        <p:spPr>
          <a:xfrm>
            <a:off x="9692640" y="3657600"/>
            <a:ext cx="1965960" cy="457200"/>
          </a:xfrm>
          <a:prstGeom prst="rect">
            <a:avLst/>
          </a:prstGeom>
          <a:noFill/>
          <a:ln/>
        </p:spPr>
        <p:txBody>
          <a:bodyPr wrap="square" lIns="0" tIns="0" rIns="0" bIns="0" rtlCol="0" anchor="ctr">
            <a:normAutofit/>
          </a:bodyPr>
          <a:lstStyle/>
          <a:p>
            <a:pPr marL="0" indent="0">
              <a:buNone/>
            </a:pPr>
            <a:r>
              <a:rPr lang="en-US" sz="1400" dirty="0">
                <a:solidFill>
                  <a:srgbClr val="425466"/>
                </a:solidFill>
              </a:rPr>
              <a:t>people working beside you</a:t>
            </a:r>
            <a:endParaRPr lang="en-US" sz="1400" dirty="0"/>
          </a:p>
        </p:txBody>
      </p:sp>
      <p:sp>
        <p:nvSpPr>
          <p:cNvPr id="16" name="Text 14"/>
          <p:cNvSpPr/>
          <p:nvPr/>
        </p:nvSpPr>
        <p:spPr>
          <a:xfrm>
            <a:off x="1371600" y="4882896"/>
            <a:ext cx="9326880" cy="923544"/>
          </a:xfrm>
          <a:prstGeom prst="rect">
            <a:avLst/>
          </a:prstGeom>
          <a:noFill/>
          <a:ln/>
        </p:spPr>
        <p:txBody>
          <a:bodyPr wrap="square" lIns="0" tIns="0" rIns="0" bIns="0" rtlCol="0" anchor="ctr"/>
          <a:lstStyle/>
          <a:p>
            <a:pPr marL="0" indent="0" algn="ctr">
              <a:buNone/>
            </a:pPr>
            <a:r>
              <a:rPr lang="en-US" sz="2400" b="1" dirty="0">
                <a:solidFill>
                  <a:srgbClr val="10283B"/>
                </a:solidFill>
              </a:rPr>
              <a:t>The goal is not to pretend the experiences are identical. The goal is schedule alignment and access to instructional resources.</a:t>
            </a:r>
            <a:endParaRPr lang="en-US" sz="2400" dirty="0"/>
          </a:p>
        </p:txBody>
      </p:sp>
      <p:sp>
        <p:nvSpPr>
          <p:cNvPr id="19" name="TextBox 18">
            <a:extLst>
              <a:ext uri="{FF2B5EF4-FFF2-40B4-BE49-F238E27FC236}">
                <a16:creationId xmlns:a16="http://schemas.microsoft.com/office/drawing/2014/main" id="{FED867E6-A211-7AEA-D8DE-287C8FA9F75C}"/>
              </a:ext>
            </a:extLst>
          </p:cNvPr>
          <p:cNvSpPr txBox="1"/>
          <p:nvPr/>
        </p:nvSpPr>
        <p:spPr>
          <a:xfrm>
            <a:off x="8256801" y="536478"/>
            <a:ext cx="3476529" cy="523220"/>
          </a:xfrm>
          <a:prstGeom prst="rect">
            <a:avLst/>
          </a:prstGeom>
          <a:noFill/>
        </p:spPr>
        <p:txBody>
          <a:bodyPr wrap="none" rtlCol="0">
            <a:spAutoFit/>
          </a:bodyPr>
          <a:lstStyle/>
          <a:p>
            <a:r>
              <a:rPr lang="en-US" sz="2800" dirty="0" err="1"/>
              <a:t>django.dr-chuck.com</a:t>
            </a:r>
            <a:endParaRPr lang="en-US" sz="28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8">
    <p:bg>
      <p:bgPr>
        <a:solidFill>
          <a:srgbClr val="FBF8EF"/>
        </a:solidFill>
        <a:effectLst/>
      </p:bgPr>
    </p:bg>
    <p:spTree>
      <p:nvGrpSpPr>
        <p:cNvPr id="1" name=""/>
        <p:cNvGrpSpPr/>
        <p:nvPr/>
      </p:nvGrpSpPr>
      <p:grpSpPr>
        <a:xfrm>
          <a:off x="0" y="0"/>
          <a:ext cx="0" cy="0"/>
          <a:chOff x="0" y="0"/>
          <a:chExt cx="0" cy="0"/>
        </a:xfrm>
      </p:grpSpPr>
      <p:sp>
        <p:nvSpPr>
          <p:cNvPr id="2" name="Text 0"/>
          <p:cNvSpPr/>
          <p:nvPr/>
        </p:nvSpPr>
        <p:spPr>
          <a:xfrm>
            <a:off x="502920" y="347472"/>
            <a:ext cx="7680960" cy="502920"/>
          </a:xfrm>
          <a:prstGeom prst="rect">
            <a:avLst/>
          </a:prstGeom>
          <a:noFill/>
          <a:ln/>
        </p:spPr>
        <p:txBody>
          <a:bodyPr wrap="square" lIns="0" tIns="0" rIns="0" bIns="0" rtlCol="0" anchor="ctr"/>
          <a:lstStyle/>
          <a:p>
            <a:pPr marL="0" indent="0">
              <a:buNone/>
            </a:pPr>
            <a:r>
              <a:rPr lang="en-US" sz="3100" b="1" dirty="0">
                <a:solidFill>
                  <a:srgbClr val="18324A"/>
                </a:solidFill>
                <a:latin typeface="Aptos Display" pitchFamily="34" charset="0"/>
                <a:ea typeface="Aptos Display" pitchFamily="34" charset="-122"/>
                <a:cs typeface="Aptos Display" pitchFamily="34" charset="-120"/>
              </a:rPr>
              <a:t>First offering</a:t>
            </a:r>
            <a:endParaRPr lang="en-US" sz="3100" dirty="0"/>
          </a:p>
        </p:txBody>
      </p:sp>
      <p:sp>
        <p:nvSpPr>
          <p:cNvPr id="3" name="Text 1"/>
          <p:cNvSpPr/>
          <p:nvPr/>
        </p:nvSpPr>
        <p:spPr>
          <a:xfrm>
            <a:off x="530352" y="896112"/>
            <a:ext cx="8046720" cy="310896"/>
          </a:xfrm>
          <a:prstGeom prst="rect">
            <a:avLst/>
          </a:prstGeom>
          <a:noFill/>
          <a:ln/>
        </p:spPr>
        <p:txBody>
          <a:bodyPr wrap="square" lIns="0" tIns="0" rIns="0" bIns="0" rtlCol="0" anchor="ctr"/>
          <a:lstStyle/>
          <a:p>
            <a:pPr marL="0" indent="0">
              <a:buNone/>
            </a:pPr>
            <a:r>
              <a:rPr lang="en-US" sz="1400" dirty="0">
                <a:solidFill>
                  <a:srgbClr val="425466"/>
                </a:solidFill>
              </a:rPr>
              <a:t>August 1 – December 20, 2026, Can finish self paced  through July 2027</a:t>
            </a:r>
            <a:endParaRPr lang="en-US" sz="1400" dirty="0"/>
          </a:p>
        </p:txBody>
      </p:sp>
      <p:sp>
        <p:nvSpPr>
          <p:cNvPr id="4" name="Text 2"/>
          <p:cNvSpPr/>
          <p:nvPr/>
        </p:nvSpPr>
        <p:spPr>
          <a:xfrm>
            <a:off x="868680" y="1554480"/>
            <a:ext cx="3657600" cy="1005840"/>
          </a:xfrm>
          <a:prstGeom prst="rect">
            <a:avLst/>
          </a:prstGeom>
          <a:noFill/>
          <a:ln/>
        </p:spPr>
        <p:txBody>
          <a:bodyPr wrap="square" lIns="0" tIns="0" rIns="0" bIns="0" rtlCol="0" anchor="ctr"/>
          <a:lstStyle/>
          <a:p>
            <a:pPr marL="0" indent="0">
              <a:buNone/>
            </a:pPr>
            <a:r>
              <a:rPr lang="en-US" sz="7200" b="1" dirty="0">
                <a:solidFill>
                  <a:srgbClr val="138A96"/>
                </a:solidFill>
              </a:rPr>
              <a:t>$300</a:t>
            </a:r>
            <a:endParaRPr lang="en-US" sz="7200" dirty="0"/>
          </a:p>
        </p:txBody>
      </p:sp>
      <p:sp>
        <p:nvSpPr>
          <p:cNvPr id="5" name="Text 3"/>
          <p:cNvSpPr/>
          <p:nvPr/>
        </p:nvSpPr>
        <p:spPr>
          <a:xfrm>
            <a:off x="932688" y="2651760"/>
            <a:ext cx="4572000" cy="329184"/>
          </a:xfrm>
          <a:prstGeom prst="rect">
            <a:avLst/>
          </a:prstGeom>
          <a:noFill/>
          <a:ln/>
        </p:spPr>
        <p:txBody>
          <a:bodyPr wrap="square" lIns="0" tIns="0" rIns="0" bIns="0" rtlCol="0" anchor="ctr"/>
          <a:lstStyle/>
          <a:p>
            <a:pPr marL="0" indent="0">
              <a:buNone/>
            </a:pPr>
            <a:r>
              <a:rPr lang="en-US" sz="2100" dirty="0">
                <a:solidFill>
                  <a:srgbClr val="10283B"/>
                </a:solidFill>
              </a:rPr>
              <a:t>to cover the costs of teaching assistants</a:t>
            </a:r>
            <a:endParaRPr lang="en-US" sz="2100" dirty="0"/>
          </a:p>
        </p:txBody>
      </p:sp>
      <p:sp>
        <p:nvSpPr>
          <p:cNvPr id="6" name="Text 4"/>
          <p:cNvSpPr/>
          <p:nvPr/>
        </p:nvSpPr>
        <p:spPr>
          <a:xfrm>
            <a:off x="978408" y="3337560"/>
            <a:ext cx="228600" cy="228600"/>
          </a:xfrm>
          <a:prstGeom prst="rect">
            <a:avLst/>
          </a:prstGeom>
          <a:noFill/>
          <a:ln/>
        </p:spPr>
        <p:txBody>
          <a:bodyPr wrap="square" lIns="0" tIns="0" rIns="0" bIns="0" rtlCol="0" anchor="ctr"/>
          <a:lstStyle/>
          <a:p>
            <a:pPr marL="0" indent="0">
              <a:buNone/>
            </a:pPr>
            <a:r>
              <a:rPr lang="en-US" sz="2100" b="1" dirty="0">
                <a:solidFill>
                  <a:srgbClr val="F5A623"/>
                </a:solidFill>
              </a:rPr>
              <a:t>•</a:t>
            </a:r>
            <a:endParaRPr lang="en-US" sz="2100" dirty="0"/>
          </a:p>
        </p:txBody>
      </p:sp>
      <p:sp>
        <p:nvSpPr>
          <p:cNvPr id="7" name="Text 5"/>
          <p:cNvSpPr/>
          <p:nvPr/>
        </p:nvSpPr>
        <p:spPr>
          <a:xfrm>
            <a:off x="1280160" y="3374136"/>
            <a:ext cx="4453128" cy="310896"/>
          </a:xfrm>
          <a:prstGeom prst="rect">
            <a:avLst/>
          </a:prstGeom>
          <a:noFill/>
          <a:ln/>
        </p:spPr>
        <p:txBody>
          <a:bodyPr wrap="square" lIns="0" tIns="0" rIns="0" bIns="0" rtlCol="0" anchor="ctr">
            <a:normAutofit/>
          </a:bodyPr>
          <a:lstStyle/>
          <a:p>
            <a:pPr marL="0" indent="0">
              <a:buNone/>
            </a:pPr>
            <a:r>
              <a:rPr lang="en-US" sz="1600" dirty="0">
                <a:solidFill>
                  <a:srgbClr val="10283B"/>
                </a:solidFill>
              </a:rPr>
              <a:t>office hours</a:t>
            </a:r>
            <a:endParaRPr lang="en-US" sz="1600" dirty="0"/>
          </a:p>
        </p:txBody>
      </p:sp>
      <p:sp>
        <p:nvSpPr>
          <p:cNvPr id="8" name="Text 6"/>
          <p:cNvSpPr/>
          <p:nvPr/>
        </p:nvSpPr>
        <p:spPr>
          <a:xfrm>
            <a:off x="978408" y="3794760"/>
            <a:ext cx="228600" cy="228600"/>
          </a:xfrm>
          <a:prstGeom prst="rect">
            <a:avLst/>
          </a:prstGeom>
          <a:noFill/>
          <a:ln/>
        </p:spPr>
        <p:txBody>
          <a:bodyPr wrap="square" lIns="0" tIns="0" rIns="0" bIns="0" rtlCol="0" anchor="ctr"/>
          <a:lstStyle/>
          <a:p>
            <a:pPr marL="0" indent="0">
              <a:buNone/>
            </a:pPr>
            <a:r>
              <a:rPr lang="en-US" sz="2100" b="1" dirty="0">
                <a:solidFill>
                  <a:srgbClr val="F5A623"/>
                </a:solidFill>
              </a:rPr>
              <a:t>•</a:t>
            </a:r>
            <a:endParaRPr lang="en-US" sz="2100" dirty="0"/>
          </a:p>
        </p:txBody>
      </p:sp>
      <p:sp>
        <p:nvSpPr>
          <p:cNvPr id="9" name="Text 7"/>
          <p:cNvSpPr/>
          <p:nvPr/>
        </p:nvSpPr>
        <p:spPr>
          <a:xfrm>
            <a:off x="1280160" y="3831336"/>
            <a:ext cx="4453128" cy="310896"/>
          </a:xfrm>
          <a:prstGeom prst="rect">
            <a:avLst/>
          </a:prstGeom>
          <a:noFill/>
          <a:ln/>
        </p:spPr>
        <p:txBody>
          <a:bodyPr wrap="square" lIns="0" tIns="0" rIns="0" bIns="0" rtlCol="0" anchor="ctr">
            <a:normAutofit/>
          </a:bodyPr>
          <a:lstStyle/>
          <a:p>
            <a:pPr marL="0" indent="0">
              <a:buNone/>
            </a:pPr>
            <a:r>
              <a:rPr lang="en-US" sz="1600" dirty="0">
                <a:solidFill>
                  <a:srgbClr val="10283B"/>
                </a:solidFill>
              </a:rPr>
              <a:t>instructional sessions</a:t>
            </a:r>
            <a:endParaRPr lang="en-US" sz="1600" dirty="0"/>
          </a:p>
        </p:txBody>
      </p:sp>
      <p:sp>
        <p:nvSpPr>
          <p:cNvPr id="10" name="Text 8"/>
          <p:cNvSpPr/>
          <p:nvPr/>
        </p:nvSpPr>
        <p:spPr>
          <a:xfrm>
            <a:off x="978408" y="4251960"/>
            <a:ext cx="228600" cy="228600"/>
          </a:xfrm>
          <a:prstGeom prst="rect">
            <a:avLst/>
          </a:prstGeom>
          <a:noFill/>
          <a:ln/>
        </p:spPr>
        <p:txBody>
          <a:bodyPr wrap="square" lIns="0" tIns="0" rIns="0" bIns="0" rtlCol="0" anchor="ctr"/>
          <a:lstStyle/>
          <a:p>
            <a:pPr marL="0" indent="0">
              <a:buNone/>
            </a:pPr>
            <a:r>
              <a:rPr lang="en-US" sz="2100" b="1" dirty="0">
                <a:solidFill>
                  <a:srgbClr val="F5A623"/>
                </a:solidFill>
              </a:rPr>
              <a:t>•</a:t>
            </a:r>
            <a:endParaRPr lang="en-US" sz="2100" dirty="0"/>
          </a:p>
        </p:txBody>
      </p:sp>
      <p:sp>
        <p:nvSpPr>
          <p:cNvPr id="11" name="Text 9"/>
          <p:cNvSpPr/>
          <p:nvPr/>
        </p:nvSpPr>
        <p:spPr>
          <a:xfrm>
            <a:off x="1280160" y="4288536"/>
            <a:ext cx="4453128" cy="310896"/>
          </a:xfrm>
          <a:prstGeom prst="rect">
            <a:avLst/>
          </a:prstGeom>
          <a:noFill/>
          <a:ln/>
        </p:spPr>
        <p:txBody>
          <a:bodyPr wrap="square" lIns="0" tIns="0" rIns="0" bIns="0" rtlCol="0" anchor="ctr">
            <a:normAutofit/>
          </a:bodyPr>
          <a:lstStyle/>
          <a:p>
            <a:pPr marL="0" indent="0">
              <a:buNone/>
            </a:pPr>
            <a:r>
              <a:rPr lang="en-US" sz="1600" dirty="0">
                <a:solidFill>
                  <a:srgbClr val="10283B"/>
                </a:solidFill>
              </a:rPr>
              <a:t>help with course material</a:t>
            </a:r>
            <a:endParaRPr lang="en-US" sz="1600" dirty="0"/>
          </a:p>
        </p:txBody>
      </p:sp>
      <p:sp>
        <p:nvSpPr>
          <p:cNvPr id="12" name="Text 10"/>
          <p:cNvSpPr/>
          <p:nvPr/>
        </p:nvSpPr>
        <p:spPr>
          <a:xfrm>
            <a:off x="978408" y="4709160"/>
            <a:ext cx="228600" cy="228600"/>
          </a:xfrm>
          <a:prstGeom prst="rect">
            <a:avLst/>
          </a:prstGeom>
          <a:noFill/>
          <a:ln/>
        </p:spPr>
        <p:txBody>
          <a:bodyPr wrap="square" lIns="0" tIns="0" rIns="0" bIns="0" rtlCol="0" anchor="ctr"/>
          <a:lstStyle/>
          <a:p>
            <a:pPr marL="0" indent="0">
              <a:buNone/>
            </a:pPr>
            <a:r>
              <a:rPr lang="en-US" sz="2100" b="1" dirty="0">
                <a:solidFill>
                  <a:srgbClr val="F5A623"/>
                </a:solidFill>
              </a:rPr>
              <a:t>•</a:t>
            </a:r>
            <a:endParaRPr lang="en-US" sz="2100" dirty="0"/>
          </a:p>
        </p:txBody>
      </p:sp>
      <p:sp>
        <p:nvSpPr>
          <p:cNvPr id="13" name="Text 11"/>
          <p:cNvSpPr/>
          <p:nvPr/>
        </p:nvSpPr>
        <p:spPr>
          <a:xfrm>
            <a:off x="1280160" y="4745736"/>
            <a:ext cx="4453128" cy="310896"/>
          </a:xfrm>
          <a:prstGeom prst="rect">
            <a:avLst/>
          </a:prstGeom>
          <a:noFill/>
          <a:ln/>
        </p:spPr>
        <p:txBody>
          <a:bodyPr wrap="square" lIns="0" tIns="0" rIns="0" bIns="0" rtlCol="0" anchor="ctr">
            <a:normAutofit/>
          </a:bodyPr>
          <a:lstStyle/>
          <a:p>
            <a:pPr marL="0" indent="0">
              <a:buNone/>
            </a:pPr>
            <a:r>
              <a:rPr lang="en-US" sz="1600" dirty="0">
                <a:solidFill>
                  <a:srgbClr val="10283B"/>
                </a:solidFill>
              </a:rPr>
              <a:t>support for online students</a:t>
            </a:r>
            <a:endParaRPr lang="en-US" sz="1600" dirty="0"/>
          </a:p>
        </p:txBody>
      </p:sp>
      <p:sp>
        <p:nvSpPr>
          <p:cNvPr id="14" name="Shape 12"/>
          <p:cNvSpPr/>
          <p:nvPr/>
        </p:nvSpPr>
        <p:spPr>
          <a:xfrm>
            <a:off x="6766560" y="1554480"/>
            <a:ext cx="4389120" cy="3383280"/>
          </a:xfrm>
          <a:prstGeom prst="rect">
            <a:avLst/>
          </a:prstGeom>
          <a:solidFill>
            <a:srgbClr val="E8F4F5"/>
          </a:solidFill>
          <a:ln w="12700">
            <a:solidFill>
              <a:srgbClr val="E8F4F5">
                <a:alpha val="0"/>
              </a:srgbClr>
            </a:solidFill>
            <a:prstDash val="solid"/>
          </a:ln>
        </p:spPr>
        <p:txBody>
          <a:bodyPr/>
          <a:lstStyle/>
          <a:p>
            <a:endParaRPr/>
          </a:p>
        </p:txBody>
      </p:sp>
      <p:sp>
        <p:nvSpPr>
          <p:cNvPr id="15" name="Text 13"/>
          <p:cNvSpPr/>
          <p:nvPr/>
        </p:nvSpPr>
        <p:spPr>
          <a:xfrm>
            <a:off x="7178040" y="2148840"/>
            <a:ext cx="3566160" cy="822960"/>
          </a:xfrm>
          <a:prstGeom prst="rect">
            <a:avLst/>
          </a:prstGeom>
          <a:noFill/>
          <a:ln/>
        </p:spPr>
        <p:txBody>
          <a:bodyPr wrap="square" lIns="0" tIns="0" rIns="0" bIns="0" rtlCol="0" anchor="ctr">
            <a:normAutofit fontScale="92500"/>
          </a:bodyPr>
          <a:lstStyle/>
          <a:p>
            <a:pPr marL="0" indent="0" algn="ctr">
              <a:buNone/>
            </a:pPr>
            <a:r>
              <a:rPr lang="en-US" sz="2900" b="1" dirty="0">
                <a:solidFill>
                  <a:srgbClr val="18324A"/>
                </a:solidFill>
              </a:rPr>
              <a:t>The fee supports people, not a paywall.</a:t>
            </a:r>
            <a:endParaRPr lang="en-US" sz="2900" dirty="0"/>
          </a:p>
        </p:txBody>
      </p:sp>
      <p:sp>
        <p:nvSpPr>
          <p:cNvPr id="16" name="Text 14"/>
          <p:cNvSpPr/>
          <p:nvPr/>
        </p:nvSpPr>
        <p:spPr>
          <a:xfrm>
            <a:off x="7360920" y="3319272"/>
            <a:ext cx="3200400" cy="640080"/>
          </a:xfrm>
          <a:prstGeom prst="rect">
            <a:avLst/>
          </a:prstGeom>
          <a:noFill/>
          <a:ln/>
        </p:spPr>
        <p:txBody>
          <a:bodyPr wrap="square" lIns="0" tIns="0" rIns="0" bIns="0" rtlCol="0" anchor="ctr"/>
          <a:lstStyle/>
          <a:p>
            <a:pPr marL="0" indent="0" algn="ctr">
              <a:buNone/>
            </a:pPr>
            <a:r>
              <a:rPr lang="en-US" sz="1700" dirty="0">
                <a:solidFill>
                  <a:srgbClr val="425466"/>
                </a:solidFill>
              </a:rPr>
              <a:t>The goal is a more human online learning experience.</a:t>
            </a:r>
            <a:endParaRPr lang="en-US" sz="1700" dirty="0"/>
          </a:p>
        </p:txBody>
      </p:sp>
      <p:sp>
        <p:nvSpPr>
          <p:cNvPr id="19" name="TextBox 18">
            <a:extLst>
              <a:ext uri="{FF2B5EF4-FFF2-40B4-BE49-F238E27FC236}">
                <a16:creationId xmlns:a16="http://schemas.microsoft.com/office/drawing/2014/main" id="{C34E5646-7D98-A193-E897-27E8FBE07C22}"/>
              </a:ext>
            </a:extLst>
          </p:cNvPr>
          <p:cNvSpPr txBox="1"/>
          <p:nvPr/>
        </p:nvSpPr>
        <p:spPr>
          <a:xfrm>
            <a:off x="8525466" y="5916168"/>
            <a:ext cx="3476529" cy="523220"/>
          </a:xfrm>
          <a:prstGeom prst="rect">
            <a:avLst/>
          </a:prstGeom>
          <a:noFill/>
        </p:spPr>
        <p:txBody>
          <a:bodyPr wrap="none" rtlCol="0">
            <a:spAutoFit/>
          </a:bodyPr>
          <a:lstStyle/>
          <a:p>
            <a:r>
              <a:rPr lang="en-US" sz="2800" dirty="0" err="1"/>
              <a:t>django.dr-chuck.com</a:t>
            </a:r>
            <a:endParaRPr lang="en-US" sz="28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9">
    <p:bg>
      <p:bgPr>
        <a:solidFill>
          <a:srgbClr val="F7FAFB"/>
        </a:solidFill>
        <a:effectLst/>
      </p:bgPr>
    </p:bg>
    <p:spTree>
      <p:nvGrpSpPr>
        <p:cNvPr id="1" name=""/>
        <p:cNvGrpSpPr/>
        <p:nvPr/>
      </p:nvGrpSpPr>
      <p:grpSpPr>
        <a:xfrm>
          <a:off x="0" y="0"/>
          <a:ext cx="0" cy="0"/>
          <a:chOff x="0" y="0"/>
          <a:chExt cx="0" cy="0"/>
        </a:xfrm>
      </p:grpSpPr>
      <p:sp>
        <p:nvSpPr>
          <p:cNvPr id="2" name="Text 0"/>
          <p:cNvSpPr/>
          <p:nvPr/>
        </p:nvSpPr>
        <p:spPr>
          <a:xfrm>
            <a:off x="502920" y="347472"/>
            <a:ext cx="7680960" cy="502920"/>
          </a:xfrm>
          <a:prstGeom prst="rect">
            <a:avLst/>
          </a:prstGeom>
          <a:noFill/>
          <a:ln/>
        </p:spPr>
        <p:txBody>
          <a:bodyPr wrap="square" lIns="0" tIns="0" rIns="0" bIns="0" rtlCol="0" anchor="ctr"/>
          <a:lstStyle/>
          <a:p>
            <a:pPr marL="0" indent="0">
              <a:buNone/>
            </a:pPr>
            <a:r>
              <a:rPr lang="en-US" sz="3100" b="1" dirty="0">
                <a:solidFill>
                  <a:srgbClr val="18324A"/>
                </a:solidFill>
                <a:latin typeface="Aptos Display" pitchFamily="34" charset="0"/>
                <a:ea typeface="Aptos Display" pitchFamily="34" charset="-122"/>
                <a:cs typeface="Aptos Display" pitchFamily="34" charset="-120"/>
              </a:rPr>
              <a:t>This is an experiment</a:t>
            </a:r>
            <a:endParaRPr lang="en-US" sz="3100" dirty="0"/>
          </a:p>
        </p:txBody>
      </p:sp>
      <p:sp>
        <p:nvSpPr>
          <p:cNvPr id="3" name="Text 1"/>
          <p:cNvSpPr/>
          <p:nvPr/>
        </p:nvSpPr>
        <p:spPr>
          <a:xfrm>
            <a:off x="530352" y="896112"/>
            <a:ext cx="8046720" cy="310896"/>
          </a:xfrm>
          <a:prstGeom prst="rect">
            <a:avLst/>
          </a:prstGeom>
          <a:noFill/>
          <a:ln/>
        </p:spPr>
        <p:txBody>
          <a:bodyPr wrap="square" lIns="0" tIns="0" rIns="0" bIns="0" rtlCol="0" anchor="ctr"/>
          <a:lstStyle/>
          <a:p>
            <a:pPr marL="0" indent="0">
              <a:buNone/>
            </a:pPr>
            <a:r>
              <a:rPr lang="en-US" sz="1400" dirty="0">
                <a:solidFill>
                  <a:srgbClr val="425466"/>
                </a:solidFill>
              </a:rPr>
              <a:t>The first cohort helps define what a CLOC should be</a:t>
            </a:r>
            <a:endParaRPr lang="en-US" sz="1400" dirty="0"/>
          </a:p>
        </p:txBody>
      </p:sp>
      <p:sp>
        <p:nvSpPr>
          <p:cNvPr id="4" name="Text 2"/>
          <p:cNvSpPr/>
          <p:nvPr/>
        </p:nvSpPr>
        <p:spPr>
          <a:xfrm>
            <a:off x="914400" y="1737360"/>
            <a:ext cx="2194560" cy="411480"/>
          </a:xfrm>
          <a:prstGeom prst="rect">
            <a:avLst/>
          </a:prstGeom>
          <a:noFill/>
          <a:ln/>
        </p:spPr>
        <p:txBody>
          <a:bodyPr wrap="square" lIns="0" tIns="0" rIns="0" bIns="0" rtlCol="0" anchor="ctr"/>
          <a:lstStyle/>
          <a:p>
            <a:pPr marL="0" indent="0" algn="ctr">
              <a:buNone/>
            </a:pPr>
            <a:r>
              <a:rPr lang="en-US" sz="2700" b="1" dirty="0">
                <a:solidFill>
                  <a:srgbClr val="138A96"/>
                </a:solidFill>
              </a:rPr>
              <a:t>Listen</a:t>
            </a:r>
            <a:endParaRPr lang="en-US" sz="2700" dirty="0"/>
          </a:p>
        </p:txBody>
      </p:sp>
      <p:sp>
        <p:nvSpPr>
          <p:cNvPr id="5" name="Text 3"/>
          <p:cNvSpPr/>
          <p:nvPr/>
        </p:nvSpPr>
        <p:spPr>
          <a:xfrm>
            <a:off x="4983480" y="1737360"/>
            <a:ext cx="2194560" cy="411480"/>
          </a:xfrm>
          <a:prstGeom prst="rect">
            <a:avLst/>
          </a:prstGeom>
          <a:noFill/>
          <a:ln/>
        </p:spPr>
        <p:txBody>
          <a:bodyPr wrap="square" lIns="0" tIns="0" rIns="0" bIns="0" rtlCol="0" anchor="ctr"/>
          <a:lstStyle/>
          <a:p>
            <a:pPr marL="0" indent="0" algn="ctr">
              <a:buNone/>
            </a:pPr>
            <a:r>
              <a:rPr lang="en-US" sz="2700" b="1" dirty="0">
                <a:solidFill>
                  <a:srgbClr val="F5A623"/>
                </a:solidFill>
              </a:rPr>
              <a:t>Adjust</a:t>
            </a:r>
            <a:endParaRPr lang="en-US" sz="2700" dirty="0"/>
          </a:p>
        </p:txBody>
      </p:sp>
      <p:sp>
        <p:nvSpPr>
          <p:cNvPr id="6" name="Text 4"/>
          <p:cNvSpPr/>
          <p:nvPr/>
        </p:nvSpPr>
        <p:spPr>
          <a:xfrm>
            <a:off x="8915400" y="1737360"/>
            <a:ext cx="2194560" cy="411480"/>
          </a:xfrm>
          <a:prstGeom prst="rect">
            <a:avLst/>
          </a:prstGeom>
          <a:noFill/>
          <a:ln/>
        </p:spPr>
        <p:txBody>
          <a:bodyPr wrap="square" lIns="0" tIns="0" rIns="0" bIns="0" rtlCol="0" anchor="ctr"/>
          <a:lstStyle/>
          <a:p>
            <a:pPr marL="0" indent="0" algn="ctr">
              <a:buNone/>
            </a:pPr>
            <a:r>
              <a:rPr lang="en-US" sz="2700" b="1" dirty="0">
                <a:solidFill>
                  <a:srgbClr val="5E8C42"/>
                </a:solidFill>
              </a:rPr>
              <a:t>Improve</a:t>
            </a:r>
            <a:endParaRPr lang="en-US" sz="2700" dirty="0"/>
          </a:p>
        </p:txBody>
      </p:sp>
      <p:sp>
        <p:nvSpPr>
          <p:cNvPr id="7" name="Shape 5"/>
          <p:cNvSpPr/>
          <p:nvPr/>
        </p:nvSpPr>
        <p:spPr>
          <a:xfrm>
            <a:off x="3337560" y="1965960"/>
            <a:ext cx="1234440" cy="0"/>
          </a:xfrm>
          <a:prstGeom prst="line">
            <a:avLst/>
          </a:prstGeom>
          <a:noFill/>
          <a:ln w="25400">
            <a:solidFill>
              <a:srgbClr val="9AB7BB"/>
            </a:solidFill>
            <a:prstDash val="solid"/>
            <a:headEnd type="none"/>
            <a:tailEnd type="triangle"/>
          </a:ln>
        </p:spPr>
        <p:txBody>
          <a:bodyPr/>
          <a:lstStyle/>
          <a:p>
            <a:endParaRPr/>
          </a:p>
        </p:txBody>
      </p:sp>
      <p:sp>
        <p:nvSpPr>
          <p:cNvPr id="8" name="Shape 6"/>
          <p:cNvSpPr/>
          <p:nvPr/>
        </p:nvSpPr>
        <p:spPr>
          <a:xfrm>
            <a:off x="7360920" y="1965960"/>
            <a:ext cx="1188720" cy="0"/>
          </a:xfrm>
          <a:prstGeom prst="line">
            <a:avLst/>
          </a:prstGeom>
          <a:noFill/>
          <a:ln w="25400">
            <a:solidFill>
              <a:srgbClr val="9AB7BB"/>
            </a:solidFill>
            <a:prstDash val="solid"/>
            <a:headEnd type="none"/>
            <a:tailEnd type="triangle"/>
          </a:ln>
        </p:spPr>
        <p:txBody>
          <a:bodyPr/>
          <a:lstStyle/>
          <a:p>
            <a:endParaRPr/>
          </a:p>
        </p:txBody>
      </p:sp>
      <p:sp>
        <p:nvSpPr>
          <p:cNvPr id="9" name="Text 7"/>
          <p:cNvSpPr/>
          <p:nvPr/>
        </p:nvSpPr>
        <p:spPr>
          <a:xfrm>
            <a:off x="868680" y="2743200"/>
            <a:ext cx="228600" cy="228600"/>
          </a:xfrm>
          <a:prstGeom prst="rect">
            <a:avLst/>
          </a:prstGeom>
          <a:noFill/>
          <a:ln/>
        </p:spPr>
        <p:txBody>
          <a:bodyPr wrap="square" lIns="0" tIns="0" rIns="0" bIns="0" rtlCol="0" anchor="ctr"/>
          <a:lstStyle/>
          <a:p>
            <a:pPr marL="0" indent="0">
              <a:buNone/>
            </a:pPr>
            <a:r>
              <a:rPr lang="en-US" sz="3200" b="1" dirty="0">
                <a:solidFill>
                  <a:srgbClr val="F5A623"/>
                </a:solidFill>
              </a:rPr>
              <a:t>•</a:t>
            </a:r>
            <a:endParaRPr lang="en-US" sz="3200" dirty="0"/>
          </a:p>
        </p:txBody>
      </p:sp>
      <p:sp>
        <p:nvSpPr>
          <p:cNvPr id="10" name="Text 8"/>
          <p:cNvSpPr/>
          <p:nvPr/>
        </p:nvSpPr>
        <p:spPr>
          <a:xfrm>
            <a:off x="1170432" y="2779776"/>
            <a:ext cx="2990088" cy="310896"/>
          </a:xfrm>
          <a:prstGeom prst="rect">
            <a:avLst/>
          </a:prstGeom>
          <a:noFill/>
          <a:ln/>
        </p:spPr>
        <p:txBody>
          <a:bodyPr wrap="square" lIns="0" tIns="0" rIns="0" bIns="0" rtlCol="0" anchor="ctr">
            <a:normAutofit/>
          </a:bodyPr>
          <a:lstStyle/>
          <a:p>
            <a:pPr marL="0" indent="0">
              <a:buNone/>
            </a:pPr>
            <a:r>
              <a:rPr lang="en-US" sz="2000" dirty="0">
                <a:solidFill>
                  <a:srgbClr val="10283B"/>
                </a:solidFill>
              </a:rPr>
              <a:t>office-hour feedback</a:t>
            </a:r>
            <a:endParaRPr lang="en-US" sz="2000" dirty="0"/>
          </a:p>
        </p:txBody>
      </p:sp>
      <p:sp>
        <p:nvSpPr>
          <p:cNvPr id="11" name="Text 9"/>
          <p:cNvSpPr/>
          <p:nvPr/>
        </p:nvSpPr>
        <p:spPr>
          <a:xfrm>
            <a:off x="868680" y="3182112"/>
            <a:ext cx="228600" cy="228600"/>
          </a:xfrm>
          <a:prstGeom prst="rect">
            <a:avLst/>
          </a:prstGeom>
          <a:noFill/>
          <a:ln/>
        </p:spPr>
        <p:txBody>
          <a:bodyPr wrap="square" lIns="0" tIns="0" rIns="0" bIns="0" rtlCol="0" anchor="ctr"/>
          <a:lstStyle/>
          <a:p>
            <a:pPr marL="0" indent="0">
              <a:buNone/>
            </a:pPr>
            <a:r>
              <a:rPr lang="en-US" sz="3200" b="1" dirty="0">
                <a:solidFill>
                  <a:srgbClr val="F5A623"/>
                </a:solidFill>
              </a:rPr>
              <a:t>•</a:t>
            </a:r>
            <a:endParaRPr lang="en-US" sz="3200" dirty="0"/>
          </a:p>
        </p:txBody>
      </p:sp>
      <p:sp>
        <p:nvSpPr>
          <p:cNvPr id="12" name="Text 10"/>
          <p:cNvSpPr/>
          <p:nvPr/>
        </p:nvSpPr>
        <p:spPr>
          <a:xfrm>
            <a:off x="1170432" y="3218688"/>
            <a:ext cx="2990088" cy="310896"/>
          </a:xfrm>
          <a:prstGeom prst="rect">
            <a:avLst/>
          </a:prstGeom>
          <a:noFill/>
          <a:ln/>
        </p:spPr>
        <p:txBody>
          <a:bodyPr wrap="square" lIns="0" tIns="0" rIns="0" bIns="0" rtlCol="0" anchor="ctr">
            <a:normAutofit/>
          </a:bodyPr>
          <a:lstStyle/>
          <a:p>
            <a:pPr marL="0" indent="0">
              <a:buNone/>
            </a:pPr>
            <a:r>
              <a:rPr lang="en-US" sz="2000" dirty="0">
                <a:solidFill>
                  <a:srgbClr val="10283B"/>
                </a:solidFill>
              </a:rPr>
              <a:t>live session questions</a:t>
            </a:r>
            <a:endParaRPr lang="en-US" sz="2000" dirty="0"/>
          </a:p>
        </p:txBody>
      </p:sp>
      <p:sp>
        <p:nvSpPr>
          <p:cNvPr id="13" name="Text 11"/>
          <p:cNvSpPr/>
          <p:nvPr/>
        </p:nvSpPr>
        <p:spPr>
          <a:xfrm>
            <a:off x="868680" y="3621024"/>
            <a:ext cx="228600" cy="228600"/>
          </a:xfrm>
          <a:prstGeom prst="rect">
            <a:avLst/>
          </a:prstGeom>
          <a:noFill/>
          <a:ln/>
        </p:spPr>
        <p:txBody>
          <a:bodyPr wrap="square" lIns="0" tIns="0" rIns="0" bIns="0" rtlCol="0" anchor="ctr"/>
          <a:lstStyle/>
          <a:p>
            <a:pPr marL="0" indent="0">
              <a:buNone/>
            </a:pPr>
            <a:r>
              <a:rPr lang="en-US" sz="3200" b="1" dirty="0">
                <a:solidFill>
                  <a:srgbClr val="F5A623"/>
                </a:solidFill>
              </a:rPr>
              <a:t>•</a:t>
            </a:r>
            <a:endParaRPr lang="en-US" sz="3200" dirty="0"/>
          </a:p>
        </p:txBody>
      </p:sp>
      <p:sp>
        <p:nvSpPr>
          <p:cNvPr id="14" name="Text 12"/>
          <p:cNvSpPr/>
          <p:nvPr/>
        </p:nvSpPr>
        <p:spPr>
          <a:xfrm>
            <a:off x="1170432" y="3657600"/>
            <a:ext cx="2990088" cy="310896"/>
          </a:xfrm>
          <a:prstGeom prst="rect">
            <a:avLst/>
          </a:prstGeom>
          <a:noFill/>
          <a:ln/>
        </p:spPr>
        <p:txBody>
          <a:bodyPr wrap="square" lIns="0" tIns="0" rIns="0" bIns="0" rtlCol="0" anchor="ctr">
            <a:normAutofit/>
          </a:bodyPr>
          <a:lstStyle/>
          <a:p>
            <a:pPr marL="0" indent="0">
              <a:buNone/>
            </a:pPr>
            <a:r>
              <a:rPr lang="en-US" sz="2000" dirty="0">
                <a:solidFill>
                  <a:srgbClr val="10283B"/>
                </a:solidFill>
              </a:rPr>
              <a:t>email</a:t>
            </a:r>
            <a:endParaRPr lang="en-US" sz="2000" dirty="0"/>
          </a:p>
        </p:txBody>
      </p:sp>
      <p:sp>
        <p:nvSpPr>
          <p:cNvPr id="15" name="Text 13"/>
          <p:cNvSpPr/>
          <p:nvPr/>
        </p:nvSpPr>
        <p:spPr>
          <a:xfrm>
            <a:off x="868680" y="4059936"/>
            <a:ext cx="228600" cy="228600"/>
          </a:xfrm>
          <a:prstGeom prst="rect">
            <a:avLst/>
          </a:prstGeom>
          <a:noFill/>
          <a:ln/>
        </p:spPr>
        <p:txBody>
          <a:bodyPr wrap="square" lIns="0" tIns="0" rIns="0" bIns="0" rtlCol="0" anchor="ctr"/>
          <a:lstStyle/>
          <a:p>
            <a:pPr marL="0" indent="0">
              <a:buNone/>
            </a:pPr>
            <a:r>
              <a:rPr lang="en-US" sz="3200" b="1" dirty="0">
                <a:solidFill>
                  <a:srgbClr val="F5A623"/>
                </a:solidFill>
              </a:rPr>
              <a:t>•</a:t>
            </a:r>
            <a:endParaRPr lang="en-US" sz="3200" dirty="0"/>
          </a:p>
        </p:txBody>
      </p:sp>
      <p:sp>
        <p:nvSpPr>
          <p:cNvPr id="16" name="Text 14"/>
          <p:cNvSpPr/>
          <p:nvPr/>
        </p:nvSpPr>
        <p:spPr>
          <a:xfrm>
            <a:off x="1170432" y="4096512"/>
            <a:ext cx="2990088" cy="310896"/>
          </a:xfrm>
          <a:prstGeom prst="rect">
            <a:avLst/>
          </a:prstGeom>
          <a:noFill/>
          <a:ln/>
        </p:spPr>
        <p:txBody>
          <a:bodyPr wrap="square" lIns="0" tIns="0" rIns="0" bIns="0" rtlCol="0" anchor="ctr">
            <a:noAutofit/>
          </a:bodyPr>
          <a:lstStyle/>
          <a:p>
            <a:pPr marL="0" indent="0">
              <a:buNone/>
            </a:pPr>
            <a:r>
              <a:rPr lang="en-US" sz="2000" dirty="0">
                <a:solidFill>
                  <a:srgbClr val="10283B"/>
                </a:solidFill>
              </a:rPr>
              <a:t>patterns across assignments</a:t>
            </a:r>
            <a:endParaRPr lang="en-US" sz="2000" dirty="0"/>
          </a:p>
        </p:txBody>
      </p:sp>
      <p:sp>
        <p:nvSpPr>
          <p:cNvPr id="17" name="Text 15"/>
          <p:cNvSpPr/>
          <p:nvPr/>
        </p:nvSpPr>
        <p:spPr>
          <a:xfrm>
            <a:off x="4892040" y="2743200"/>
            <a:ext cx="228600" cy="228600"/>
          </a:xfrm>
          <a:prstGeom prst="rect">
            <a:avLst/>
          </a:prstGeom>
          <a:noFill/>
          <a:ln/>
        </p:spPr>
        <p:txBody>
          <a:bodyPr wrap="square" lIns="0" tIns="0" rIns="0" bIns="0" rtlCol="0" anchor="ctr"/>
          <a:lstStyle/>
          <a:p>
            <a:pPr marL="0" indent="0">
              <a:buNone/>
            </a:pPr>
            <a:r>
              <a:rPr lang="en-US" sz="3200" b="1" dirty="0">
                <a:solidFill>
                  <a:srgbClr val="F5A623"/>
                </a:solidFill>
              </a:rPr>
              <a:t>•</a:t>
            </a:r>
            <a:endParaRPr lang="en-US" sz="3200" dirty="0"/>
          </a:p>
        </p:txBody>
      </p:sp>
      <p:sp>
        <p:nvSpPr>
          <p:cNvPr id="18" name="Text 16"/>
          <p:cNvSpPr/>
          <p:nvPr/>
        </p:nvSpPr>
        <p:spPr>
          <a:xfrm>
            <a:off x="5193792" y="2779776"/>
            <a:ext cx="2990088" cy="310896"/>
          </a:xfrm>
          <a:prstGeom prst="rect">
            <a:avLst/>
          </a:prstGeom>
          <a:noFill/>
          <a:ln/>
        </p:spPr>
        <p:txBody>
          <a:bodyPr wrap="square" lIns="0" tIns="0" rIns="0" bIns="0" rtlCol="0" anchor="ctr">
            <a:normAutofit/>
          </a:bodyPr>
          <a:lstStyle/>
          <a:p>
            <a:pPr marL="0" indent="0">
              <a:buNone/>
            </a:pPr>
            <a:r>
              <a:rPr lang="en-US" sz="2000" dirty="0">
                <a:solidFill>
                  <a:srgbClr val="10283B"/>
                </a:solidFill>
              </a:rPr>
              <a:t>clarify instructions</a:t>
            </a:r>
            <a:endParaRPr lang="en-US" sz="2000" dirty="0"/>
          </a:p>
        </p:txBody>
      </p:sp>
      <p:sp>
        <p:nvSpPr>
          <p:cNvPr id="19" name="Text 17"/>
          <p:cNvSpPr/>
          <p:nvPr/>
        </p:nvSpPr>
        <p:spPr>
          <a:xfrm>
            <a:off x="4892040" y="3182112"/>
            <a:ext cx="228600" cy="228600"/>
          </a:xfrm>
          <a:prstGeom prst="rect">
            <a:avLst/>
          </a:prstGeom>
          <a:noFill/>
          <a:ln/>
        </p:spPr>
        <p:txBody>
          <a:bodyPr wrap="square" lIns="0" tIns="0" rIns="0" bIns="0" rtlCol="0" anchor="ctr"/>
          <a:lstStyle/>
          <a:p>
            <a:pPr marL="0" indent="0">
              <a:buNone/>
            </a:pPr>
            <a:r>
              <a:rPr lang="en-US" sz="3200" b="1" dirty="0">
                <a:solidFill>
                  <a:srgbClr val="F5A623"/>
                </a:solidFill>
              </a:rPr>
              <a:t>•</a:t>
            </a:r>
            <a:endParaRPr lang="en-US" sz="3200" dirty="0"/>
          </a:p>
        </p:txBody>
      </p:sp>
      <p:sp>
        <p:nvSpPr>
          <p:cNvPr id="20" name="Text 18"/>
          <p:cNvSpPr/>
          <p:nvPr/>
        </p:nvSpPr>
        <p:spPr>
          <a:xfrm>
            <a:off x="5193792" y="3218688"/>
            <a:ext cx="2990088" cy="310896"/>
          </a:xfrm>
          <a:prstGeom prst="rect">
            <a:avLst/>
          </a:prstGeom>
          <a:noFill/>
          <a:ln/>
        </p:spPr>
        <p:txBody>
          <a:bodyPr wrap="square" lIns="0" tIns="0" rIns="0" bIns="0" rtlCol="0" anchor="ctr">
            <a:normAutofit/>
          </a:bodyPr>
          <a:lstStyle/>
          <a:p>
            <a:pPr marL="0" indent="0">
              <a:buNone/>
            </a:pPr>
            <a:r>
              <a:rPr lang="en-US" sz="2000" dirty="0">
                <a:solidFill>
                  <a:srgbClr val="10283B"/>
                </a:solidFill>
              </a:rPr>
              <a:t>add examples</a:t>
            </a:r>
            <a:endParaRPr lang="en-US" sz="2000" dirty="0"/>
          </a:p>
        </p:txBody>
      </p:sp>
      <p:sp>
        <p:nvSpPr>
          <p:cNvPr id="21" name="Text 19"/>
          <p:cNvSpPr/>
          <p:nvPr/>
        </p:nvSpPr>
        <p:spPr>
          <a:xfrm>
            <a:off x="4892040" y="3621024"/>
            <a:ext cx="228600" cy="228600"/>
          </a:xfrm>
          <a:prstGeom prst="rect">
            <a:avLst/>
          </a:prstGeom>
          <a:noFill/>
          <a:ln/>
        </p:spPr>
        <p:txBody>
          <a:bodyPr wrap="square" lIns="0" tIns="0" rIns="0" bIns="0" rtlCol="0" anchor="ctr"/>
          <a:lstStyle/>
          <a:p>
            <a:pPr marL="0" indent="0">
              <a:buNone/>
            </a:pPr>
            <a:r>
              <a:rPr lang="en-US" sz="3200" b="1" dirty="0">
                <a:solidFill>
                  <a:srgbClr val="F5A623"/>
                </a:solidFill>
              </a:rPr>
              <a:t>•</a:t>
            </a:r>
            <a:endParaRPr lang="en-US" sz="3200" dirty="0"/>
          </a:p>
        </p:txBody>
      </p:sp>
      <p:sp>
        <p:nvSpPr>
          <p:cNvPr id="22" name="Text 20"/>
          <p:cNvSpPr/>
          <p:nvPr/>
        </p:nvSpPr>
        <p:spPr>
          <a:xfrm>
            <a:off x="5193792" y="3657600"/>
            <a:ext cx="2990088" cy="310896"/>
          </a:xfrm>
          <a:prstGeom prst="rect">
            <a:avLst/>
          </a:prstGeom>
          <a:noFill/>
          <a:ln/>
        </p:spPr>
        <p:txBody>
          <a:bodyPr wrap="square" lIns="0" tIns="0" rIns="0" bIns="0" rtlCol="0" anchor="ctr">
            <a:normAutofit/>
          </a:bodyPr>
          <a:lstStyle/>
          <a:p>
            <a:pPr marL="0" indent="0">
              <a:buNone/>
            </a:pPr>
            <a:r>
              <a:rPr lang="en-US" sz="2000" dirty="0">
                <a:solidFill>
                  <a:srgbClr val="10283B"/>
                </a:solidFill>
              </a:rPr>
              <a:t>tune sessions</a:t>
            </a:r>
            <a:endParaRPr lang="en-US" sz="2000" dirty="0"/>
          </a:p>
        </p:txBody>
      </p:sp>
      <p:sp>
        <p:nvSpPr>
          <p:cNvPr id="23" name="Text 21"/>
          <p:cNvSpPr/>
          <p:nvPr/>
        </p:nvSpPr>
        <p:spPr>
          <a:xfrm>
            <a:off x="4892040" y="4059936"/>
            <a:ext cx="228600" cy="228600"/>
          </a:xfrm>
          <a:prstGeom prst="rect">
            <a:avLst/>
          </a:prstGeom>
          <a:noFill/>
          <a:ln/>
        </p:spPr>
        <p:txBody>
          <a:bodyPr wrap="square" lIns="0" tIns="0" rIns="0" bIns="0" rtlCol="0" anchor="ctr"/>
          <a:lstStyle/>
          <a:p>
            <a:pPr marL="0" indent="0">
              <a:buNone/>
            </a:pPr>
            <a:r>
              <a:rPr lang="en-US" sz="3200" b="1" dirty="0">
                <a:solidFill>
                  <a:srgbClr val="F5A623"/>
                </a:solidFill>
              </a:rPr>
              <a:t>•</a:t>
            </a:r>
            <a:endParaRPr lang="en-US" sz="3200" dirty="0"/>
          </a:p>
        </p:txBody>
      </p:sp>
      <p:sp>
        <p:nvSpPr>
          <p:cNvPr id="24" name="Text 22"/>
          <p:cNvSpPr/>
          <p:nvPr/>
        </p:nvSpPr>
        <p:spPr>
          <a:xfrm>
            <a:off x="5193792" y="4096512"/>
            <a:ext cx="2990088" cy="310896"/>
          </a:xfrm>
          <a:prstGeom prst="rect">
            <a:avLst/>
          </a:prstGeom>
          <a:noFill/>
          <a:ln/>
        </p:spPr>
        <p:txBody>
          <a:bodyPr wrap="square" lIns="0" tIns="0" rIns="0" bIns="0" rtlCol="0" anchor="ctr">
            <a:normAutofit/>
          </a:bodyPr>
          <a:lstStyle/>
          <a:p>
            <a:pPr marL="0" indent="0">
              <a:buNone/>
            </a:pPr>
            <a:r>
              <a:rPr lang="en-US" sz="2000" dirty="0">
                <a:solidFill>
                  <a:srgbClr val="10283B"/>
                </a:solidFill>
              </a:rPr>
              <a:t>create extra material</a:t>
            </a:r>
            <a:endParaRPr lang="en-US" sz="2000" dirty="0"/>
          </a:p>
        </p:txBody>
      </p:sp>
      <p:sp>
        <p:nvSpPr>
          <p:cNvPr id="25" name="Text 23"/>
          <p:cNvSpPr/>
          <p:nvPr/>
        </p:nvSpPr>
        <p:spPr>
          <a:xfrm>
            <a:off x="8732520" y="2743200"/>
            <a:ext cx="228600" cy="228600"/>
          </a:xfrm>
          <a:prstGeom prst="rect">
            <a:avLst/>
          </a:prstGeom>
          <a:noFill/>
          <a:ln/>
        </p:spPr>
        <p:txBody>
          <a:bodyPr wrap="square" lIns="0" tIns="0" rIns="0" bIns="0" rtlCol="0" anchor="ctr"/>
          <a:lstStyle/>
          <a:p>
            <a:pPr marL="0" indent="0">
              <a:buNone/>
            </a:pPr>
            <a:r>
              <a:rPr lang="en-US" sz="3200" b="1" dirty="0">
                <a:solidFill>
                  <a:srgbClr val="F5A623"/>
                </a:solidFill>
              </a:rPr>
              <a:t>•</a:t>
            </a:r>
            <a:endParaRPr lang="en-US" sz="3200" dirty="0"/>
          </a:p>
        </p:txBody>
      </p:sp>
      <p:sp>
        <p:nvSpPr>
          <p:cNvPr id="26" name="Text 24"/>
          <p:cNvSpPr/>
          <p:nvPr/>
        </p:nvSpPr>
        <p:spPr>
          <a:xfrm>
            <a:off x="9034272" y="2779776"/>
            <a:ext cx="2807208" cy="310896"/>
          </a:xfrm>
          <a:prstGeom prst="rect">
            <a:avLst/>
          </a:prstGeom>
          <a:noFill/>
          <a:ln/>
        </p:spPr>
        <p:txBody>
          <a:bodyPr wrap="square" lIns="0" tIns="0" rIns="0" bIns="0" rtlCol="0" anchor="ctr">
            <a:normAutofit/>
          </a:bodyPr>
          <a:lstStyle/>
          <a:p>
            <a:pPr marL="0" indent="0">
              <a:buNone/>
            </a:pPr>
            <a:r>
              <a:rPr lang="en-US" sz="2000" dirty="0">
                <a:solidFill>
                  <a:srgbClr val="10283B"/>
                </a:solidFill>
              </a:rPr>
              <a:t>future offerings</a:t>
            </a:r>
            <a:endParaRPr lang="en-US" sz="2000" dirty="0"/>
          </a:p>
        </p:txBody>
      </p:sp>
      <p:sp>
        <p:nvSpPr>
          <p:cNvPr id="27" name="Text 25"/>
          <p:cNvSpPr/>
          <p:nvPr/>
        </p:nvSpPr>
        <p:spPr>
          <a:xfrm>
            <a:off x="8732520" y="3182112"/>
            <a:ext cx="228600" cy="228600"/>
          </a:xfrm>
          <a:prstGeom prst="rect">
            <a:avLst/>
          </a:prstGeom>
          <a:noFill/>
          <a:ln/>
        </p:spPr>
        <p:txBody>
          <a:bodyPr wrap="square" lIns="0" tIns="0" rIns="0" bIns="0" rtlCol="0" anchor="ctr"/>
          <a:lstStyle/>
          <a:p>
            <a:pPr marL="0" indent="0">
              <a:buNone/>
            </a:pPr>
            <a:r>
              <a:rPr lang="en-US" sz="3200" b="1" dirty="0">
                <a:solidFill>
                  <a:srgbClr val="F5A623"/>
                </a:solidFill>
              </a:rPr>
              <a:t>•</a:t>
            </a:r>
            <a:endParaRPr lang="en-US" sz="3200" dirty="0"/>
          </a:p>
        </p:txBody>
      </p:sp>
      <p:sp>
        <p:nvSpPr>
          <p:cNvPr id="28" name="Text 26"/>
          <p:cNvSpPr/>
          <p:nvPr/>
        </p:nvSpPr>
        <p:spPr>
          <a:xfrm>
            <a:off x="9034272" y="3218688"/>
            <a:ext cx="2807208" cy="310896"/>
          </a:xfrm>
          <a:prstGeom prst="rect">
            <a:avLst/>
          </a:prstGeom>
          <a:noFill/>
          <a:ln/>
        </p:spPr>
        <p:txBody>
          <a:bodyPr wrap="square" lIns="0" tIns="0" rIns="0" bIns="0" rtlCol="0" anchor="ctr">
            <a:normAutofit/>
          </a:bodyPr>
          <a:lstStyle/>
          <a:p>
            <a:pPr marL="0" indent="0">
              <a:buNone/>
            </a:pPr>
            <a:r>
              <a:rPr lang="en-US" sz="2000" dirty="0">
                <a:solidFill>
                  <a:srgbClr val="10283B"/>
                </a:solidFill>
              </a:rPr>
              <a:t>better interaction</a:t>
            </a:r>
            <a:endParaRPr lang="en-US" sz="2000" dirty="0"/>
          </a:p>
        </p:txBody>
      </p:sp>
      <p:sp>
        <p:nvSpPr>
          <p:cNvPr id="29" name="Text 27"/>
          <p:cNvSpPr/>
          <p:nvPr/>
        </p:nvSpPr>
        <p:spPr>
          <a:xfrm>
            <a:off x="8732520" y="3621024"/>
            <a:ext cx="228600" cy="228600"/>
          </a:xfrm>
          <a:prstGeom prst="rect">
            <a:avLst/>
          </a:prstGeom>
          <a:noFill/>
          <a:ln/>
        </p:spPr>
        <p:txBody>
          <a:bodyPr wrap="square" lIns="0" tIns="0" rIns="0" bIns="0" rtlCol="0" anchor="ctr"/>
          <a:lstStyle/>
          <a:p>
            <a:pPr marL="0" indent="0">
              <a:buNone/>
            </a:pPr>
            <a:r>
              <a:rPr lang="en-US" sz="3200" b="1" dirty="0">
                <a:solidFill>
                  <a:srgbClr val="F5A623"/>
                </a:solidFill>
              </a:rPr>
              <a:t>•</a:t>
            </a:r>
            <a:endParaRPr lang="en-US" sz="3200" dirty="0"/>
          </a:p>
        </p:txBody>
      </p:sp>
      <p:sp>
        <p:nvSpPr>
          <p:cNvPr id="30" name="Text 28"/>
          <p:cNvSpPr/>
          <p:nvPr/>
        </p:nvSpPr>
        <p:spPr>
          <a:xfrm>
            <a:off x="9034272" y="3657600"/>
            <a:ext cx="2807208" cy="310896"/>
          </a:xfrm>
          <a:prstGeom prst="rect">
            <a:avLst/>
          </a:prstGeom>
          <a:noFill/>
          <a:ln/>
        </p:spPr>
        <p:txBody>
          <a:bodyPr wrap="square" lIns="0" tIns="0" rIns="0" bIns="0" rtlCol="0" anchor="ctr">
            <a:normAutofit/>
          </a:bodyPr>
          <a:lstStyle/>
          <a:p>
            <a:pPr marL="0" indent="0">
              <a:buNone/>
            </a:pPr>
            <a:r>
              <a:rPr lang="en-US" sz="2000" dirty="0">
                <a:solidFill>
                  <a:srgbClr val="10283B"/>
                </a:solidFill>
              </a:rPr>
              <a:t>stronger online support</a:t>
            </a:r>
            <a:endParaRPr lang="en-US" sz="2000" dirty="0"/>
          </a:p>
        </p:txBody>
      </p:sp>
      <p:sp>
        <p:nvSpPr>
          <p:cNvPr id="31" name="Text 29"/>
          <p:cNvSpPr/>
          <p:nvPr/>
        </p:nvSpPr>
        <p:spPr>
          <a:xfrm>
            <a:off x="8732520" y="4059936"/>
            <a:ext cx="228600" cy="228600"/>
          </a:xfrm>
          <a:prstGeom prst="rect">
            <a:avLst/>
          </a:prstGeom>
          <a:noFill/>
          <a:ln/>
        </p:spPr>
        <p:txBody>
          <a:bodyPr wrap="square" lIns="0" tIns="0" rIns="0" bIns="0" rtlCol="0" anchor="ctr"/>
          <a:lstStyle/>
          <a:p>
            <a:pPr marL="0" indent="0">
              <a:buNone/>
            </a:pPr>
            <a:r>
              <a:rPr lang="en-US" sz="3200" b="1" dirty="0">
                <a:solidFill>
                  <a:srgbClr val="F5A623"/>
                </a:solidFill>
              </a:rPr>
              <a:t>•</a:t>
            </a:r>
            <a:endParaRPr lang="en-US" sz="3200" dirty="0"/>
          </a:p>
        </p:txBody>
      </p:sp>
      <p:sp>
        <p:nvSpPr>
          <p:cNvPr id="32" name="Text 30"/>
          <p:cNvSpPr/>
          <p:nvPr/>
        </p:nvSpPr>
        <p:spPr>
          <a:xfrm>
            <a:off x="9034272" y="4096512"/>
            <a:ext cx="2807208" cy="310896"/>
          </a:xfrm>
          <a:prstGeom prst="rect">
            <a:avLst/>
          </a:prstGeom>
          <a:noFill/>
          <a:ln/>
        </p:spPr>
        <p:txBody>
          <a:bodyPr wrap="square" lIns="0" tIns="0" rIns="0" bIns="0" rtlCol="0" anchor="ctr">
            <a:normAutofit/>
          </a:bodyPr>
          <a:lstStyle/>
          <a:p>
            <a:pPr marL="0" indent="0">
              <a:buNone/>
            </a:pPr>
            <a:r>
              <a:rPr lang="en-US" sz="2000" dirty="0">
                <a:solidFill>
                  <a:srgbClr val="10283B"/>
                </a:solidFill>
              </a:rPr>
              <a:t>clearer CLOC model</a:t>
            </a:r>
            <a:endParaRPr lang="en-US" sz="2000" dirty="0"/>
          </a:p>
        </p:txBody>
      </p:sp>
      <p:sp>
        <p:nvSpPr>
          <p:cNvPr id="35" name="TextBox 34">
            <a:extLst>
              <a:ext uri="{FF2B5EF4-FFF2-40B4-BE49-F238E27FC236}">
                <a16:creationId xmlns:a16="http://schemas.microsoft.com/office/drawing/2014/main" id="{DBCCA16A-F61A-2DFC-A847-E4D2A949AC25}"/>
              </a:ext>
            </a:extLst>
          </p:cNvPr>
          <p:cNvSpPr txBox="1"/>
          <p:nvPr/>
        </p:nvSpPr>
        <p:spPr>
          <a:xfrm>
            <a:off x="8525466" y="5916168"/>
            <a:ext cx="3476529" cy="523220"/>
          </a:xfrm>
          <a:prstGeom prst="rect">
            <a:avLst/>
          </a:prstGeom>
          <a:noFill/>
        </p:spPr>
        <p:txBody>
          <a:bodyPr wrap="none" rtlCol="0">
            <a:spAutoFit/>
          </a:bodyPr>
          <a:lstStyle/>
          <a:p>
            <a:r>
              <a:rPr lang="en-US" sz="2800" dirty="0" err="1"/>
              <a:t>django.dr-chuck.com</a:t>
            </a:r>
            <a:endParaRPr lang="en-US" sz="28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F4F7FB"/>
          </a:solidFill>
          <a:ln w="12700">
            <a:solidFill>
              <a:srgbClr val="F4F7FB">
                <a:alpha val="0"/>
              </a:srgbClr>
            </a:solidFill>
            <a:prstDash val="solid"/>
          </a:ln>
        </p:spPr>
        <p:txBody>
          <a:bodyPr/>
          <a:lstStyle/>
          <a:p>
            <a:endParaRPr lang="en-US"/>
          </a:p>
        </p:txBody>
      </p:sp>
      <p:sp>
        <p:nvSpPr>
          <p:cNvPr id="3" name="Shape 1"/>
          <p:cNvSpPr/>
          <p:nvPr/>
        </p:nvSpPr>
        <p:spPr>
          <a:xfrm>
            <a:off x="0" y="0"/>
            <a:ext cx="155448" cy="6858000"/>
          </a:xfrm>
          <a:prstGeom prst="rect">
            <a:avLst/>
          </a:prstGeom>
          <a:solidFill>
            <a:srgbClr val="FFCB05"/>
          </a:solidFill>
          <a:ln w="12700">
            <a:solidFill>
              <a:srgbClr val="FFCB05">
                <a:alpha val="0"/>
              </a:srgbClr>
            </a:solidFill>
            <a:prstDash val="solid"/>
          </a:ln>
        </p:spPr>
        <p:txBody>
          <a:bodyPr/>
          <a:lstStyle/>
          <a:p>
            <a:endParaRPr lang="en-US"/>
          </a:p>
        </p:txBody>
      </p:sp>
      <p:sp>
        <p:nvSpPr>
          <p:cNvPr id="4" name="Text 2"/>
          <p:cNvSpPr/>
          <p:nvPr/>
        </p:nvSpPr>
        <p:spPr>
          <a:xfrm>
            <a:off x="594360" y="402336"/>
            <a:ext cx="5257800" cy="502920"/>
          </a:xfrm>
          <a:prstGeom prst="rect">
            <a:avLst/>
          </a:prstGeom>
          <a:noFill/>
          <a:ln/>
        </p:spPr>
        <p:txBody>
          <a:bodyPr wrap="square" lIns="508" tIns="508" rIns="508" bIns="508" rtlCol="0" anchor="ctr">
            <a:normAutofit/>
          </a:bodyPr>
          <a:lstStyle/>
          <a:p>
            <a:pPr marL="0" indent="0" algn="l">
              <a:buNone/>
            </a:pPr>
            <a:r>
              <a:rPr lang="en-US" sz="3100" b="1" dirty="0">
                <a:solidFill>
                  <a:srgbClr val="00274C"/>
                </a:solidFill>
                <a:latin typeface="Aptos" pitchFamily="34" charset="0"/>
                <a:ea typeface="Aptos" pitchFamily="34" charset="-122"/>
                <a:cs typeface="Aptos" pitchFamily="34" charset="-120"/>
              </a:rPr>
              <a:t>The promise of CLOC</a:t>
            </a:r>
            <a:endParaRPr lang="en-US" sz="3100" dirty="0"/>
          </a:p>
        </p:txBody>
      </p:sp>
      <p:sp>
        <p:nvSpPr>
          <p:cNvPr id="5" name="Text 3"/>
          <p:cNvSpPr/>
          <p:nvPr/>
        </p:nvSpPr>
        <p:spPr>
          <a:xfrm>
            <a:off x="621792" y="941832"/>
            <a:ext cx="5303520" cy="320040"/>
          </a:xfrm>
          <a:prstGeom prst="rect">
            <a:avLst/>
          </a:prstGeom>
          <a:noFill/>
          <a:ln/>
        </p:spPr>
        <p:txBody>
          <a:bodyPr wrap="square" lIns="508" tIns="508" rIns="508" bIns="508" rtlCol="0" anchor="ctr">
            <a:normAutofit fontScale="77500" lnSpcReduction="20000"/>
          </a:bodyPr>
          <a:lstStyle/>
          <a:p>
            <a:pPr marL="0" indent="0" algn="l">
              <a:buNone/>
            </a:pPr>
            <a:r>
              <a:rPr lang="en-US" sz="1500" dirty="0">
                <a:solidFill>
                  <a:srgbClr val="4F5B66"/>
                </a:solidFill>
                <a:latin typeface="Aptos" pitchFamily="34" charset="0"/>
                <a:ea typeface="Aptos" pitchFamily="34" charset="-122"/>
                <a:cs typeface="Aptos" pitchFamily="34" charset="-120"/>
              </a:rPr>
              <a:t>A course design pattern for open learners who need structure and connection.</a:t>
            </a:r>
            <a:endParaRPr lang="en-US" sz="1500" dirty="0"/>
          </a:p>
        </p:txBody>
      </p:sp>
      <p:sp>
        <p:nvSpPr>
          <p:cNvPr id="7" name="Text 4"/>
          <p:cNvSpPr/>
          <p:nvPr/>
        </p:nvSpPr>
        <p:spPr>
          <a:xfrm>
            <a:off x="777240" y="1508760"/>
            <a:ext cx="4937760" cy="502920"/>
          </a:xfrm>
          <a:prstGeom prst="rect">
            <a:avLst/>
          </a:prstGeom>
          <a:noFill/>
          <a:ln/>
        </p:spPr>
        <p:txBody>
          <a:bodyPr wrap="square" lIns="508" tIns="508" rIns="508" bIns="508" rtlCol="0" anchor="ctr">
            <a:normAutofit fontScale="55000" lnSpcReduction="20000"/>
          </a:bodyPr>
          <a:lstStyle/>
          <a:p>
            <a:pPr marL="0" indent="0" algn="l">
              <a:buNone/>
            </a:pPr>
            <a:r>
              <a:rPr lang="en-US" sz="3300" b="1" dirty="0">
                <a:solidFill>
                  <a:srgbClr val="00274C"/>
                </a:solidFill>
                <a:latin typeface="Aptos" pitchFamily="34" charset="0"/>
                <a:ea typeface="Aptos" pitchFamily="34" charset="-122"/>
                <a:cs typeface="Aptos" pitchFamily="34" charset="-120"/>
              </a:rPr>
              <a:t>Campus-linked does not mean campus-bound.</a:t>
            </a:r>
            <a:endParaRPr lang="en-US" sz="3300" dirty="0"/>
          </a:p>
        </p:txBody>
      </p:sp>
      <p:sp>
        <p:nvSpPr>
          <p:cNvPr id="8" name="Text 5"/>
          <p:cNvSpPr/>
          <p:nvPr/>
        </p:nvSpPr>
        <p:spPr>
          <a:xfrm>
            <a:off x="841248" y="2331720"/>
            <a:ext cx="4892040" cy="1280160"/>
          </a:xfrm>
          <a:prstGeom prst="rect">
            <a:avLst/>
          </a:prstGeom>
          <a:noFill/>
          <a:ln/>
        </p:spPr>
        <p:txBody>
          <a:bodyPr wrap="square" lIns="508" tIns="508" rIns="508" bIns="508" rtlCol="0" anchor="ctr">
            <a:normAutofit fontScale="92500" lnSpcReduction="10000"/>
          </a:bodyPr>
          <a:lstStyle/>
          <a:p>
            <a:pPr marL="0" indent="0" algn="l">
              <a:buNone/>
            </a:pPr>
            <a:r>
              <a:rPr lang="en-US" sz="2500" dirty="0">
                <a:solidFill>
                  <a:srgbClr val="06254A"/>
                </a:solidFill>
                <a:latin typeface="Aptos" pitchFamily="34" charset="0"/>
                <a:ea typeface="Aptos" pitchFamily="34" charset="-122"/>
                <a:cs typeface="Aptos" pitchFamily="34" charset="-120"/>
              </a:rPr>
              <a:t>It means students learn online while staying connected to a real course rhythm, real instructors, real support, and a real learning community.</a:t>
            </a:r>
            <a:endParaRPr lang="en-US" sz="2500" dirty="0"/>
          </a:p>
        </p:txBody>
      </p:sp>
      <p:sp>
        <p:nvSpPr>
          <p:cNvPr id="9" name="Text 6"/>
          <p:cNvSpPr/>
          <p:nvPr/>
        </p:nvSpPr>
        <p:spPr>
          <a:xfrm>
            <a:off x="841248" y="4325112"/>
            <a:ext cx="4800600" cy="502920"/>
          </a:xfrm>
          <a:prstGeom prst="roundRect">
            <a:avLst/>
          </a:prstGeom>
          <a:solidFill>
            <a:srgbClr val="FFCB05"/>
          </a:solidFill>
          <a:ln>
            <a:solidFill>
              <a:srgbClr val="FFCB05">
                <a:alpha val="0"/>
              </a:srgbClr>
            </a:solidFill>
          </a:ln>
        </p:spPr>
        <p:txBody>
          <a:bodyPr wrap="square" lIns="508" tIns="508" rIns="508" bIns="508" rtlCol="0" anchor="ctr">
            <a:normAutofit/>
          </a:bodyPr>
          <a:lstStyle/>
          <a:p>
            <a:pPr marL="0" indent="0" algn="ctr">
              <a:buNone/>
            </a:pPr>
            <a:r>
              <a:rPr lang="en-US" sz="1400" b="1" dirty="0">
                <a:solidFill>
                  <a:srgbClr val="00274C"/>
                </a:solidFill>
                <a:latin typeface="Aptos" pitchFamily="34" charset="0"/>
                <a:ea typeface="Aptos" pitchFamily="34" charset="-122"/>
                <a:cs typeface="Aptos" pitchFamily="34" charset="-120"/>
              </a:rPr>
              <a:t>CLOC = Online flexibility + Campus connection</a:t>
            </a:r>
            <a:endParaRPr lang="en-US" sz="1400" dirty="0"/>
          </a:p>
        </p:txBody>
      </p:sp>
      <p:sp>
        <p:nvSpPr>
          <p:cNvPr id="10" name="Text 7"/>
          <p:cNvSpPr/>
          <p:nvPr/>
        </p:nvSpPr>
        <p:spPr>
          <a:xfrm>
            <a:off x="914400" y="5074920"/>
            <a:ext cx="4572000" cy="320040"/>
          </a:xfrm>
          <a:prstGeom prst="rect">
            <a:avLst/>
          </a:prstGeom>
          <a:noFill/>
          <a:ln/>
        </p:spPr>
        <p:txBody>
          <a:bodyPr wrap="square" lIns="508" tIns="508" rIns="508" bIns="508" rtlCol="0" anchor="ctr">
            <a:normAutofit fontScale="85000" lnSpcReduction="10000"/>
          </a:bodyPr>
          <a:lstStyle/>
          <a:p>
            <a:pPr marL="0" indent="0" algn="l">
              <a:buNone/>
            </a:pPr>
            <a:r>
              <a:rPr lang="en-US" sz="1900" i="1" dirty="0">
                <a:solidFill>
                  <a:srgbClr val="4F5B66"/>
                </a:solidFill>
                <a:latin typeface="Aptos" pitchFamily="34" charset="0"/>
                <a:ea typeface="Aptos" pitchFamily="34" charset="-122"/>
                <a:cs typeface="Aptos" pitchFamily="34" charset="-120"/>
              </a:rPr>
              <a:t>Questions and feedback will shape the next offering.</a:t>
            </a:r>
            <a:endParaRPr lang="en-US" sz="1900" dirty="0"/>
          </a:p>
        </p:txBody>
      </p:sp>
      <p:pic>
        <p:nvPicPr>
          <p:cNvPr id="13" name="Image 0" descr="/mnt/data/a_realistic_high_quality_digital_photo_cgi_style.png">
            <a:extLst>
              <a:ext uri="{FF2B5EF4-FFF2-40B4-BE49-F238E27FC236}">
                <a16:creationId xmlns:a16="http://schemas.microsoft.com/office/drawing/2014/main" id="{A4D21C87-9710-6800-E890-AC99A7D54B53}"/>
              </a:ext>
            </a:extLst>
          </p:cNvPr>
          <p:cNvPicPr>
            <a:picLocks noChangeAspect="1"/>
          </p:cNvPicPr>
          <p:nvPr/>
        </p:nvPicPr>
        <p:blipFill>
          <a:blip r:embed="rId3"/>
          <a:srcRect r="32016"/>
          <a:stretch>
            <a:fillRect/>
          </a:stretch>
        </p:blipFill>
        <p:spPr>
          <a:xfrm>
            <a:off x="6720101" y="653796"/>
            <a:ext cx="3450102" cy="3298874"/>
          </a:xfrm>
          <a:prstGeom prst="rect">
            <a:avLst/>
          </a:prstGeom>
        </p:spPr>
      </p:pic>
      <p:sp>
        <p:nvSpPr>
          <p:cNvPr id="14" name="TextBox 13">
            <a:extLst>
              <a:ext uri="{FF2B5EF4-FFF2-40B4-BE49-F238E27FC236}">
                <a16:creationId xmlns:a16="http://schemas.microsoft.com/office/drawing/2014/main" id="{2BA23352-A654-41AF-43A5-BDC0AC3CA353}"/>
              </a:ext>
            </a:extLst>
          </p:cNvPr>
          <p:cNvSpPr txBox="1"/>
          <p:nvPr/>
        </p:nvSpPr>
        <p:spPr>
          <a:xfrm>
            <a:off x="8525466" y="5916168"/>
            <a:ext cx="3476529" cy="523220"/>
          </a:xfrm>
          <a:prstGeom prst="rect">
            <a:avLst/>
          </a:prstGeom>
          <a:noFill/>
        </p:spPr>
        <p:txBody>
          <a:bodyPr wrap="none" rtlCol="0">
            <a:spAutoFit/>
          </a:bodyPr>
          <a:lstStyle/>
          <a:p>
            <a:r>
              <a:rPr lang="en-US" sz="2800" dirty="0" err="1"/>
              <a:t>django.dr-chuck.com</a:t>
            </a:r>
            <a:endParaRPr lang="en-US" sz="2800" dirty="0"/>
          </a:p>
        </p:txBody>
      </p:sp>
      <p:pic>
        <p:nvPicPr>
          <p:cNvPr id="15" name="Picture 14" descr="A qr code on a white background&#10;&#10;AI-generated content may be incorrect.">
            <a:extLst>
              <a:ext uri="{FF2B5EF4-FFF2-40B4-BE49-F238E27FC236}">
                <a16:creationId xmlns:a16="http://schemas.microsoft.com/office/drawing/2014/main" id="{D9E3E794-AB27-46BC-6809-13AEEE5BF7AB}"/>
              </a:ext>
            </a:extLst>
          </p:cNvPr>
          <p:cNvPicPr>
            <a:picLocks noChangeAspect="1"/>
          </p:cNvPicPr>
          <p:nvPr/>
        </p:nvPicPr>
        <p:blipFill>
          <a:blip r:embed="rId4"/>
          <a:stretch>
            <a:fillRect/>
          </a:stretch>
        </p:blipFill>
        <p:spPr>
          <a:xfrm>
            <a:off x="9033593" y="2947766"/>
            <a:ext cx="2968402" cy="2968402"/>
          </a:xfrm>
          <a:prstGeom prst="rect">
            <a:avLst/>
          </a:prstGeom>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0">
    <p:bg>
      <p:bgPr>
        <a:solidFill>
          <a:srgbClr val="0F2233"/>
        </a:solidFill>
        <a:effectLst/>
      </p:bgPr>
    </p:bg>
    <p:spTree>
      <p:nvGrpSpPr>
        <p:cNvPr id="1" name=""/>
        <p:cNvGrpSpPr/>
        <p:nvPr/>
      </p:nvGrpSpPr>
      <p:grpSpPr>
        <a:xfrm>
          <a:off x="0" y="0"/>
          <a:ext cx="0" cy="0"/>
          <a:chOff x="0" y="0"/>
          <a:chExt cx="0" cy="0"/>
        </a:xfrm>
      </p:grpSpPr>
      <p:sp>
        <p:nvSpPr>
          <p:cNvPr id="2" name="Shape 0"/>
          <p:cNvSpPr/>
          <p:nvPr/>
        </p:nvSpPr>
        <p:spPr>
          <a:xfrm>
            <a:off x="0" y="0"/>
            <a:ext cx="5074920" cy="6858000"/>
          </a:xfrm>
          <a:prstGeom prst="rect">
            <a:avLst/>
          </a:prstGeom>
          <a:solidFill>
            <a:srgbClr val="0F2233"/>
          </a:solidFill>
          <a:ln w="12700">
            <a:solidFill>
              <a:srgbClr val="0F2233">
                <a:alpha val="0"/>
              </a:srgbClr>
            </a:solidFill>
            <a:prstDash val="solid"/>
          </a:ln>
        </p:spPr>
        <p:txBody>
          <a:bodyPr/>
          <a:lstStyle/>
          <a:p>
            <a:endParaRPr dirty="0"/>
          </a:p>
        </p:txBody>
      </p:sp>
      <p:sp>
        <p:nvSpPr>
          <p:cNvPr id="4" name="Text 1"/>
          <p:cNvSpPr/>
          <p:nvPr/>
        </p:nvSpPr>
        <p:spPr>
          <a:xfrm>
            <a:off x="685800" y="685800"/>
            <a:ext cx="4023360" cy="502920"/>
          </a:xfrm>
          <a:prstGeom prst="rect">
            <a:avLst/>
          </a:prstGeom>
          <a:noFill/>
          <a:ln/>
        </p:spPr>
        <p:txBody>
          <a:bodyPr wrap="square" lIns="0" tIns="0" rIns="0" bIns="0" rtlCol="0" anchor="ctr"/>
          <a:lstStyle/>
          <a:p>
            <a:pPr marL="0" indent="0">
              <a:buNone/>
            </a:pPr>
            <a:r>
              <a:rPr lang="en-US" sz="3400" b="1" dirty="0">
                <a:solidFill>
                  <a:srgbClr val="FFFFFF"/>
                </a:solidFill>
              </a:rPr>
              <a:t>One course.</a:t>
            </a:r>
            <a:endParaRPr lang="en-US" sz="3400" dirty="0"/>
          </a:p>
        </p:txBody>
      </p:sp>
      <p:sp>
        <p:nvSpPr>
          <p:cNvPr id="5" name="Text 2"/>
          <p:cNvSpPr/>
          <p:nvPr/>
        </p:nvSpPr>
        <p:spPr>
          <a:xfrm>
            <a:off x="685800" y="1389888"/>
            <a:ext cx="4023360" cy="868680"/>
          </a:xfrm>
          <a:prstGeom prst="rect">
            <a:avLst/>
          </a:prstGeom>
          <a:noFill/>
          <a:ln/>
        </p:spPr>
        <p:txBody>
          <a:bodyPr wrap="square" lIns="0" tIns="0" rIns="0" bIns="0" rtlCol="0" anchor="ctr">
            <a:normAutofit fontScale="92500" lnSpcReduction="10000"/>
          </a:bodyPr>
          <a:lstStyle/>
          <a:p>
            <a:pPr marL="0" indent="0">
              <a:buNone/>
            </a:pPr>
            <a:r>
              <a:rPr lang="en-US" sz="3300" b="1" dirty="0">
                <a:solidFill>
                  <a:srgbClr val="FFFFFF"/>
                </a:solidFill>
              </a:rPr>
              <a:t>Campus and open sections.</a:t>
            </a:r>
            <a:endParaRPr lang="en-US" sz="3300" dirty="0"/>
          </a:p>
        </p:txBody>
      </p:sp>
      <p:sp>
        <p:nvSpPr>
          <p:cNvPr id="6" name="Text 3"/>
          <p:cNvSpPr/>
          <p:nvPr/>
        </p:nvSpPr>
        <p:spPr>
          <a:xfrm>
            <a:off x="713232" y="2578608"/>
            <a:ext cx="3977640" cy="1280160"/>
          </a:xfrm>
          <a:prstGeom prst="rect">
            <a:avLst/>
          </a:prstGeom>
          <a:noFill/>
          <a:ln/>
        </p:spPr>
        <p:txBody>
          <a:bodyPr wrap="square" lIns="0" tIns="0" rIns="0" bIns="0" rtlCol="0" anchor="ctr">
            <a:normAutofit lnSpcReduction="10000"/>
          </a:bodyPr>
          <a:lstStyle/>
          <a:p>
            <a:pPr marL="0" indent="0">
              <a:buNone/>
            </a:pPr>
            <a:r>
              <a:rPr lang="en-US" sz="2200" dirty="0">
                <a:solidFill>
                  <a:srgbClr val="E9F6F6"/>
                </a:solidFill>
              </a:rPr>
              <a:t>A shared schedule, a shared instructional community, and a better chance to feel connected to the process of learning.</a:t>
            </a:r>
            <a:endParaRPr lang="en-US" sz="2200" dirty="0"/>
          </a:p>
        </p:txBody>
      </p:sp>
      <p:sp>
        <p:nvSpPr>
          <p:cNvPr id="7" name="Text 4"/>
          <p:cNvSpPr/>
          <p:nvPr/>
        </p:nvSpPr>
        <p:spPr>
          <a:xfrm>
            <a:off x="713232" y="4433104"/>
            <a:ext cx="4114800" cy="961856"/>
          </a:xfrm>
          <a:prstGeom prst="rect">
            <a:avLst/>
          </a:prstGeom>
          <a:noFill/>
          <a:ln/>
        </p:spPr>
        <p:txBody>
          <a:bodyPr wrap="square" lIns="0" tIns="0" rIns="0" bIns="0" rtlCol="0" anchor="ctr"/>
          <a:lstStyle/>
          <a:p>
            <a:pPr marL="0" indent="0">
              <a:buNone/>
            </a:pPr>
            <a:r>
              <a:rPr lang="en-US" sz="3000" b="1" dirty="0">
                <a:solidFill>
                  <a:srgbClr val="F8C463"/>
                </a:solidFill>
              </a:rPr>
              <a:t>Please join me in the the world's first CLOC</a:t>
            </a:r>
            <a:endParaRPr lang="en-US" sz="3000" dirty="0"/>
          </a:p>
        </p:txBody>
      </p:sp>
      <p:pic>
        <p:nvPicPr>
          <p:cNvPr id="10" name="Picture 9" descr="A computer on a desk&#10;&#10;AI-generated content may be incorrect.">
            <a:extLst>
              <a:ext uri="{FF2B5EF4-FFF2-40B4-BE49-F238E27FC236}">
                <a16:creationId xmlns:a16="http://schemas.microsoft.com/office/drawing/2014/main" id="{1D005A04-63CA-8D32-4E96-F117BBA88862}"/>
              </a:ext>
            </a:extLst>
          </p:cNvPr>
          <p:cNvPicPr>
            <a:picLocks noChangeAspect="1"/>
          </p:cNvPicPr>
          <p:nvPr/>
        </p:nvPicPr>
        <p:blipFill>
          <a:blip r:embed="rId3"/>
          <a:srcRect r="50484" b="10404"/>
          <a:stretch>
            <a:fillRect/>
          </a:stretch>
        </p:blipFill>
        <p:spPr>
          <a:xfrm>
            <a:off x="4908172" y="1279083"/>
            <a:ext cx="3476529" cy="3540374"/>
          </a:xfrm>
          <a:prstGeom prst="rect">
            <a:avLst/>
          </a:prstGeom>
        </p:spPr>
      </p:pic>
      <p:sp>
        <p:nvSpPr>
          <p:cNvPr id="3" name="TextBox 2">
            <a:extLst>
              <a:ext uri="{FF2B5EF4-FFF2-40B4-BE49-F238E27FC236}">
                <a16:creationId xmlns:a16="http://schemas.microsoft.com/office/drawing/2014/main" id="{E16B0A92-0B71-95F2-0A25-812D871C5B92}"/>
              </a:ext>
            </a:extLst>
          </p:cNvPr>
          <p:cNvSpPr txBox="1"/>
          <p:nvPr/>
        </p:nvSpPr>
        <p:spPr>
          <a:xfrm>
            <a:off x="7117082" y="5053898"/>
            <a:ext cx="3476529" cy="523220"/>
          </a:xfrm>
          <a:prstGeom prst="rect">
            <a:avLst/>
          </a:prstGeom>
          <a:noFill/>
        </p:spPr>
        <p:txBody>
          <a:bodyPr wrap="none" rtlCol="0">
            <a:spAutoFit/>
          </a:bodyPr>
          <a:lstStyle/>
          <a:p>
            <a:r>
              <a:rPr lang="en-US" sz="2800" dirty="0" err="1">
                <a:solidFill>
                  <a:schemeClr val="bg1"/>
                </a:solidFill>
              </a:rPr>
              <a:t>django.dr-chuck.com</a:t>
            </a:r>
            <a:endParaRPr lang="en-US" sz="2800" dirty="0">
              <a:solidFill>
                <a:schemeClr val="bg1"/>
              </a:solidFill>
            </a:endParaRPr>
          </a:p>
        </p:txBody>
      </p:sp>
      <p:pic>
        <p:nvPicPr>
          <p:cNvPr id="11" name="Picture 10" descr="A qr code on a white background&#10;&#10;AI-generated content may be incorrect.">
            <a:extLst>
              <a:ext uri="{FF2B5EF4-FFF2-40B4-BE49-F238E27FC236}">
                <a16:creationId xmlns:a16="http://schemas.microsoft.com/office/drawing/2014/main" id="{F0773A27-8F14-108D-8AF8-54D4FBBC8C9F}"/>
              </a:ext>
            </a:extLst>
          </p:cNvPr>
          <p:cNvPicPr>
            <a:picLocks noChangeAspect="1"/>
          </p:cNvPicPr>
          <p:nvPr/>
        </p:nvPicPr>
        <p:blipFill>
          <a:blip r:embed="rId4"/>
          <a:stretch>
            <a:fillRect/>
          </a:stretch>
        </p:blipFill>
        <p:spPr>
          <a:xfrm>
            <a:off x="8750461" y="1389888"/>
            <a:ext cx="3318764" cy="3318764"/>
          </a:xfrm>
          <a:prstGeom prst="rect">
            <a:avLst/>
          </a:prstGeom>
        </p:spPr>
      </p:pic>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ptos Display"/>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342</TotalTime>
  <Words>1022</Words>
  <Application>Microsoft Macintosh PowerPoint</Application>
  <PresentationFormat>Widescreen</PresentationFormat>
  <Paragraphs>165</Paragraphs>
  <Slides>13</Slides>
  <Notes>10</Notes>
  <HiddenSlides>1</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13</vt:i4>
      </vt:variant>
    </vt:vector>
  </HeadingPairs>
  <TitlesOfParts>
    <vt:vector size="17" baseType="lpstr">
      <vt:lpstr>Aptos</vt:lpstr>
      <vt:lpstr>Aptos Display</vt:lpstr>
      <vt:lpstr>Arial</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Building Web Applications in Django</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Building Web Applications in Django: A Campus Aligned Open Course</dc:title>
  <dc:subject>CAOC Introduction</dc:subject>
  <dc:creator>Dr. Chuck</dc:creator>
  <cp:lastModifiedBy>Severance, Charles</cp:lastModifiedBy>
  <cp:revision>27</cp:revision>
  <dcterms:created xsi:type="dcterms:W3CDTF">2026-07-22T14:19:06Z</dcterms:created>
  <dcterms:modified xsi:type="dcterms:W3CDTF">2026-07-28T17:25:50Z</dcterms:modified>
</cp:coreProperties>
</file>