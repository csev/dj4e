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8" r:id="rId3"/>
    <p:sldId id="266" r:id="rId4"/>
    <p:sldId id="262" r:id="rId5"/>
    <p:sldId id="268" r:id="rId6"/>
    <p:sldId id="257" r:id="rId7"/>
    <p:sldId id="259" r:id="rId8"/>
    <p:sldId id="270" r:id="rId9"/>
    <p:sldId id="271" r:id="rId10"/>
    <p:sldId id="261" r:id="rId11"/>
    <p:sldId id="263" r:id="rId12"/>
    <p:sldId id="264" r:id="rId13"/>
    <p:sldId id="269" r:id="rId14"/>
    <p:sldId id="265"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376"/>
    <p:restoredTop sz="94610"/>
  </p:normalViewPr>
  <p:slideViewPr>
    <p:cSldViewPr snapToGrid="0" snapToObjects="1">
      <p:cViewPr varScale="1">
        <p:scale>
          <a:sx n="138" d="100"/>
          <a:sy n="138" d="100"/>
        </p:scale>
        <p:origin x="24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499981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Dr. Chuck, and I want to tell you about a new way that I’m offering Building Web Applications in Django, beginning August 1. I’m calling it a CAOC: a Campus Aligned Open Course.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years, I’ve taught Django in two very different ways: on campus, where students move through the course together, and online, where people can start whenever they like. This offering brings the strongest parts of those two models together.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the online course will run alongside SI 357 and SI 664, the two University of Michigan courses in which I teach this material. The online students are not enrolled as University of Michigan students, and this is not a University of Michigan credentialed course. But they will follow the same overall schedule as the campus students.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Online learners will have access to scheduled office hours and selected sessions involving the campus teaching team and teaching assistants. The goal is not to pretend that the online and campus experiences are identical. They are not. The goal is alignment.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offering begins August 1. The cost will be 300 dollars. That fee is intended primarily to cover the cost of the teaching assistants who will support online students through office hours, instructional sessions, and help with the course material.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experiment, and we will learn from it as we go. Online students will be encouraged to share feedback during office hours, in live sessions, and by email. When several people struggle with the same assignment or explanation, that is useful information. We may add examples, clarify instructions, adjust sessions, or create additional material.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there is an important space between a completely self-paced online course and formal university enrollment. A Campus Aligned Open Course is meant to occupy that space. One course. Campus and online learners. A shared schedule, a shared instructional community, and a better chance for online learners to feel connected. Welcome to Building Web Applications in Django. Welcome to the experiment. And welcome to the CAOC.</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CLOC_MASTER">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027636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233"/>
        </a:solidFill>
        <a:effectLst/>
      </p:bgPr>
    </p:bg>
    <p:spTree>
      <p:nvGrpSpPr>
        <p:cNvPr id="1" name=""/>
        <p:cNvGrpSpPr/>
        <p:nvPr/>
      </p:nvGrpSpPr>
      <p:grpSpPr>
        <a:xfrm>
          <a:off x="0" y="0"/>
          <a:ext cx="0" cy="0"/>
          <a:chOff x="0" y="0"/>
          <a:chExt cx="0" cy="0"/>
        </a:xfrm>
      </p:grpSpPr>
      <p:pic>
        <p:nvPicPr>
          <p:cNvPr id="10" name="Picture 9" descr="A computer on a desk&#10;&#10;AI-generated content may be incorrect.">
            <a:extLst>
              <a:ext uri="{FF2B5EF4-FFF2-40B4-BE49-F238E27FC236}">
                <a16:creationId xmlns:a16="http://schemas.microsoft.com/office/drawing/2014/main" id="{60B78EF5-E498-C026-5750-506DDC3D89C1}"/>
              </a:ext>
            </a:extLst>
          </p:cNvPr>
          <p:cNvPicPr>
            <a:picLocks noChangeAspect="1"/>
          </p:cNvPicPr>
          <p:nvPr/>
        </p:nvPicPr>
        <p:blipFill>
          <a:blip r:embed="rId3"/>
          <a:srcRect l="48750"/>
          <a:stretch>
            <a:fillRect/>
          </a:stretch>
        </p:blipFill>
        <p:spPr>
          <a:xfrm>
            <a:off x="5943600" y="-1"/>
            <a:ext cx="6248400" cy="6861645"/>
          </a:xfrm>
          <a:prstGeom prst="rect">
            <a:avLst/>
          </a:prstGeom>
        </p:spPr>
      </p:pic>
      <p:sp>
        <p:nvSpPr>
          <p:cNvPr id="3" name="Shape 0"/>
          <p:cNvSpPr/>
          <p:nvPr/>
        </p:nvSpPr>
        <p:spPr>
          <a:xfrm>
            <a:off x="0" y="0"/>
            <a:ext cx="5943600" cy="6858000"/>
          </a:xfrm>
          <a:prstGeom prst="rect">
            <a:avLst/>
          </a:prstGeom>
          <a:solidFill>
            <a:srgbClr val="0F2233">
              <a:alpha val="93000"/>
            </a:srgbClr>
          </a:solidFill>
          <a:ln w="12700">
            <a:solidFill>
              <a:srgbClr val="0F2233">
                <a:alpha val="0"/>
              </a:srgbClr>
            </a:solidFill>
            <a:prstDash val="solid"/>
          </a:ln>
        </p:spPr>
        <p:txBody>
          <a:bodyPr/>
          <a:lstStyle/>
          <a:p>
            <a:endParaRPr/>
          </a:p>
        </p:txBody>
      </p:sp>
      <p:sp>
        <p:nvSpPr>
          <p:cNvPr id="4" name="Text 1"/>
          <p:cNvSpPr/>
          <p:nvPr/>
        </p:nvSpPr>
        <p:spPr>
          <a:xfrm>
            <a:off x="594360" y="566928"/>
            <a:ext cx="4846320" cy="114300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Aptos Display" pitchFamily="34" charset="0"/>
                <a:ea typeface="Aptos Display" pitchFamily="34" charset="-122"/>
                <a:cs typeface="Aptos Display" pitchFamily="34" charset="-120"/>
              </a:rPr>
              <a:t>Building Web Applications</a:t>
            </a:r>
            <a:endParaRPr lang="en-US" sz="3200" dirty="0"/>
          </a:p>
          <a:p>
            <a:pPr marL="0" indent="0">
              <a:buNone/>
            </a:pPr>
            <a:r>
              <a:rPr lang="en-US" sz="3200" b="1" dirty="0">
                <a:solidFill>
                  <a:srgbClr val="FFFFFF"/>
                </a:solidFill>
                <a:latin typeface="Aptos Display" pitchFamily="34" charset="0"/>
                <a:ea typeface="Aptos Display" pitchFamily="34" charset="-122"/>
                <a:cs typeface="Aptos Display" pitchFamily="34" charset="-120"/>
              </a:rPr>
              <a:t>in Django</a:t>
            </a:r>
            <a:endParaRPr lang="en-US" sz="3200" dirty="0"/>
          </a:p>
        </p:txBody>
      </p:sp>
      <p:sp>
        <p:nvSpPr>
          <p:cNvPr id="5" name="Text 2"/>
          <p:cNvSpPr/>
          <p:nvPr/>
        </p:nvSpPr>
        <p:spPr>
          <a:xfrm>
            <a:off x="612648" y="1828800"/>
            <a:ext cx="4754880" cy="320040"/>
          </a:xfrm>
          <a:prstGeom prst="rect">
            <a:avLst/>
          </a:prstGeom>
          <a:noFill/>
          <a:ln/>
        </p:spPr>
        <p:txBody>
          <a:bodyPr wrap="square" lIns="0" tIns="0" rIns="0" bIns="0" rtlCol="0" anchor="ctr"/>
          <a:lstStyle/>
          <a:p>
            <a:pPr marL="0" indent="0">
              <a:buNone/>
            </a:pPr>
            <a:r>
              <a:rPr lang="en-US" sz="1900" dirty="0">
                <a:solidFill>
                  <a:srgbClr val="E9F6F6"/>
                </a:solidFill>
              </a:rPr>
              <a:t>A Campus-Linked Open Course</a:t>
            </a:r>
            <a:endParaRPr lang="en-US" sz="1900" dirty="0"/>
          </a:p>
        </p:txBody>
      </p:sp>
      <p:sp>
        <p:nvSpPr>
          <p:cNvPr id="6" name="Text 3"/>
          <p:cNvSpPr/>
          <p:nvPr/>
        </p:nvSpPr>
        <p:spPr>
          <a:xfrm>
            <a:off x="603504" y="2359152"/>
            <a:ext cx="4297680" cy="731520"/>
          </a:xfrm>
          <a:prstGeom prst="rect">
            <a:avLst/>
          </a:prstGeom>
          <a:noFill/>
          <a:ln/>
        </p:spPr>
        <p:txBody>
          <a:bodyPr wrap="square" lIns="0" tIns="0" rIns="0" bIns="0" rtlCol="0" anchor="ctr"/>
          <a:lstStyle/>
          <a:p>
            <a:pPr marL="0" indent="0">
              <a:buNone/>
            </a:pPr>
            <a:r>
              <a:rPr lang="en-US" sz="5600" b="1" dirty="0">
                <a:solidFill>
                  <a:srgbClr val="F8C463"/>
                </a:solidFill>
                <a:latin typeface="Aptos Display" pitchFamily="34" charset="0"/>
                <a:ea typeface="Aptos Display" pitchFamily="34" charset="-122"/>
                <a:cs typeface="Aptos Display" pitchFamily="34" charset="-120"/>
              </a:rPr>
              <a:t>CLOC</a:t>
            </a:r>
            <a:endParaRPr lang="en-US" sz="5600" dirty="0"/>
          </a:p>
        </p:txBody>
      </p:sp>
      <p:sp>
        <p:nvSpPr>
          <p:cNvPr id="7" name="Text 4"/>
          <p:cNvSpPr/>
          <p:nvPr/>
        </p:nvSpPr>
        <p:spPr>
          <a:xfrm>
            <a:off x="658368" y="3273552"/>
            <a:ext cx="4297680" cy="320040"/>
          </a:xfrm>
          <a:prstGeom prst="rect">
            <a:avLst/>
          </a:prstGeom>
          <a:noFill/>
          <a:ln/>
        </p:spPr>
        <p:txBody>
          <a:bodyPr wrap="square" lIns="0" tIns="0" rIns="0" bIns="0" rtlCol="0" anchor="ctr"/>
          <a:lstStyle/>
          <a:p>
            <a:pPr marL="0" indent="0">
              <a:buNone/>
            </a:pPr>
            <a:r>
              <a:rPr lang="en-US" sz="1800" dirty="0">
                <a:solidFill>
                  <a:srgbClr val="FFFFFF"/>
                </a:solidFill>
              </a:rPr>
              <a:t>First offering begins August 1</a:t>
            </a:r>
            <a:endParaRPr lang="en-US" sz="1800" dirty="0"/>
          </a:p>
        </p:txBody>
      </p:sp>
      <p:sp>
        <p:nvSpPr>
          <p:cNvPr id="8" name="Shape 5"/>
          <p:cNvSpPr/>
          <p:nvPr/>
        </p:nvSpPr>
        <p:spPr>
          <a:xfrm>
            <a:off x="658368" y="3840480"/>
            <a:ext cx="2880360" cy="384048"/>
          </a:xfrm>
          <a:prstGeom prst="roundRect">
            <a:avLst>
              <a:gd name="adj" fmla="val 19048"/>
            </a:avLst>
          </a:prstGeom>
          <a:solidFill>
            <a:srgbClr val="138A96"/>
          </a:solidFill>
          <a:ln w="12700">
            <a:solidFill>
              <a:srgbClr val="138A96">
                <a:alpha val="0"/>
              </a:srgbClr>
            </a:solidFill>
            <a:prstDash val="solid"/>
          </a:ln>
        </p:spPr>
        <p:txBody>
          <a:bodyPr/>
          <a:lstStyle/>
          <a:p>
            <a:endParaRPr/>
          </a:p>
        </p:txBody>
      </p:sp>
      <p:sp>
        <p:nvSpPr>
          <p:cNvPr id="9" name="Text 6"/>
          <p:cNvSpPr/>
          <p:nvPr/>
        </p:nvSpPr>
        <p:spPr>
          <a:xfrm>
            <a:off x="768096" y="3922776"/>
            <a:ext cx="2660904" cy="182880"/>
          </a:xfrm>
          <a:prstGeom prst="rect">
            <a:avLst/>
          </a:prstGeom>
          <a:noFill/>
          <a:ln/>
        </p:spPr>
        <p:txBody>
          <a:bodyPr wrap="square" lIns="0" tIns="0" rIns="0" bIns="0" rtlCol="0" anchor="ctr"/>
          <a:lstStyle/>
          <a:p>
            <a:pPr marL="0" indent="0" algn="ctr">
              <a:buNone/>
            </a:pPr>
            <a:r>
              <a:rPr lang="en-US" sz="1150" b="1" dirty="0">
                <a:solidFill>
                  <a:srgbClr val="FFFFFF"/>
                </a:solidFill>
              </a:rPr>
              <a:t>$300 • supports teaching assistants</a:t>
            </a:r>
            <a:endParaRPr lang="en-US" sz="1150" dirty="0"/>
          </a:p>
        </p:txBody>
      </p:sp>
      <p:sp>
        <p:nvSpPr>
          <p:cNvPr id="2" name="Text 6">
            <a:extLst>
              <a:ext uri="{FF2B5EF4-FFF2-40B4-BE49-F238E27FC236}">
                <a16:creationId xmlns:a16="http://schemas.microsoft.com/office/drawing/2014/main" id="{20BAB88A-5B40-25CF-4959-C20D7F46BC69}"/>
              </a:ext>
            </a:extLst>
          </p:cNvPr>
          <p:cNvSpPr/>
          <p:nvPr/>
        </p:nvSpPr>
        <p:spPr>
          <a:xfrm>
            <a:off x="617220" y="4890190"/>
            <a:ext cx="4800600" cy="502920"/>
          </a:xfrm>
          <a:prstGeom prst="roundRect">
            <a:avLst/>
          </a:prstGeom>
          <a:solidFill>
            <a:srgbClr val="FFCB05"/>
          </a:solidFill>
          <a:ln>
            <a:solidFill>
              <a:srgbClr val="FFCB05">
                <a:alpha val="0"/>
              </a:srgbClr>
            </a:solidFill>
          </a:ln>
        </p:spPr>
        <p:txBody>
          <a:bodyPr wrap="square" lIns="508" tIns="508" rIns="508" bIns="508" rtlCol="0" anchor="ctr">
            <a:normAutofit/>
          </a:bodyPr>
          <a:lstStyle/>
          <a:p>
            <a:pPr marL="0" indent="0" algn="ctr">
              <a:buNone/>
            </a:pPr>
            <a:r>
              <a:rPr lang="en-US" sz="1400" b="1" dirty="0">
                <a:solidFill>
                  <a:srgbClr val="00274C"/>
                </a:solidFill>
                <a:latin typeface="Aptos" pitchFamily="34" charset="0"/>
                <a:ea typeface="Aptos" pitchFamily="34" charset="-122"/>
                <a:cs typeface="Aptos" pitchFamily="34" charset="-120"/>
              </a:rPr>
              <a:t>This is an experiment for August 2026 to explore feasibility.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F7FB"/>
          </a:solidFill>
          <a:ln w="12700">
            <a:solidFill>
              <a:srgbClr val="F4F7FB">
                <a:alpha val="0"/>
              </a:srgbClr>
            </a:solidFill>
            <a:prstDash val="solid"/>
          </a:ln>
        </p:spPr>
        <p:txBody>
          <a:bodyPr/>
          <a:lstStyle/>
          <a:p>
            <a:endParaRPr lang="en-US"/>
          </a:p>
        </p:txBody>
      </p:sp>
      <p:sp>
        <p:nvSpPr>
          <p:cNvPr id="3" name="Shape 1"/>
          <p:cNvSpPr/>
          <p:nvPr/>
        </p:nvSpPr>
        <p:spPr>
          <a:xfrm>
            <a:off x="0" y="0"/>
            <a:ext cx="155448" cy="6858000"/>
          </a:xfrm>
          <a:prstGeom prst="rect">
            <a:avLst/>
          </a:prstGeom>
          <a:solidFill>
            <a:srgbClr val="FFCB05"/>
          </a:solidFill>
          <a:ln w="12700">
            <a:solidFill>
              <a:srgbClr val="FFCB05">
                <a:alpha val="0"/>
              </a:srgbClr>
            </a:solidFill>
            <a:prstDash val="solid"/>
          </a:ln>
        </p:spPr>
        <p:txBody>
          <a:bodyPr/>
          <a:lstStyle/>
          <a:p>
            <a:endParaRPr lang="en-US"/>
          </a:p>
        </p:txBody>
      </p:sp>
      <p:sp>
        <p:nvSpPr>
          <p:cNvPr id="4" name="Text 2"/>
          <p:cNvSpPr/>
          <p:nvPr/>
        </p:nvSpPr>
        <p:spPr>
          <a:xfrm>
            <a:off x="594360" y="402336"/>
            <a:ext cx="5257800" cy="502920"/>
          </a:xfrm>
          <a:prstGeom prst="rect">
            <a:avLst/>
          </a:prstGeom>
          <a:noFill/>
          <a:ln/>
        </p:spPr>
        <p:txBody>
          <a:bodyPr wrap="square" lIns="508" tIns="508" rIns="508" bIns="508" rtlCol="0" anchor="ctr">
            <a:normAutofit/>
          </a:bodyPr>
          <a:lstStyle/>
          <a:p>
            <a:pPr marL="0" indent="0" algn="l">
              <a:buNone/>
            </a:pPr>
            <a:r>
              <a:rPr lang="en-US" sz="3100" b="1" dirty="0">
                <a:solidFill>
                  <a:srgbClr val="00274C"/>
                </a:solidFill>
                <a:latin typeface="Aptos" pitchFamily="34" charset="0"/>
                <a:ea typeface="Aptos" pitchFamily="34" charset="-122"/>
                <a:cs typeface="Aptos" pitchFamily="34" charset="-120"/>
              </a:rPr>
              <a:t>Why a CLOC?</a:t>
            </a:r>
            <a:endParaRPr lang="en-US" sz="3100" dirty="0"/>
          </a:p>
        </p:txBody>
      </p:sp>
      <p:sp>
        <p:nvSpPr>
          <p:cNvPr id="5" name="Text 3"/>
          <p:cNvSpPr/>
          <p:nvPr/>
        </p:nvSpPr>
        <p:spPr>
          <a:xfrm>
            <a:off x="621792" y="941832"/>
            <a:ext cx="5303520" cy="320040"/>
          </a:xfrm>
          <a:prstGeom prst="rect">
            <a:avLst/>
          </a:prstGeom>
          <a:noFill/>
          <a:ln/>
        </p:spPr>
        <p:txBody>
          <a:bodyPr wrap="square" lIns="508" tIns="508" rIns="508" bIns="508" rtlCol="0" anchor="ctr">
            <a:normAutofit fontScale="85000" lnSpcReduction="10000"/>
          </a:bodyPr>
          <a:lstStyle/>
          <a:p>
            <a:pPr marL="0" indent="0" algn="l">
              <a:buNone/>
            </a:pPr>
            <a:r>
              <a:rPr lang="en-US" sz="1500" dirty="0">
                <a:solidFill>
                  <a:srgbClr val="4F5B66"/>
                </a:solidFill>
                <a:latin typeface="Aptos" pitchFamily="34" charset="0"/>
                <a:ea typeface="Aptos" pitchFamily="34" charset="-122"/>
                <a:cs typeface="Aptos" pitchFamily="34" charset="-120"/>
              </a:rPr>
              <a:t>A structure for learners who want more than “watch videos and hope.”</a:t>
            </a:r>
            <a:endParaRPr lang="en-US" sz="1500" dirty="0"/>
          </a:p>
        </p:txBody>
      </p:sp>
      <p:pic>
        <p:nvPicPr>
          <p:cNvPr id="6" name="Image 0" descr="/mnt/data/a_realistic_high_quality_digital_photo_cgi_style.png"/>
          <p:cNvPicPr>
            <a:picLocks noChangeAspect="1"/>
          </p:cNvPicPr>
          <p:nvPr/>
        </p:nvPicPr>
        <p:blipFill>
          <a:blip r:embed="rId3"/>
          <a:srcRect r="32016"/>
          <a:stretch>
            <a:fillRect/>
          </a:stretch>
        </p:blipFill>
        <p:spPr>
          <a:xfrm>
            <a:off x="7992090" y="1577340"/>
            <a:ext cx="3450102" cy="3298874"/>
          </a:xfrm>
          <a:prstGeom prst="rect">
            <a:avLst/>
          </a:prstGeom>
        </p:spPr>
      </p:pic>
      <p:sp>
        <p:nvSpPr>
          <p:cNvPr id="7" name="Text 4"/>
          <p:cNvSpPr/>
          <p:nvPr/>
        </p:nvSpPr>
        <p:spPr>
          <a:xfrm>
            <a:off x="676656" y="1417320"/>
            <a:ext cx="5166360" cy="320040"/>
          </a:xfrm>
          <a:prstGeom prst="rect">
            <a:avLst/>
          </a:prstGeom>
          <a:noFill/>
          <a:ln/>
        </p:spPr>
        <p:txBody>
          <a:bodyPr wrap="square" lIns="508" tIns="508" rIns="508" bIns="508" rtlCol="0" anchor="ctr">
            <a:normAutofit fontScale="77500" lnSpcReduction="20000"/>
          </a:bodyPr>
          <a:lstStyle/>
          <a:p>
            <a:pPr marL="0" indent="0" algn="l">
              <a:buNone/>
            </a:pPr>
            <a:r>
              <a:rPr lang="en-US" sz="2300" b="1" dirty="0">
                <a:solidFill>
                  <a:srgbClr val="00274C"/>
                </a:solidFill>
                <a:latin typeface="Aptos" pitchFamily="34" charset="0"/>
                <a:ea typeface="Aptos" pitchFamily="34" charset="-122"/>
                <a:cs typeface="Aptos" pitchFamily="34" charset="-120"/>
              </a:rPr>
              <a:t>Online courses scale, but learners often need:</a:t>
            </a:r>
            <a:endParaRPr lang="en-US" sz="2300" dirty="0"/>
          </a:p>
        </p:txBody>
      </p:sp>
      <p:sp>
        <p:nvSpPr>
          <p:cNvPr id="8" name="Text 5"/>
          <p:cNvSpPr/>
          <p:nvPr/>
        </p:nvSpPr>
        <p:spPr>
          <a:xfrm>
            <a:off x="841247" y="1965960"/>
            <a:ext cx="6164463" cy="2240280"/>
          </a:xfrm>
          <a:prstGeom prst="rect">
            <a:avLst/>
          </a:prstGeom>
          <a:noFill/>
          <a:ln/>
        </p:spPr>
        <p:txBody>
          <a:bodyPr wrap="square" lIns="635" tIns="635" rIns="635" bIns="635" rtlCol="0" anchor="ctr">
            <a:normAutofit/>
          </a:bodyPr>
          <a:lstStyle/>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a calendar that creates momentum</a:t>
            </a:r>
            <a:endParaRPr lang="en-US" sz="2000" dirty="0"/>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office hours and responsive help</a:t>
            </a:r>
            <a:endParaRPr lang="en-US" sz="2000" dirty="0"/>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assignments that build toward a real application</a:t>
            </a:r>
            <a:endParaRPr lang="en-US" sz="2000" dirty="0"/>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human feedback when the course is confusing</a:t>
            </a:r>
            <a:endParaRPr lang="en-US" sz="2000" dirty="0"/>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a cohort moving through the material together</a:t>
            </a:r>
            <a:endParaRPr lang="en-US" sz="2000" dirty="0"/>
          </a:p>
        </p:txBody>
      </p:sp>
      <p:sp>
        <p:nvSpPr>
          <p:cNvPr id="9" name="Text 6"/>
          <p:cNvSpPr/>
          <p:nvPr/>
        </p:nvSpPr>
        <p:spPr>
          <a:xfrm>
            <a:off x="749808" y="4800600"/>
            <a:ext cx="5074920" cy="685800"/>
          </a:xfrm>
          <a:prstGeom prst="rect">
            <a:avLst/>
          </a:prstGeom>
          <a:noFill/>
          <a:ln/>
        </p:spPr>
        <p:txBody>
          <a:bodyPr wrap="square" lIns="508" tIns="508" rIns="508" bIns="508" rtlCol="0" anchor="ctr">
            <a:normAutofit fontScale="77500" lnSpcReduction="20000"/>
          </a:bodyPr>
          <a:lstStyle/>
          <a:p>
            <a:pPr marL="0" indent="0" algn="l">
              <a:buNone/>
            </a:pPr>
            <a:r>
              <a:rPr lang="en-US" sz="2500" b="1" dirty="0">
                <a:solidFill>
                  <a:srgbClr val="00274C"/>
                </a:solidFill>
                <a:latin typeface="Aptos" pitchFamily="34" charset="0"/>
                <a:ea typeface="Aptos" pitchFamily="34" charset="-122"/>
                <a:cs typeface="Aptos" pitchFamily="34" charset="-120"/>
              </a:rPr>
              <a:t>CLOC keeps the online flexibility while restoring campus-like rhythm and support.</a:t>
            </a:r>
            <a:endParaRPr lang="en-US" sz="2500" dirty="0"/>
          </a:p>
        </p:txBody>
      </p:sp>
      <p:sp>
        <p:nvSpPr>
          <p:cNvPr id="10" name="Text 7"/>
          <p:cNvSpPr/>
          <p:nvPr/>
        </p:nvSpPr>
        <p:spPr>
          <a:xfrm>
            <a:off x="594360" y="6473952"/>
            <a:ext cx="4572000" cy="201168"/>
          </a:xfrm>
          <a:prstGeom prst="rect">
            <a:avLst/>
          </a:prstGeom>
          <a:noFill/>
          <a:ln/>
        </p:spPr>
        <p:txBody>
          <a:bodyPr wrap="square" lIns="508" tIns="508" rIns="508" bIns="508" rtlCol="0" anchor="ctr">
            <a:normAutofit/>
          </a:bodyPr>
          <a:lstStyle/>
          <a:p>
            <a:pPr marL="0" indent="0" algn="l">
              <a:buNone/>
            </a:pPr>
            <a:r>
              <a:rPr lang="en-US" sz="850" dirty="0">
                <a:solidFill>
                  <a:srgbClr val="778899"/>
                </a:solidFill>
                <a:latin typeface="Aptos" pitchFamily="34" charset="0"/>
                <a:ea typeface="Aptos" pitchFamily="34" charset="-122"/>
                <a:cs typeface="Aptos" pitchFamily="34" charset="-120"/>
              </a:rPr>
              <a:t>CLOC: Campus-Linked Online Course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omputer on a desk&#10;&#10;AI-generated content may be incorrect.">
            <a:extLst>
              <a:ext uri="{FF2B5EF4-FFF2-40B4-BE49-F238E27FC236}">
                <a16:creationId xmlns:a16="http://schemas.microsoft.com/office/drawing/2014/main" id="{D704FCC6-AFA1-9E07-BD3E-578C1E4CBB8C}"/>
              </a:ext>
            </a:extLst>
          </p:cNvPr>
          <p:cNvPicPr>
            <a:picLocks noChangeAspect="1"/>
          </p:cNvPicPr>
          <p:nvPr/>
        </p:nvPicPr>
        <p:blipFill>
          <a:blip r:embed="rId2"/>
          <a:stretch>
            <a:fillRect/>
          </a:stretch>
        </p:blipFill>
        <p:spPr>
          <a:xfrm>
            <a:off x="0" y="-1"/>
            <a:ext cx="12192000" cy="6861645"/>
          </a:xfrm>
          <a:prstGeom prst="rect">
            <a:avLst/>
          </a:prstGeom>
        </p:spPr>
      </p:pic>
    </p:spTree>
    <p:extLst>
      <p:ext uri="{BB962C8B-B14F-4D97-AF65-F5344CB8AC3E}">
        <p14:creationId xmlns:p14="http://schemas.microsoft.com/office/powerpoint/2010/main" val="297291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F7FB"/>
          </a:solidFill>
          <a:ln w="12700">
            <a:solidFill>
              <a:srgbClr val="F4F7FB">
                <a:alpha val="0"/>
              </a:srgbClr>
            </a:solidFill>
            <a:prstDash val="solid"/>
          </a:ln>
        </p:spPr>
        <p:txBody>
          <a:bodyPr/>
          <a:lstStyle/>
          <a:p>
            <a:endParaRPr lang="en-US"/>
          </a:p>
        </p:txBody>
      </p:sp>
      <p:sp>
        <p:nvSpPr>
          <p:cNvPr id="3" name="Shape 1"/>
          <p:cNvSpPr/>
          <p:nvPr/>
        </p:nvSpPr>
        <p:spPr>
          <a:xfrm>
            <a:off x="0" y="0"/>
            <a:ext cx="155448" cy="6858000"/>
          </a:xfrm>
          <a:prstGeom prst="rect">
            <a:avLst/>
          </a:prstGeom>
          <a:solidFill>
            <a:srgbClr val="FFCB05"/>
          </a:solidFill>
          <a:ln w="12700">
            <a:solidFill>
              <a:srgbClr val="FFCB05">
                <a:alpha val="0"/>
              </a:srgbClr>
            </a:solidFill>
            <a:prstDash val="solid"/>
          </a:ln>
        </p:spPr>
        <p:txBody>
          <a:bodyPr/>
          <a:lstStyle/>
          <a:p>
            <a:endParaRPr lang="en-US"/>
          </a:p>
        </p:txBody>
      </p:sp>
      <p:sp>
        <p:nvSpPr>
          <p:cNvPr id="4" name="Text 2"/>
          <p:cNvSpPr/>
          <p:nvPr/>
        </p:nvSpPr>
        <p:spPr>
          <a:xfrm>
            <a:off x="594360" y="402336"/>
            <a:ext cx="5257800" cy="502920"/>
          </a:xfrm>
          <a:prstGeom prst="rect">
            <a:avLst/>
          </a:prstGeom>
          <a:noFill/>
          <a:ln/>
        </p:spPr>
        <p:txBody>
          <a:bodyPr wrap="square" lIns="508" tIns="508" rIns="508" bIns="508" rtlCol="0" anchor="ctr">
            <a:normAutofit/>
          </a:bodyPr>
          <a:lstStyle/>
          <a:p>
            <a:pPr marL="0" indent="0" algn="l">
              <a:buNone/>
            </a:pPr>
            <a:r>
              <a:rPr lang="en-US" sz="3100" b="1" dirty="0">
                <a:solidFill>
                  <a:srgbClr val="00274C"/>
                </a:solidFill>
                <a:latin typeface="Aptos" pitchFamily="34" charset="0"/>
                <a:ea typeface="Aptos" pitchFamily="34" charset="-122"/>
                <a:cs typeface="Aptos" pitchFamily="34" charset="-120"/>
              </a:rPr>
              <a:t>Similarities and differences</a:t>
            </a:r>
            <a:endParaRPr lang="en-US" sz="3100" dirty="0"/>
          </a:p>
        </p:txBody>
      </p:sp>
      <p:sp>
        <p:nvSpPr>
          <p:cNvPr id="5" name="Text 3"/>
          <p:cNvSpPr/>
          <p:nvPr/>
        </p:nvSpPr>
        <p:spPr>
          <a:xfrm>
            <a:off x="621792" y="941832"/>
            <a:ext cx="5303520" cy="320040"/>
          </a:xfrm>
          <a:prstGeom prst="rect">
            <a:avLst/>
          </a:prstGeom>
          <a:noFill/>
          <a:ln/>
        </p:spPr>
        <p:txBody>
          <a:bodyPr wrap="square" lIns="508" tIns="508" rIns="508" bIns="508" rtlCol="0" anchor="ctr">
            <a:normAutofit fontScale="92500"/>
          </a:bodyPr>
          <a:lstStyle/>
          <a:p>
            <a:pPr marL="0" indent="0" algn="l">
              <a:buNone/>
            </a:pPr>
            <a:r>
              <a:rPr lang="en-US" sz="1500" dirty="0">
                <a:solidFill>
                  <a:srgbClr val="4F5B66"/>
                </a:solidFill>
                <a:latin typeface="Aptos" pitchFamily="34" charset="0"/>
                <a:ea typeface="Aptos" pitchFamily="34" charset="-122"/>
                <a:cs typeface="Aptos" pitchFamily="34" charset="-120"/>
              </a:rPr>
              <a:t>CLOC borrows from known models, but solves a different problem.</a:t>
            </a:r>
            <a:endParaRPr lang="en-US" sz="1500" dirty="0"/>
          </a:p>
        </p:txBody>
      </p:sp>
      <p:sp>
        <p:nvSpPr>
          <p:cNvPr id="6" name="Shape 4"/>
          <p:cNvSpPr/>
          <p:nvPr/>
        </p:nvSpPr>
        <p:spPr>
          <a:xfrm>
            <a:off x="749808" y="1417320"/>
            <a:ext cx="3017520" cy="4434840"/>
          </a:xfrm>
          <a:prstGeom prst="roundRect">
            <a:avLst>
              <a:gd name="adj" fmla="val 1818"/>
            </a:avLst>
          </a:prstGeom>
          <a:solidFill>
            <a:srgbClr val="E8EEF6"/>
          </a:solidFill>
          <a:ln w="12700">
            <a:solidFill>
              <a:srgbClr val="C6D1DD"/>
            </a:solidFill>
            <a:prstDash val="solid"/>
          </a:ln>
        </p:spPr>
        <p:txBody>
          <a:bodyPr/>
          <a:lstStyle/>
          <a:p>
            <a:endParaRPr lang="en-US"/>
          </a:p>
        </p:txBody>
      </p:sp>
      <p:sp>
        <p:nvSpPr>
          <p:cNvPr id="7" name="Text 5"/>
          <p:cNvSpPr/>
          <p:nvPr/>
        </p:nvSpPr>
        <p:spPr>
          <a:xfrm>
            <a:off x="914400" y="1700784"/>
            <a:ext cx="2651760" cy="320040"/>
          </a:xfrm>
          <a:prstGeom prst="rect">
            <a:avLst/>
          </a:prstGeom>
          <a:noFill/>
          <a:ln/>
        </p:spPr>
        <p:txBody>
          <a:bodyPr wrap="square" lIns="508" tIns="508" rIns="508" bIns="508" rtlCol="0" anchor="ctr">
            <a:normAutofit fontScale="92500" lnSpcReduction="20000"/>
          </a:bodyPr>
          <a:lstStyle/>
          <a:p>
            <a:pPr marL="0" indent="0" algn="ctr">
              <a:buNone/>
            </a:pPr>
            <a:r>
              <a:rPr lang="en-US" sz="2600" b="1" dirty="0">
                <a:solidFill>
                  <a:srgbClr val="00274C"/>
                </a:solidFill>
                <a:latin typeface="Aptos" pitchFamily="34" charset="0"/>
                <a:ea typeface="Aptos" pitchFamily="34" charset="-122"/>
                <a:cs typeface="Aptos" pitchFamily="34" charset="-120"/>
              </a:rPr>
              <a:t>MOOC</a:t>
            </a:r>
            <a:endParaRPr lang="en-US" sz="2600" dirty="0"/>
          </a:p>
        </p:txBody>
      </p:sp>
      <p:sp>
        <p:nvSpPr>
          <p:cNvPr id="12" name="Text 10"/>
          <p:cNvSpPr/>
          <p:nvPr/>
        </p:nvSpPr>
        <p:spPr>
          <a:xfrm>
            <a:off x="1078992" y="2331720"/>
            <a:ext cx="2423160" cy="2194560"/>
          </a:xfrm>
          <a:prstGeom prst="rect">
            <a:avLst/>
          </a:prstGeom>
          <a:noFill/>
          <a:ln/>
        </p:spPr>
        <p:txBody>
          <a:bodyPr wrap="square" lIns="635" tIns="635" rIns="635" bIns="635" rtlCol="0" anchor="ctr">
            <a:normAutofit/>
          </a:bodyPr>
          <a:lstStyle/>
          <a:p>
            <a:r>
              <a:rPr lang="en-US" sz="1600" dirty="0">
                <a:solidFill>
                  <a:srgbClr val="06254A"/>
                </a:solidFill>
                <a:latin typeface="Aptos" pitchFamily="34" charset="0"/>
                <a:ea typeface="Aptos" pitchFamily="34" charset="-122"/>
                <a:cs typeface="Aptos" pitchFamily="34" charset="-120"/>
              </a:rPr>
              <a:t>open access</a:t>
            </a:r>
            <a:endParaRPr lang="en-US" sz="1600" dirty="0"/>
          </a:p>
          <a:p>
            <a:r>
              <a:rPr lang="en-US" sz="1600" dirty="0">
                <a:solidFill>
                  <a:srgbClr val="06254A"/>
                </a:solidFill>
                <a:latin typeface="Aptos" pitchFamily="34" charset="0"/>
                <a:ea typeface="Aptos" pitchFamily="34" charset="-122"/>
                <a:cs typeface="Aptos" pitchFamily="34" charset="-120"/>
              </a:rPr>
              <a:t>large scale</a:t>
            </a:r>
            <a:endParaRPr lang="en-US" sz="1600" dirty="0"/>
          </a:p>
          <a:p>
            <a:r>
              <a:rPr lang="en-US" sz="1600" dirty="0">
                <a:solidFill>
                  <a:srgbClr val="06254A"/>
                </a:solidFill>
                <a:latin typeface="Aptos" pitchFamily="34" charset="0"/>
                <a:ea typeface="Aptos" pitchFamily="34" charset="-122"/>
                <a:cs typeface="Aptos" pitchFamily="34" charset="-120"/>
              </a:rPr>
              <a:t>mostly self-directed</a:t>
            </a:r>
            <a:endParaRPr lang="en-US" sz="1600" dirty="0"/>
          </a:p>
          <a:p>
            <a:r>
              <a:rPr lang="en-US" sz="1600" dirty="0">
                <a:solidFill>
                  <a:srgbClr val="06254A"/>
                </a:solidFill>
                <a:latin typeface="Aptos" pitchFamily="34" charset="0"/>
                <a:ea typeface="Aptos" pitchFamily="34" charset="-122"/>
                <a:cs typeface="Aptos" pitchFamily="34" charset="-120"/>
              </a:rPr>
              <a:t>limited live support</a:t>
            </a:r>
            <a:endParaRPr lang="en-US" sz="1600" dirty="0"/>
          </a:p>
        </p:txBody>
      </p:sp>
      <p:grpSp>
        <p:nvGrpSpPr>
          <p:cNvPr id="21" name="Group 20">
            <a:extLst>
              <a:ext uri="{FF2B5EF4-FFF2-40B4-BE49-F238E27FC236}">
                <a16:creationId xmlns:a16="http://schemas.microsoft.com/office/drawing/2014/main" id="{1C031EF2-51AF-109D-8C28-EA481D4D6034}"/>
              </a:ext>
            </a:extLst>
          </p:cNvPr>
          <p:cNvGrpSpPr/>
          <p:nvPr/>
        </p:nvGrpSpPr>
        <p:grpSpPr>
          <a:xfrm>
            <a:off x="7991856" y="1438507"/>
            <a:ext cx="3017520" cy="4434840"/>
            <a:chOff x="4370832" y="1417320"/>
            <a:chExt cx="3017520" cy="4434840"/>
          </a:xfrm>
        </p:grpSpPr>
        <p:sp>
          <p:nvSpPr>
            <p:cNvPr id="8" name="Shape 6"/>
            <p:cNvSpPr/>
            <p:nvPr/>
          </p:nvSpPr>
          <p:spPr>
            <a:xfrm>
              <a:off x="4370832" y="1417320"/>
              <a:ext cx="3017520" cy="4434840"/>
            </a:xfrm>
            <a:prstGeom prst="roundRect">
              <a:avLst>
                <a:gd name="adj" fmla="val 1818"/>
              </a:avLst>
            </a:prstGeom>
            <a:solidFill>
              <a:srgbClr val="E8EEF6"/>
            </a:solidFill>
            <a:ln w="12700">
              <a:solidFill>
                <a:srgbClr val="C6D1DD"/>
              </a:solidFill>
              <a:prstDash val="solid"/>
            </a:ln>
          </p:spPr>
          <p:txBody>
            <a:bodyPr/>
            <a:lstStyle/>
            <a:p>
              <a:endParaRPr lang="en-US"/>
            </a:p>
          </p:txBody>
        </p:sp>
        <p:sp>
          <p:nvSpPr>
            <p:cNvPr id="9" name="Text 7"/>
            <p:cNvSpPr/>
            <p:nvPr/>
          </p:nvSpPr>
          <p:spPr>
            <a:xfrm>
              <a:off x="4535424" y="1700784"/>
              <a:ext cx="2651760" cy="320040"/>
            </a:xfrm>
            <a:prstGeom prst="rect">
              <a:avLst/>
            </a:prstGeom>
            <a:noFill/>
            <a:ln/>
          </p:spPr>
          <p:txBody>
            <a:bodyPr wrap="square" lIns="508" tIns="508" rIns="508" bIns="508" rtlCol="0" anchor="ctr">
              <a:normAutofit fontScale="92500" lnSpcReduction="20000"/>
            </a:bodyPr>
            <a:lstStyle/>
            <a:p>
              <a:pPr marL="0" indent="0" algn="ctr">
                <a:buNone/>
              </a:pPr>
              <a:r>
                <a:rPr lang="en-US" sz="2600" b="1" dirty="0">
                  <a:solidFill>
                    <a:srgbClr val="00274C"/>
                  </a:solidFill>
                  <a:latin typeface="Aptos" pitchFamily="34" charset="0"/>
                  <a:ea typeface="Aptos" pitchFamily="34" charset="-122"/>
                  <a:cs typeface="Aptos" pitchFamily="34" charset="-120"/>
                </a:rPr>
                <a:t>Campus course</a:t>
              </a:r>
              <a:endParaRPr lang="en-US" sz="2600" dirty="0"/>
            </a:p>
          </p:txBody>
        </p:sp>
        <p:sp>
          <p:nvSpPr>
            <p:cNvPr id="13" name="Text 11"/>
            <p:cNvSpPr/>
            <p:nvPr/>
          </p:nvSpPr>
          <p:spPr>
            <a:xfrm>
              <a:off x="4663440" y="2020825"/>
              <a:ext cx="2423160" cy="3810148"/>
            </a:xfrm>
            <a:prstGeom prst="rect">
              <a:avLst/>
            </a:prstGeom>
            <a:noFill/>
            <a:ln/>
          </p:spPr>
          <p:txBody>
            <a:bodyPr wrap="square" lIns="635" tIns="635" rIns="635" bIns="635" rtlCol="0" anchor="ctr">
              <a:normAutofit/>
            </a:bodyPr>
            <a:lstStyle/>
            <a:p>
              <a:r>
                <a:rPr lang="en-US" sz="1600" dirty="0">
                  <a:solidFill>
                    <a:srgbClr val="06254A"/>
                  </a:solidFill>
                  <a:latin typeface="Aptos" pitchFamily="34" charset="0"/>
                  <a:ea typeface="Aptos" pitchFamily="34" charset="-122"/>
                  <a:cs typeface="Aptos" pitchFamily="34" charset="-120"/>
                </a:rPr>
                <a:t>course calendar / cohort</a:t>
              </a:r>
            </a:p>
            <a:p>
              <a:r>
                <a:rPr lang="en-US" sz="1600" dirty="0">
                  <a:solidFill>
                    <a:srgbClr val="06254A"/>
                  </a:solidFill>
                  <a:latin typeface="Aptos" pitchFamily="34" charset="0"/>
                </a:rPr>
                <a:t>weekly communications</a:t>
              </a:r>
            </a:p>
            <a:p>
              <a:r>
                <a:rPr lang="en-US" sz="1600" dirty="0"/>
                <a:t>instructor interaction</a:t>
              </a:r>
            </a:p>
            <a:p>
              <a:r>
                <a:rPr lang="en-US" sz="1600" dirty="0">
                  <a:solidFill>
                    <a:srgbClr val="06254A"/>
                  </a:solidFill>
                  <a:latin typeface="Aptos" pitchFamily="34" charset="0"/>
                  <a:ea typeface="Aptos" pitchFamily="34" charset="-122"/>
                  <a:cs typeface="Aptos" pitchFamily="34" charset="-120"/>
                </a:rPr>
                <a:t>weekly live help sessions</a:t>
              </a:r>
            </a:p>
            <a:p>
              <a:endParaRPr lang="en-US" sz="1600" dirty="0">
                <a:solidFill>
                  <a:srgbClr val="06254A"/>
                </a:solidFill>
                <a:latin typeface="Aptos" pitchFamily="34" charset="0"/>
                <a:ea typeface="Aptos" pitchFamily="34" charset="-122"/>
                <a:cs typeface="Aptos" pitchFamily="34" charset="-120"/>
              </a:endParaRPr>
            </a:p>
            <a:p>
              <a:r>
                <a:rPr lang="en-US" sz="1600" dirty="0">
                  <a:solidFill>
                    <a:srgbClr val="06254A"/>
                  </a:solidFill>
                  <a:latin typeface="Aptos" pitchFamily="34" charset="0"/>
                  <a:ea typeface="Aptos" pitchFamily="34" charset="-122"/>
                  <a:cs typeface="Aptos" pitchFamily="34" charset="-120"/>
                </a:rPr>
                <a:t>limited enrollment</a:t>
              </a:r>
            </a:p>
            <a:p>
              <a:r>
                <a:rPr lang="en-US" sz="1600" dirty="0">
                  <a:solidFill>
                    <a:srgbClr val="06254A"/>
                  </a:solidFill>
                  <a:latin typeface="Aptos" pitchFamily="34" charset="0"/>
                  <a:ea typeface="Aptos" pitchFamily="34" charset="-122"/>
                  <a:cs typeface="Aptos" pitchFamily="34" charset="-120"/>
                </a:rPr>
                <a:t>campus credit cost</a:t>
              </a:r>
            </a:p>
            <a:p>
              <a:r>
                <a:rPr lang="en-US" sz="1600" dirty="0">
                  <a:solidFill>
                    <a:srgbClr val="06254A"/>
                  </a:solidFill>
                  <a:latin typeface="Aptos" pitchFamily="34" charset="0"/>
                </a:rPr>
                <a:t>real deadlines / late points</a:t>
              </a:r>
            </a:p>
            <a:p>
              <a:r>
                <a:rPr lang="en-US" sz="1600" dirty="0">
                  <a:solidFill>
                    <a:srgbClr val="06254A"/>
                  </a:solidFill>
                  <a:latin typeface="Aptos" pitchFamily="34" charset="0"/>
                </a:rPr>
                <a:t>exams and grades</a:t>
              </a:r>
            </a:p>
            <a:p>
              <a:r>
                <a:rPr lang="en-US" sz="1600" dirty="0">
                  <a:solidFill>
                    <a:srgbClr val="06254A"/>
                  </a:solidFill>
                  <a:latin typeface="Aptos" pitchFamily="34" charset="0"/>
                </a:rPr>
                <a:t>course ends after 15 weeks</a:t>
              </a:r>
            </a:p>
            <a:p>
              <a:endParaRPr lang="en-US" sz="1600" dirty="0">
                <a:solidFill>
                  <a:srgbClr val="06254A"/>
                </a:solidFill>
                <a:latin typeface="Aptos" pitchFamily="34" charset="0"/>
              </a:endParaRPr>
            </a:p>
          </p:txBody>
        </p:sp>
      </p:grpSp>
      <p:sp>
        <p:nvSpPr>
          <p:cNvPr id="15" name="Text 13"/>
          <p:cNvSpPr/>
          <p:nvPr/>
        </p:nvSpPr>
        <p:spPr>
          <a:xfrm>
            <a:off x="960120" y="6153912"/>
            <a:ext cx="10424160" cy="256032"/>
          </a:xfrm>
          <a:prstGeom prst="rect">
            <a:avLst/>
          </a:prstGeom>
          <a:noFill/>
          <a:ln/>
        </p:spPr>
        <p:txBody>
          <a:bodyPr wrap="square" lIns="508" tIns="508" rIns="508" bIns="508" rtlCol="0" anchor="ctr">
            <a:normAutofit fontScale="92500" lnSpcReduction="20000"/>
          </a:bodyPr>
          <a:lstStyle/>
          <a:p>
            <a:pPr marL="0" indent="0" algn="ctr">
              <a:buNone/>
            </a:pPr>
            <a:r>
              <a:rPr lang="en-US" sz="2000" b="1" dirty="0">
                <a:solidFill>
                  <a:srgbClr val="00274C"/>
                </a:solidFill>
                <a:latin typeface="Aptos" pitchFamily="34" charset="0"/>
                <a:ea typeface="Aptos" pitchFamily="34" charset="-122"/>
                <a:cs typeface="Aptos" pitchFamily="34" charset="-120"/>
              </a:rPr>
              <a:t>CLOC is not “MOOC plus.” It is pretty much an additional online section for a campus course.</a:t>
            </a:r>
            <a:endParaRPr lang="en-US" sz="2000" dirty="0"/>
          </a:p>
        </p:txBody>
      </p:sp>
      <p:sp>
        <p:nvSpPr>
          <p:cNvPr id="16" name="Text 14"/>
          <p:cNvSpPr/>
          <p:nvPr/>
        </p:nvSpPr>
        <p:spPr>
          <a:xfrm>
            <a:off x="594360" y="6473952"/>
            <a:ext cx="4572000" cy="201168"/>
          </a:xfrm>
          <a:prstGeom prst="rect">
            <a:avLst/>
          </a:prstGeom>
          <a:noFill/>
          <a:ln/>
        </p:spPr>
        <p:txBody>
          <a:bodyPr wrap="square" lIns="508" tIns="508" rIns="508" bIns="508" rtlCol="0" anchor="ctr">
            <a:normAutofit/>
          </a:bodyPr>
          <a:lstStyle/>
          <a:p>
            <a:pPr marL="0" indent="0" algn="l">
              <a:buNone/>
            </a:pPr>
            <a:r>
              <a:rPr lang="en-US" sz="850" dirty="0">
                <a:solidFill>
                  <a:srgbClr val="778899"/>
                </a:solidFill>
                <a:latin typeface="Aptos" pitchFamily="34" charset="0"/>
                <a:ea typeface="Aptos" pitchFamily="34" charset="-122"/>
                <a:cs typeface="Aptos" pitchFamily="34" charset="-120"/>
              </a:rPr>
              <a:t>CLOC: Campus-Linked Online Course</a:t>
            </a:r>
            <a:endParaRPr lang="en-US" sz="850" dirty="0"/>
          </a:p>
        </p:txBody>
      </p:sp>
      <p:grpSp>
        <p:nvGrpSpPr>
          <p:cNvPr id="20" name="Group 19">
            <a:extLst>
              <a:ext uri="{FF2B5EF4-FFF2-40B4-BE49-F238E27FC236}">
                <a16:creationId xmlns:a16="http://schemas.microsoft.com/office/drawing/2014/main" id="{DA896B83-C4E7-34AF-57E7-44E1EEFEE22D}"/>
              </a:ext>
            </a:extLst>
          </p:cNvPr>
          <p:cNvGrpSpPr/>
          <p:nvPr/>
        </p:nvGrpSpPr>
        <p:grpSpPr>
          <a:xfrm>
            <a:off x="4416552" y="1417320"/>
            <a:ext cx="3017520" cy="4456027"/>
            <a:chOff x="7991856" y="1417320"/>
            <a:chExt cx="3017520" cy="4456027"/>
          </a:xfrm>
        </p:grpSpPr>
        <p:sp>
          <p:nvSpPr>
            <p:cNvPr id="17" name="Shape 8">
              <a:extLst>
                <a:ext uri="{FF2B5EF4-FFF2-40B4-BE49-F238E27FC236}">
                  <a16:creationId xmlns:a16="http://schemas.microsoft.com/office/drawing/2014/main" id="{8BA03157-A419-A320-3415-F14D7BD6FFF7}"/>
                </a:ext>
              </a:extLst>
            </p:cNvPr>
            <p:cNvSpPr/>
            <p:nvPr/>
          </p:nvSpPr>
          <p:spPr>
            <a:xfrm>
              <a:off x="7991856" y="1417320"/>
              <a:ext cx="3017520" cy="4434840"/>
            </a:xfrm>
            <a:prstGeom prst="roundRect">
              <a:avLst>
                <a:gd name="adj" fmla="val 1818"/>
              </a:avLst>
            </a:prstGeom>
            <a:solidFill>
              <a:srgbClr val="FFF5C7"/>
            </a:solidFill>
            <a:ln w="25400">
              <a:solidFill>
                <a:srgbClr val="FFCB05"/>
              </a:solidFill>
              <a:prstDash val="solid"/>
            </a:ln>
          </p:spPr>
          <p:txBody>
            <a:bodyPr/>
            <a:lstStyle/>
            <a:p>
              <a:endParaRPr lang="en-US"/>
            </a:p>
          </p:txBody>
        </p:sp>
        <p:sp>
          <p:nvSpPr>
            <p:cNvPr id="18" name="Text 9">
              <a:extLst>
                <a:ext uri="{FF2B5EF4-FFF2-40B4-BE49-F238E27FC236}">
                  <a16:creationId xmlns:a16="http://schemas.microsoft.com/office/drawing/2014/main" id="{AE0D7C33-86DE-F5E4-EA47-9AF868D094CB}"/>
                </a:ext>
              </a:extLst>
            </p:cNvPr>
            <p:cNvSpPr/>
            <p:nvPr/>
          </p:nvSpPr>
          <p:spPr>
            <a:xfrm>
              <a:off x="8156448" y="1700784"/>
              <a:ext cx="2651760" cy="320040"/>
            </a:xfrm>
            <a:prstGeom prst="rect">
              <a:avLst/>
            </a:prstGeom>
            <a:noFill/>
            <a:ln/>
          </p:spPr>
          <p:txBody>
            <a:bodyPr wrap="square" lIns="508" tIns="508" rIns="508" bIns="508" rtlCol="0" anchor="ctr">
              <a:normAutofit fontScale="92500" lnSpcReduction="20000"/>
            </a:bodyPr>
            <a:lstStyle/>
            <a:p>
              <a:pPr marL="0" indent="0" algn="ctr">
                <a:buNone/>
              </a:pPr>
              <a:r>
                <a:rPr lang="en-US" sz="2600" b="1" dirty="0">
                  <a:solidFill>
                    <a:srgbClr val="00274C"/>
                  </a:solidFill>
                  <a:latin typeface="Aptos" pitchFamily="34" charset="0"/>
                  <a:ea typeface="Aptos" pitchFamily="34" charset="-122"/>
                  <a:cs typeface="Aptos" pitchFamily="34" charset="-120"/>
                </a:rPr>
                <a:t>CLOC</a:t>
              </a:r>
              <a:endParaRPr lang="en-US" sz="2600" dirty="0"/>
            </a:p>
          </p:txBody>
        </p:sp>
        <p:sp>
          <p:nvSpPr>
            <p:cNvPr id="19" name="Text 12">
              <a:extLst>
                <a:ext uri="{FF2B5EF4-FFF2-40B4-BE49-F238E27FC236}">
                  <a16:creationId xmlns:a16="http://schemas.microsoft.com/office/drawing/2014/main" id="{9D96A3D7-F852-AEC0-62F9-D176189A4D64}"/>
                </a:ext>
              </a:extLst>
            </p:cNvPr>
            <p:cNvSpPr/>
            <p:nvPr/>
          </p:nvSpPr>
          <p:spPr>
            <a:xfrm>
              <a:off x="8275320" y="2020825"/>
              <a:ext cx="2468880" cy="3852522"/>
            </a:xfrm>
            <a:prstGeom prst="rect">
              <a:avLst/>
            </a:prstGeom>
            <a:noFill/>
            <a:ln/>
          </p:spPr>
          <p:txBody>
            <a:bodyPr wrap="square" lIns="635" tIns="635" rIns="635" bIns="635" rtlCol="0" anchor="ctr">
              <a:normAutofit/>
            </a:bodyPr>
            <a:lstStyle/>
            <a:p>
              <a:r>
                <a:rPr lang="en-US" sz="1600" dirty="0">
                  <a:solidFill>
                    <a:srgbClr val="06254A"/>
                  </a:solidFill>
                  <a:latin typeface="Aptos" pitchFamily="34" charset="0"/>
                  <a:ea typeface="Aptos" pitchFamily="34" charset="-122"/>
                  <a:cs typeface="Aptos" pitchFamily="34" charset="-120"/>
                </a:rPr>
                <a:t>course calendar / cohort</a:t>
              </a:r>
            </a:p>
            <a:p>
              <a:r>
                <a:rPr lang="en-US" sz="1600" dirty="0">
                  <a:solidFill>
                    <a:srgbClr val="06254A"/>
                  </a:solidFill>
                  <a:latin typeface="Aptos" pitchFamily="34" charset="0"/>
                </a:rPr>
                <a:t>weekly communications</a:t>
              </a:r>
            </a:p>
            <a:p>
              <a:r>
                <a:rPr lang="en-US" sz="1600" dirty="0">
                  <a:solidFill>
                    <a:srgbClr val="06254A"/>
                  </a:solidFill>
                  <a:latin typeface="Aptos" pitchFamily="34" charset="0"/>
                </a:rPr>
                <a:t>instructor interaction</a:t>
              </a:r>
              <a:endParaRPr lang="en-US" sz="1600" dirty="0"/>
            </a:p>
            <a:p>
              <a:r>
                <a:rPr lang="en-US" sz="1600" dirty="0">
                  <a:solidFill>
                    <a:srgbClr val="06254A"/>
                  </a:solidFill>
                  <a:latin typeface="Aptos" pitchFamily="34" charset="0"/>
                  <a:ea typeface="Aptos" pitchFamily="34" charset="-122"/>
                  <a:cs typeface="Aptos" pitchFamily="34" charset="-120"/>
                </a:rPr>
                <a:t>weekly live help sessions</a:t>
              </a:r>
            </a:p>
            <a:p>
              <a:endParaRPr lang="en-US" sz="1600" dirty="0">
                <a:solidFill>
                  <a:srgbClr val="06254A"/>
                </a:solidFill>
                <a:latin typeface="Aptos" pitchFamily="34" charset="0"/>
                <a:ea typeface="Aptos" pitchFamily="34" charset="-122"/>
                <a:cs typeface="Aptos" pitchFamily="34" charset="-120"/>
              </a:endParaRPr>
            </a:p>
            <a:p>
              <a:r>
                <a:rPr lang="en-US" sz="1600" dirty="0">
                  <a:solidFill>
                    <a:srgbClr val="06254A"/>
                  </a:solidFill>
                  <a:latin typeface="Aptos" pitchFamily="34" charset="0"/>
                  <a:ea typeface="Aptos" pitchFamily="34" charset="-122"/>
                  <a:cs typeface="Aptos" pitchFamily="34" charset="-120"/>
                </a:rPr>
                <a:t>open enrollment</a:t>
              </a:r>
            </a:p>
            <a:p>
              <a:r>
                <a:rPr lang="en-US" sz="1600" dirty="0">
                  <a:solidFill>
                    <a:srgbClr val="06254A"/>
                  </a:solidFill>
                  <a:latin typeface="Aptos" pitchFamily="34" charset="0"/>
                  <a:ea typeface="Aptos" pitchFamily="34" charset="-122"/>
                  <a:cs typeface="Aptos" pitchFamily="34" charset="-120"/>
                </a:rPr>
                <a:t>low cost / non-credit</a:t>
              </a:r>
            </a:p>
            <a:p>
              <a:r>
                <a:rPr lang="en-US" sz="1600" dirty="0">
                  <a:solidFill>
                    <a:srgbClr val="06254A"/>
                  </a:solidFill>
                  <a:latin typeface="Aptos" pitchFamily="34" charset="0"/>
                  <a:ea typeface="Aptos" pitchFamily="34" charset="-122"/>
                  <a:cs typeface="Aptos" pitchFamily="34" charset="-120"/>
                </a:rPr>
                <a:t>schedule / no late points</a:t>
              </a:r>
            </a:p>
            <a:p>
              <a:r>
                <a:rPr lang="en-US" sz="1600" dirty="0">
                  <a:solidFill>
                    <a:srgbClr val="06254A"/>
                  </a:solidFill>
                  <a:latin typeface="Aptos" pitchFamily="34" charset="0"/>
                </a:rPr>
                <a:t>no exams /no grades</a:t>
              </a:r>
            </a:p>
            <a:p>
              <a:r>
                <a:rPr lang="en-US" sz="1600" dirty="0">
                  <a:solidFill>
                    <a:srgbClr val="06254A"/>
                  </a:solidFill>
                  <a:latin typeface="Aptos" pitchFamily="34" charset="0"/>
                </a:rPr>
                <a:t>cohort 15 weeks</a:t>
              </a:r>
            </a:p>
            <a:p>
              <a:r>
                <a:rPr lang="en-US" sz="1600" dirty="0">
                  <a:solidFill>
                    <a:srgbClr val="06254A"/>
                  </a:solidFill>
                  <a:latin typeface="Aptos" pitchFamily="34" charset="0"/>
                </a:rPr>
                <a:t>self-paced for 360 days </a:t>
              </a:r>
              <a:endParaRPr lang="en-US" sz="1600" dirty="0"/>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F7FB"/>
          </a:solidFill>
          <a:ln w="12700">
            <a:solidFill>
              <a:srgbClr val="F4F7FB">
                <a:alpha val="0"/>
              </a:srgbClr>
            </a:solidFill>
            <a:prstDash val="solid"/>
          </a:ln>
        </p:spPr>
        <p:txBody>
          <a:bodyPr/>
          <a:lstStyle/>
          <a:p>
            <a:endParaRPr lang="en-US"/>
          </a:p>
        </p:txBody>
      </p:sp>
      <p:sp>
        <p:nvSpPr>
          <p:cNvPr id="3" name="Shape 1"/>
          <p:cNvSpPr/>
          <p:nvPr/>
        </p:nvSpPr>
        <p:spPr>
          <a:xfrm>
            <a:off x="0" y="0"/>
            <a:ext cx="155448" cy="6858000"/>
          </a:xfrm>
          <a:prstGeom prst="rect">
            <a:avLst/>
          </a:prstGeom>
          <a:solidFill>
            <a:srgbClr val="FFCB05"/>
          </a:solidFill>
          <a:ln w="12700">
            <a:solidFill>
              <a:srgbClr val="FFCB05">
                <a:alpha val="0"/>
              </a:srgbClr>
            </a:solidFill>
            <a:prstDash val="solid"/>
          </a:ln>
        </p:spPr>
        <p:txBody>
          <a:bodyPr/>
          <a:lstStyle/>
          <a:p>
            <a:endParaRPr lang="en-US"/>
          </a:p>
        </p:txBody>
      </p:sp>
      <p:sp>
        <p:nvSpPr>
          <p:cNvPr id="4" name="Text 2"/>
          <p:cNvSpPr/>
          <p:nvPr/>
        </p:nvSpPr>
        <p:spPr>
          <a:xfrm>
            <a:off x="594360" y="402336"/>
            <a:ext cx="5257800" cy="502920"/>
          </a:xfrm>
          <a:prstGeom prst="rect">
            <a:avLst/>
          </a:prstGeom>
          <a:noFill/>
          <a:ln/>
        </p:spPr>
        <p:txBody>
          <a:bodyPr wrap="square" lIns="508" tIns="508" rIns="508" bIns="508" rtlCol="0" anchor="ctr">
            <a:normAutofit/>
          </a:bodyPr>
          <a:lstStyle/>
          <a:p>
            <a:pPr marL="0" indent="0" algn="l">
              <a:buNone/>
            </a:pPr>
            <a:r>
              <a:rPr lang="en-US" sz="3100" b="1" dirty="0">
                <a:solidFill>
                  <a:srgbClr val="00274C"/>
                </a:solidFill>
                <a:latin typeface="Aptos" pitchFamily="34" charset="0"/>
                <a:ea typeface="Aptos" pitchFamily="34" charset="-122"/>
                <a:cs typeface="Aptos" pitchFamily="34" charset="-120"/>
              </a:rPr>
              <a:t>First CLOC offering</a:t>
            </a:r>
            <a:endParaRPr lang="en-US" sz="3100" dirty="0"/>
          </a:p>
        </p:txBody>
      </p:sp>
      <p:sp>
        <p:nvSpPr>
          <p:cNvPr id="5" name="Text 3"/>
          <p:cNvSpPr/>
          <p:nvPr/>
        </p:nvSpPr>
        <p:spPr>
          <a:xfrm>
            <a:off x="621792" y="941832"/>
            <a:ext cx="5303520" cy="320040"/>
          </a:xfrm>
          <a:prstGeom prst="rect">
            <a:avLst/>
          </a:prstGeom>
          <a:noFill/>
          <a:ln/>
        </p:spPr>
        <p:txBody>
          <a:bodyPr wrap="square" lIns="508" tIns="508" rIns="508" bIns="508" rtlCol="0" anchor="ctr">
            <a:normAutofit/>
          </a:bodyPr>
          <a:lstStyle/>
          <a:p>
            <a:pPr marL="0" indent="0" algn="l">
              <a:buNone/>
            </a:pPr>
            <a:r>
              <a:rPr lang="en-US" sz="1500" dirty="0">
                <a:solidFill>
                  <a:srgbClr val="4F5B66"/>
                </a:solidFill>
                <a:latin typeface="Aptos" pitchFamily="34" charset="0"/>
                <a:ea typeface="Aptos" pitchFamily="34" charset="-122"/>
                <a:cs typeface="Aptos" pitchFamily="34" charset="-120"/>
              </a:rPr>
              <a:t>A focused pilot for Building Web Applications in Django.</a:t>
            </a:r>
            <a:endParaRPr lang="en-US" sz="1500" dirty="0"/>
          </a:p>
        </p:txBody>
      </p:sp>
      <p:pic>
        <p:nvPicPr>
          <p:cNvPr id="6" name="Image 0" descr="/mnt/data/a_wide_cinematic_photorealistic_digital_illustra.png"/>
          <p:cNvPicPr>
            <a:picLocks noChangeAspect="1"/>
          </p:cNvPicPr>
          <p:nvPr/>
        </p:nvPicPr>
        <p:blipFill>
          <a:blip r:embed="rId3"/>
          <a:stretch>
            <a:fillRect/>
          </a:stretch>
        </p:blipFill>
        <p:spPr>
          <a:xfrm>
            <a:off x="6233007" y="1687180"/>
            <a:ext cx="5349240" cy="3538728"/>
          </a:xfrm>
          <a:prstGeom prst="rect">
            <a:avLst/>
          </a:prstGeom>
        </p:spPr>
      </p:pic>
      <p:sp>
        <p:nvSpPr>
          <p:cNvPr id="7" name="Text 4"/>
          <p:cNvSpPr/>
          <p:nvPr/>
        </p:nvSpPr>
        <p:spPr>
          <a:xfrm>
            <a:off x="868680" y="1481328"/>
            <a:ext cx="1170432" cy="274320"/>
          </a:xfrm>
          <a:prstGeom prst="rect">
            <a:avLst/>
          </a:prstGeom>
          <a:noFill/>
          <a:ln/>
        </p:spPr>
        <p:txBody>
          <a:bodyPr wrap="square" lIns="508" tIns="508" rIns="508" bIns="508" rtlCol="0" anchor="ctr">
            <a:normAutofit/>
          </a:bodyPr>
          <a:lstStyle/>
          <a:p>
            <a:pPr marL="0" indent="0" algn="l">
              <a:buNone/>
            </a:pPr>
            <a:r>
              <a:rPr lang="en-US" sz="1500" b="1" dirty="0">
                <a:solidFill>
                  <a:srgbClr val="FFCB05"/>
                </a:solidFill>
                <a:latin typeface="Aptos" pitchFamily="34" charset="0"/>
                <a:ea typeface="Aptos" pitchFamily="34" charset="-122"/>
                <a:cs typeface="Aptos" pitchFamily="34" charset="-120"/>
              </a:rPr>
              <a:t>Starts</a:t>
            </a:r>
            <a:endParaRPr lang="en-US" sz="1500" dirty="0"/>
          </a:p>
        </p:txBody>
      </p:sp>
      <p:sp>
        <p:nvSpPr>
          <p:cNvPr id="8" name="Text 5"/>
          <p:cNvSpPr/>
          <p:nvPr/>
        </p:nvSpPr>
        <p:spPr>
          <a:xfrm>
            <a:off x="2148840" y="1234440"/>
            <a:ext cx="3474720" cy="868680"/>
          </a:xfrm>
          <a:prstGeom prst="rect">
            <a:avLst/>
          </a:prstGeom>
          <a:noFill/>
          <a:ln/>
        </p:spPr>
        <p:txBody>
          <a:bodyPr wrap="square" lIns="508" tIns="508" rIns="508" bIns="508" rtlCol="0" anchor="ctr">
            <a:normAutofit/>
          </a:bodyPr>
          <a:lstStyle/>
          <a:p>
            <a:pPr marL="0" indent="0" algn="l">
              <a:buNone/>
            </a:pPr>
            <a:r>
              <a:rPr lang="en-US" sz="2200" b="1" dirty="0">
                <a:solidFill>
                  <a:srgbClr val="00274C"/>
                </a:solidFill>
                <a:latin typeface="Aptos" pitchFamily="34" charset="0"/>
              </a:rPr>
              <a:t>September 1</a:t>
            </a:r>
          </a:p>
          <a:p>
            <a:pPr marL="0" indent="0" algn="l">
              <a:buNone/>
            </a:pPr>
            <a:r>
              <a:rPr lang="en-US" sz="2200" b="1" dirty="0">
                <a:solidFill>
                  <a:srgbClr val="00274C"/>
                </a:solidFill>
                <a:latin typeface="Aptos" pitchFamily="34" charset="0"/>
              </a:rPr>
              <a:t>Early access during August</a:t>
            </a:r>
            <a:endParaRPr lang="en-US" sz="2200" dirty="0"/>
          </a:p>
        </p:txBody>
      </p:sp>
      <p:sp>
        <p:nvSpPr>
          <p:cNvPr id="9" name="Text 6"/>
          <p:cNvSpPr/>
          <p:nvPr/>
        </p:nvSpPr>
        <p:spPr>
          <a:xfrm>
            <a:off x="868680" y="2194560"/>
            <a:ext cx="1170432" cy="274320"/>
          </a:xfrm>
          <a:prstGeom prst="rect">
            <a:avLst/>
          </a:prstGeom>
          <a:noFill/>
          <a:ln/>
        </p:spPr>
        <p:txBody>
          <a:bodyPr wrap="square" lIns="508" tIns="508" rIns="508" bIns="508" rtlCol="0" anchor="ctr">
            <a:normAutofit/>
          </a:bodyPr>
          <a:lstStyle/>
          <a:p>
            <a:pPr marL="0" indent="0" algn="l">
              <a:buNone/>
            </a:pPr>
            <a:r>
              <a:rPr lang="en-US" sz="1500" b="1" dirty="0">
                <a:solidFill>
                  <a:srgbClr val="FFCB05"/>
                </a:solidFill>
                <a:latin typeface="Aptos" pitchFamily="34" charset="0"/>
                <a:ea typeface="Aptos" pitchFamily="34" charset="-122"/>
                <a:cs typeface="Aptos" pitchFamily="34" charset="-120"/>
              </a:rPr>
              <a:t>Cost</a:t>
            </a:r>
            <a:endParaRPr lang="en-US" sz="1500" dirty="0"/>
          </a:p>
        </p:txBody>
      </p:sp>
      <p:sp>
        <p:nvSpPr>
          <p:cNvPr id="10" name="Text 7"/>
          <p:cNvSpPr/>
          <p:nvPr/>
        </p:nvSpPr>
        <p:spPr>
          <a:xfrm>
            <a:off x="2148840" y="2176272"/>
            <a:ext cx="3474720" cy="320040"/>
          </a:xfrm>
          <a:prstGeom prst="rect">
            <a:avLst/>
          </a:prstGeom>
          <a:noFill/>
          <a:ln/>
        </p:spPr>
        <p:txBody>
          <a:bodyPr wrap="square" lIns="508" tIns="508" rIns="508" bIns="508" rtlCol="0" anchor="ctr">
            <a:normAutofit lnSpcReduction="10000"/>
          </a:bodyPr>
          <a:lstStyle/>
          <a:p>
            <a:pPr marL="0" indent="0" algn="l">
              <a:buNone/>
            </a:pPr>
            <a:r>
              <a:rPr lang="en-US" sz="2200" b="1" dirty="0">
                <a:solidFill>
                  <a:srgbClr val="00274C"/>
                </a:solidFill>
                <a:latin typeface="Aptos" pitchFamily="34" charset="0"/>
                <a:ea typeface="Aptos" pitchFamily="34" charset="-122"/>
                <a:cs typeface="Aptos" pitchFamily="34" charset="-120"/>
              </a:rPr>
              <a:t>$300</a:t>
            </a:r>
            <a:endParaRPr lang="en-US" sz="2200" dirty="0"/>
          </a:p>
        </p:txBody>
      </p:sp>
      <p:sp>
        <p:nvSpPr>
          <p:cNvPr id="11" name="Text 8"/>
          <p:cNvSpPr/>
          <p:nvPr/>
        </p:nvSpPr>
        <p:spPr>
          <a:xfrm>
            <a:off x="868680" y="2907792"/>
            <a:ext cx="1170432" cy="274320"/>
          </a:xfrm>
          <a:prstGeom prst="rect">
            <a:avLst/>
          </a:prstGeom>
          <a:noFill/>
          <a:ln/>
        </p:spPr>
        <p:txBody>
          <a:bodyPr wrap="square" lIns="508" tIns="508" rIns="508" bIns="508" rtlCol="0" anchor="ctr">
            <a:normAutofit/>
          </a:bodyPr>
          <a:lstStyle/>
          <a:p>
            <a:pPr marL="0" indent="0" algn="l">
              <a:buNone/>
            </a:pPr>
            <a:r>
              <a:rPr lang="en-US" sz="1500" b="1" dirty="0">
                <a:solidFill>
                  <a:srgbClr val="FFCB05"/>
                </a:solidFill>
                <a:latin typeface="Aptos" pitchFamily="34" charset="0"/>
                <a:ea typeface="Aptos" pitchFamily="34" charset="-122"/>
                <a:cs typeface="Aptos" pitchFamily="34" charset="-120"/>
              </a:rPr>
              <a:t>Supports</a:t>
            </a:r>
            <a:endParaRPr lang="en-US" sz="1500" dirty="0"/>
          </a:p>
        </p:txBody>
      </p:sp>
      <p:sp>
        <p:nvSpPr>
          <p:cNvPr id="12" name="Text 9"/>
          <p:cNvSpPr/>
          <p:nvPr/>
        </p:nvSpPr>
        <p:spPr>
          <a:xfrm>
            <a:off x="2148839" y="2734056"/>
            <a:ext cx="3474720" cy="603504"/>
          </a:xfrm>
          <a:prstGeom prst="rect">
            <a:avLst/>
          </a:prstGeom>
          <a:noFill/>
          <a:ln/>
        </p:spPr>
        <p:txBody>
          <a:bodyPr wrap="square" lIns="508" tIns="508" rIns="508" bIns="508" rtlCol="0" anchor="ctr">
            <a:normAutofit fontScale="92500" lnSpcReduction="10000"/>
          </a:bodyPr>
          <a:lstStyle/>
          <a:p>
            <a:pPr marL="0" indent="0" algn="l">
              <a:buNone/>
            </a:pPr>
            <a:r>
              <a:rPr lang="en-US" sz="2200" b="1" dirty="0">
                <a:solidFill>
                  <a:srgbClr val="00274C"/>
                </a:solidFill>
                <a:latin typeface="Aptos" pitchFamily="34" charset="0"/>
                <a:ea typeface="Aptos" pitchFamily="34" charset="-122"/>
                <a:cs typeface="Aptos" pitchFamily="34" charset="-120"/>
              </a:rPr>
              <a:t>Teaching assistants</a:t>
            </a:r>
            <a:br>
              <a:rPr lang="en-US" sz="2200" b="1" dirty="0">
                <a:solidFill>
                  <a:srgbClr val="00274C"/>
                </a:solidFill>
                <a:latin typeface="Aptos" pitchFamily="34" charset="0"/>
                <a:ea typeface="Aptos" pitchFamily="34" charset="-122"/>
                <a:cs typeface="Aptos" pitchFamily="34" charset="-120"/>
              </a:rPr>
            </a:br>
            <a:r>
              <a:rPr lang="en-US" sz="2200" b="1" dirty="0">
                <a:solidFill>
                  <a:srgbClr val="00274C"/>
                </a:solidFill>
                <a:latin typeface="Aptos" pitchFamily="34" charset="0"/>
                <a:ea typeface="Aptos" pitchFamily="34" charset="-122"/>
                <a:cs typeface="Aptos" pitchFamily="34" charset="-120"/>
              </a:rPr>
              <a:t>in September</a:t>
            </a:r>
            <a:endParaRPr lang="en-US" sz="2200" dirty="0"/>
          </a:p>
        </p:txBody>
      </p:sp>
      <p:sp>
        <p:nvSpPr>
          <p:cNvPr id="13" name="Text 10"/>
          <p:cNvSpPr/>
          <p:nvPr/>
        </p:nvSpPr>
        <p:spPr>
          <a:xfrm>
            <a:off x="868680" y="3621024"/>
            <a:ext cx="1170432" cy="274320"/>
          </a:xfrm>
          <a:prstGeom prst="rect">
            <a:avLst/>
          </a:prstGeom>
          <a:noFill/>
          <a:ln/>
        </p:spPr>
        <p:txBody>
          <a:bodyPr wrap="square" lIns="508" tIns="508" rIns="508" bIns="508" rtlCol="0" anchor="ctr">
            <a:normAutofit/>
          </a:bodyPr>
          <a:lstStyle/>
          <a:p>
            <a:pPr marL="0" indent="0" algn="l">
              <a:buNone/>
            </a:pPr>
            <a:r>
              <a:rPr lang="en-US" sz="1500" b="1" dirty="0">
                <a:solidFill>
                  <a:srgbClr val="FFCB05"/>
                </a:solidFill>
                <a:latin typeface="Aptos" pitchFamily="34" charset="0"/>
                <a:ea typeface="Aptos" pitchFamily="34" charset="-122"/>
                <a:cs typeface="Aptos" pitchFamily="34" charset="-120"/>
              </a:rPr>
              <a:t>Aligned with</a:t>
            </a:r>
            <a:endParaRPr lang="en-US" sz="1500" dirty="0"/>
          </a:p>
        </p:txBody>
      </p:sp>
      <p:sp>
        <p:nvSpPr>
          <p:cNvPr id="14" name="Text 11"/>
          <p:cNvSpPr/>
          <p:nvPr/>
        </p:nvSpPr>
        <p:spPr>
          <a:xfrm>
            <a:off x="2148840" y="3602736"/>
            <a:ext cx="3474720" cy="320040"/>
          </a:xfrm>
          <a:prstGeom prst="rect">
            <a:avLst/>
          </a:prstGeom>
          <a:noFill/>
          <a:ln/>
        </p:spPr>
        <p:txBody>
          <a:bodyPr wrap="square" lIns="508" tIns="508" rIns="508" bIns="508" rtlCol="0" anchor="ctr">
            <a:normAutofit fontScale="92500"/>
          </a:bodyPr>
          <a:lstStyle/>
          <a:p>
            <a:pPr marL="0" indent="0" algn="l">
              <a:buNone/>
            </a:pPr>
            <a:r>
              <a:rPr lang="en-US" sz="2200" b="1" dirty="0">
                <a:solidFill>
                  <a:srgbClr val="00274C"/>
                </a:solidFill>
                <a:latin typeface="Aptos" pitchFamily="34" charset="0"/>
                <a:ea typeface="Aptos" pitchFamily="34" charset="-122"/>
                <a:cs typeface="Aptos" pitchFamily="34" charset="-120"/>
              </a:rPr>
              <a:t>SI357 and SI664 learning path</a:t>
            </a:r>
            <a:endParaRPr lang="en-US" sz="2200" dirty="0"/>
          </a:p>
        </p:txBody>
      </p:sp>
      <p:sp>
        <p:nvSpPr>
          <p:cNvPr id="15" name="Text 12"/>
          <p:cNvSpPr/>
          <p:nvPr/>
        </p:nvSpPr>
        <p:spPr>
          <a:xfrm>
            <a:off x="868680" y="4334256"/>
            <a:ext cx="1170432" cy="274320"/>
          </a:xfrm>
          <a:prstGeom prst="rect">
            <a:avLst/>
          </a:prstGeom>
          <a:noFill/>
          <a:ln/>
        </p:spPr>
        <p:txBody>
          <a:bodyPr wrap="square" lIns="508" tIns="508" rIns="508" bIns="508" rtlCol="0" anchor="ctr">
            <a:normAutofit/>
          </a:bodyPr>
          <a:lstStyle/>
          <a:p>
            <a:pPr marL="0" indent="0" algn="l">
              <a:buNone/>
            </a:pPr>
            <a:r>
              <a:rPr lang="en-US" sz="1500" b="1" dirty="0">
                <a:solidFill>
                  <a:srgbClr val="FFCB05"/>
                </a:solidFill>
                <a:latin typeface="Aptos" pitchFamily="34" charset="0"/>
                <a:ea typeface="Aptos" pitchFamily="34" charset="-122"/>
                <a:cs typeface="Aptos" pitchFamily="34" charset="-120"/>
              </a:rPr>
              <a:t>Pilot mindset</a:t>
            </a:r>
            <a:endParaRPr lang="en-US" sz="1500" dirty="0"/>
          </a:p>
        </p:txBody>
      </p:sp>
      <p:sp>
        <p:nvSpPr>
          <p:cNvPr id="16" name="Text 13"/>
          <p:cNvSpPr/>
          <p:nvPr/>
        </p:nvSpPr>
        <p:spPr>
          <a:xfrm>
            <a:off x="2148840" y="4315968"/>
            <a:ext cx="3474720" cy="320040"/>
          </a:xfrm>
          <a:prstGeom prst="rect">
            <a:avLst/>
          </a:prstGeom>
          <a:noFill/>
          <a:ln/>
        </p:spPr>
        <p:txBody>
          <a:bodyPr wrap="square" lIns="508" tIns="508" rIns="508" bIns="508" rtlCol="0" anchor="ctr">
            <a:normAutofit fontScale="70000" lnSpcReduction="20000"/>
          </a:bodyPr>
          <a:lstStyle/>
          <a:p>
            <a:pPr marL="0" indent="0" algn="l">
              <a:buNone/>
            </a:pPr>
            <a:r>
              <a:rPr lang="en-US" sz="2200" b="1" dirty="0">
                <a:solidFill>
                  <a:srgbClr val="00274C"/>
                </a:solidFill>
                <a:latin typeface="Aptos" pitchFamily="34" charset="0"/>
                <a:ea typeface="Aptos" pitchFamily="34" charset="-122"/>
                <a:cs typeface="Aptos" pitchFamily="34" charset="-120"/>
              </a:rPr>
              <a:t>feedback during office hours and email</a:t>
            </a:r>
            <a:endParaRPr lang="en-US" sz="2200" dirty="0"/>
          </a:p>
        </p:txBody>
      </p:sp>
      <p:sp>
        <p:nvSpPr>
          <p:cNvPr id="17" name="Text 14"/>
          <p:cNvSpPr/>
          <p:nvPr/>
        </p:nvSpPr>
        <p:spPr>
          <a:xfrm>
            <a:off x="841248" y="5413248"/>
            <a:ext cx="5074920" cy="502920"/>
          </a:xfrm>
          <a:prstGeom prst="roundRect">
            <a:avLst/>
          </a:prstGeom>
          <a:solidFill>
            <a:srgbClr val="FFCB05"/>
          </a:solidFill>
          <a:ln>
            <a:solidFill>
              <a:srgbClr val="FFCB05">
                <a:alpha val="0"/>
              </a:srgbClr>
            </a:solidFill>
          </a:ln>
        </p:spPr>
        <p:txBody>
          <a:bodyPr wrap="square" lIns="508" tIns="508" rIns="508" bIns="508" rtlCol="0" anchor="ctr">
            <a:normAutofit/>
          </a:bodyPr>
          <a:lstStyle/>
          <a:p>
            <a:pPr marL="0" indent="0" algn="ctr">
              <a:buNone/>
            </a:pPr>
            <a:r>
              <a:rPr lang="en-US" sz="1400" b="1" dirty="0">
                <a:solidFill>
                  <a:srgbClr val="00274C"/>
                </a:solidFill>
                <a:latin typeface="Aptos" pitchFamily="34" charset="0"/>
                <a:ea typeface="Aptos" pitchFamily="34" charset="-122"/>
                <a:cs typeface="Aptos" pitchFamily="34" charset="-120"/>
              </a:rPr>
              <a:t>Flexible online learning + campus connection</a:t>
            </a:r>
            <a:endParaRPr lang="en-US" sz="1400" dirty="0"/>
          </a:p>
        </p:txBody>
      </p:sp>
      <p:sp>
        <p:nvSpPr>
          <p:cNvPr id="18" name="Text 15"/>
          <p:cNvSpPr/>
          <p:nvPr/>
        </p:nvSpPr>
        <p:spPr>
          <a:xfrm>
            <a:off x="594360" y="6473952"/>
            <a:ext cx="4572000" cy="201168"/>
          </a:xfrm>
          <a:prstGeom prst="rect">
            <a:avLst/>
          </a:prstGeom>
          <a:noFill/>
          <a:ln/>
        </p:spPr>
        <p:txBody>
          <a:bodyPr wrap="square" lIns="508" tIns="508" rIns="508" bIns="508" rtlCol="0" anchor="ctr">
            <a:normAutofit/>
          </a:bodyPr>
          <a:lstStyle/>
          <a:p>
            <a:pPr marL="0" indent="0" algn="l">
              <a:buNone/>
            </a:pPr>
            <a:r>
              <a:rPr lang="en-US" sz="850" dirty="0">
                <a:solidFill>
                  <a:srgbClr val="778899"/>
                </a:solidFill>
                <a:latin typeface="Aptos" pitchFamily="34" charset="0"/>
                <a:ea typeface="Aptos" pitchFamily="34" charset="-122"/>
                <a:cs typeface="Aptos" pitchFamily="34" charset="-120"/>
              </a:rPr>
              <a:t>CLOC: Campus-Linked Online Course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FBF8EF"/>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Why a new model?</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Bringing together the strengths of campus and online teaching</a:t>
            </a:r>
            <a:endParaRPr lang="en-US" sz="1400" dirty="0"/>
          </a:p>
        </p:txBody>
      </p:sp>
      <p:sp>
        <p:nvSpPr>
          <p:cNvPr id="4" name="Shape 2"/>
          <p:cNvSpPr/>
          <p:nvPr/>
        </p:nvSpPr>
        <p:spPr>
          <a:xfrm>
            <a:off x="594360" y="1572768"/>
            <a:ext cx="3291840" cy="2834640"/>
          </a:xfrm>
          <a:prstGeom prst="rect">
            <a:avLst/>
          </a:prstGeom>
          <a:solidFill>
            <a:srgbClr val="E8F4F5"/>
          </a:solidFill>
          <a:ln w="12700">
            <a:solidFill>
              <a:srgbClr val="E8F4F5">
                <a:alpha val="0"/>
              </a:srgbClr>
            </a:solidFill>
            <a:prstDash val="solid"/>
          </a:ln>
        </p:spPr>
        <p:txBody>
          <a:bodyPr/>
          <a:lstStyle/>
          <a:p>
            <a:endParaRPr/>
          </a:p>
        </p:txBody>
      </p:sp>
      <p:sp>
        <p:nvSpPr>
          <p:cNvPr id="5" name="Text 3"/>
          <p:cNvSpPr/>
          <p:nvPr/>
        </p:nvSpPr>
        <p:spPr>
          <a:xfrm>
            <a:off x="822960" y="1847088"/>
            <a:ext cx="2743200" cy="365760"/>
          </a:xfrm>
          <a:prstGeom prst="rect">
            <a:avLst/>
          </a:prstGeom>
          <a:noFill/>
          <a:ln/>
        </p:spPr>
        <p:txBody>
          <a:bodyPr wrap="square" lIns="0" tIns="0" rIns="0" bIns="0" rtlCol="0" anchor="ctr"/>
          <a:lstStyle/>
          <a:p>
            <a:pPr marL="0" indent="0">
              <a:buNone/>
            </a:pPr>
            <a:r>
              <a:rPr lang="en-US" sz="2300" b="1" dirty="0">
                <a:solidFill>
                  <a:srgbClr val="18324A"/>
                </a:solidFill>
              </a:rPr>
              <a:t>Campus teaching</a:t>
            </a:r>
            <a:endParaRPr lang="en-US" sz="2300" dirty="0"/>
          </a:p>
        </p:txBody>
      </p:sp>
      <p:sp>
        <p:nvSpPr>
          <p:cNvPr id="6" name="Text 4"/>
          <p:cNvSpPr/>
          <p:nvPr/>
        </p:nvSpPr>
        <p:spPr>
          <a:xfrm>
            <a:off x="859536" y="2468880"/>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7" name="Text 5"/>
          <p:cNvSpPr/>
          <p:nvPr/>
        </p:nvSpPr>
        <p:spPr>
          <a:xfrm>
            <a:off x="1161288" y="2505456"/>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schedule</a:t>
            </a:r>
            <a:endParaRPr lang="en-US" sz="1500" dirty="0"/>
          </a:p>
        </p:txBody>
      </p:sp>
      <p:sp>
        <p:nvSpPr>
          <p:cNvPr id="8" name="Text 6"/>
          <p:cNvSpPr/>
          <p:nvPr/>
        </p:nvSpPr>
        <p:spPr>
          <a:xfrm>
            <a:off x="859536" y="2907792"/>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9" name="Text 7"/>
          <p:cNvSpPr/>
          <p:nvPr/>
        </p:nvSpPr>
        <p:spPr>
          <a:xfrm>
            <a:off x="1161288" y="2944368"/>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office hours</a:t>
            </a:r>
            <a:endParaRPr lang="en-US" sz="1500" dirty="0"/>
          </a:p>
        </p:txBody>
      </p:sp>
      <p:sp>
        <p:nvSpPr>
          <p:cNvPr id="10" name="Text 8"/>
          <p:cNvSpPr/>
          <p:nvPr/>
        </p:nvSpPr>
        <p:spPr>
          <a:xfrm>
            <a:off x="859536" y="3346704"/>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1" name="Text 9"/>
          <p:cNvSpPr/>
          <p:nvPr/>
        </p:nvSpPr>
        <p:spPr>
          <a:xfrm>
            <a:off x="1161288" y="3383280"/>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teaching assistants</a:t>
            </a:r>
            <a:endParaRPr lang="en-US" sz="1500" dirty="0"/>
          </a:p>
        </p:txBody>
      </p:sp>
      <p:sp>
        <p:nvSpPr>
          <p:cNvPr id="12" name="Text 10"/>
          <p:cNvSpPr/>
          <p:nvPr/>
        </p:nvSpPr>
        <p:spPr>
          <a:xfrm>
            <a:off x="859536" y="3785616"/>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3" name="Text 11"/>
          <p:cNvSpPr/>
          <p:nvPr/>
        </p:nvSpPr>
        <p:spPr>
          <a:xfrm>
            <a:off x="1161288" y="3822192"/>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shared momentum</a:t>
            </a:r>
            <a:endParaRPr lang="en-US" sz="1500" dirty="0"/>
          </a:p>
        </p:txBody>
      </p:sp>
      <p:sp>
        <p:nvSpPr>
          <p:cNvPr id="14" name="Shape 12"/>
          <p:cNvSpPr/>
          <p:nvPr/>
        </p:nvSpPr>
        <p:spPr>
          <a:xfrm>
            <a:off x="8302752" y="1572768"/>
            <a:ext cx="3291840" cy="2834640"/>
          </a:xfrm>
          <a:prstGeom prst="rect">
            <a:avLst/>
          </a:prstGeom>
          <a:solidFill>
            <a:srgbClr val="FFF1D7"/>
          </a:solidFill>
          <a:ln w="12700">
            <a:solidFill>
              <a:srgbClr val="FFF1D7">
                <a:alpha val="0"/>
              </a:srgbClr>
            </a:solidFill>
            <a:prstDash val="solid"/>
          </a:ln>
        </p:spPr>
        <p:txBody>
          <a:bodyPr/>
          <a:lstStyle/>
          <a:p>
            <a:endParaRPr/>
          </a:p>
        </p:txBody>
      </p:sp>
      <p:sp>
        <p:nvSpPr>
          <p:cNvPr id="15" name="Text 13"/>
          <p:cNvSpPr/>
          <p:nvPr/>
        </p:nvSpPr>
        <p:spPr>
          <a:xfrm>
            <a:off x="8531352" y="1847088"/>
            <a:ext cx="2743200" cy="365760"/>
          </a:xfrm>
          <a:prstGeom prst="rect">
            <a:avLst/>
          </a:prstGeom>
          <a:noFill/>
          <a:ln/>
        </p:spPr>
        <p:txBody>
          <a:bodyPr wrap="square" lIns="0" tIns="0" rIns="0" bIns="0" rtlCol="0" anchor="ctr"/>
          <a:lstStyle/>
          <a:p>
            <a:pPr marL="0" indent="0">
              <a:buNone/>
            </a:pPr>
            <a:r>
              <a:rPr lang="en-US" sz="2300" b="1" dirty="0">
                <a:solidFill>
                  <a:srgbClr val="18324A"/>
                </a:solidFill>
              </a:rPr>
              <a:t>Online teaching</a:t>
            </a:r>
            <a:endParaRPr lang="en-US" sz="2300" dirty="0"/>
          </a:p>
        </p:txBody>
      </p:sp>
      <p:sp>
        <p:nvSpPr>
          <p:cNvPr id="16" name="Text 14"/>
          <p:cNvSpPr/>
          <p:nvPr/>
        </p:nvSpPr>
        <p:spPr>
          <a:xfrm>
            <a:off x="8567928" y="2468880"/>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7" name="Text 15"/>
          <p:cNvSpPr/>
          <p:nvPr/>
        </p:nvSpPr>
        <p:spPr>
          <a:xfrm>
            <a:off x="8869680" y="2505456"/>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accessible anywhere</a:t>
            </a:r>
            <a:endParaRPr lang="en-US" sz="1500" dirty="0"/>
          </a:p>
        </p:txBody>
      </p:sp>
      <p:sp>
        <p:nvSpPr>
          <p:cNvPr id="18" name="Text 16"/>
          <p:cNvSpPr/>
          <p:nvPr/>
        </p:nvSpPr>
        <p:spPr>
          <a:xfrm>
            <a:off x="8567928" y="2907792"/>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9" name="Text 17"/>
          <p:cNvSpPr/>
          <p:nvPr/>
        </p:nvSpPr>
        <p:spPr>
          <a:xfrm>
            <a:off x="8869680" y="2944368"/>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flexible entry point</a:t>
            </a:r>
            <a:endParaRPr lang="en-US" sz="1500" dirty="0"/>
          </a:p>
        </p:txBody>
      </p:sp>
      <p:sp>
        <p:nvSpPr>
          <p:cNvPr id="20" name="Text 18"/>
          <p:cNvSpPr/>
          <p:nvPr/>
        </p:nvSpPr>
        <p:spPr>
          <a:xfrm>
            <a:off x="8567928" y="3346704"/>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1" name="Text 19"/>
          <p:cNvSpPr/>
          <p:nvPr/>
        </p:nvSpPr>
        <p:spPr>
          <a:xfrm>
            <a:off x="8869680" y="3383280"/>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proven materials</a:t>
            </a:r>
            <a:endParaRPr lang="en-US" sz="1500" dirty="0"/>
          </a:p>
        </p:txBody>
      </p:sp>
      <p:sp>
        <p:nvSpPr>
          <p:cNvPr id="22" name="Text 20"/>
          <p:cNvSpPr/>
          <p:nvPr/>
        </p:nvSpPr>
        <p:spPr>
          <a:xfrm>
            <a:off x="8567928" y="3785616"/>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3" name="Text 21"/>
          <p:cNvSpPr/>
          <p:nvPr/>
        </p:nvSpPr>
        <p:spPr>
          <a:xfrm>
            <a:off x="8869680" y="3822192"/>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large reach</a:t>
            </a:r>
            <a:endParaRPr lang="en-US" sz="1500" dirty="0"/>
          </a:p>
        </p:txBody>
      </p:sp>
      <p:sp>
        <p:nvSpPr>
          <p:cNvPr id="24" name="Shape 22"/>
          <p:cNvSpPr/>
          <p:nvPr/>
        </p:nvSpPr>
        <p:spPr>
          <a:xfrm>
            <a:off x="4297680" y="2971800"/>
            <a:ext cx="3566160" cy="0"/>
          </a:xfrm>
          <a:prstGeom prst="line">
            <a:avLst/>
          </a:prstGeom>
          <a:noFill/>
          <a:ln w="31750">
            <a:solidFill>
              <a:srgbClr val="138A96"/>
            </a:solidFill>
            <a:prstDash val="solid"/>
            <a:headEnd type="none"/>
            <a:tailEnd type="triangle"/>
          </a:ln>
        </p:spPr>
        <p:txBody>
          <a:bodyPr/>
          <a:lstStyle/>
          <a:p>
            <a:endParaRPr/>
          </a:p>
        </p:txBody>
      </p:sp>
      <p:sp>
        <p:nvSpPr>
          <p:cNvPr id="25" name="Text 23"/>
          <p:cNvSpPr/>
          <p:nvPr/>
        </p:nvSpPr>
        <p:spPr>
          <a:xfrm>
            <a:off x="4919472" y="2505456"/>
            <a:ext cx="2377440" cy="594360"/>
          </a:xfrm>
          <a:prstGeom prst="rect">
            <a:avLst/>
          </a:prstGeom>
          <a:noFill/>
          <a:ln/>
        </p:spPr>
        <p:txBody>
          <a:bodyPr wrap="square" lIns="0" tIns="0" rIns="0" bIns="0" rtlCol="0" anchor="ctr"/>
          <a:lstStyle/>
          <a:p>
            <a:pPr marL="0" indent="0" algn="ctr">
              <a:buNone/>
            </a:pPr>
            <a:r>
              <a:rPr lang="en-US" sz="4000" b="1" dirty="0">
                <a:solidFill>
                  <a:srgbClr val="138A96"/>
                </a:solidFill>
              </a:rPr>
              <a:t>CLOC</a:t>
            </a:r>
            <a:endParaRPr lang="en-US" sz="4000" dirty="0"/>
          </a:p>
        </p:txBody>
      </p:sp>
      <p:sp>
        <p:nvSpPr>
          <p:cNvPr id="26" name="Text 24"/>
          <p:cNvSpPr/>
          <p:nvPr/>
        </p:nvSpPr>
        <p:spPr>
          <a:xfrm>
            <a:off x="4480560" y="3218688"/>
            <a:ext cx="3200400" cy="320040"/>
          </a:xfrm>
          <a:prstGeom prst="rect">
            <a:avLst/>
          </a:prstGeom>
          <a:noFill/>
          <a:ln/>
        </p:spPr>
        <p:txBody>
          <a:bodyPr wrap="square" lIns="0" tIns="0" rIns="0" bIns="0" rtlCol="0" anchor="ctr"/>
          <a:lstStyle/>
          <a:p>
            <a:pPr marL="0" indent="0" algn="ctr">
              <a:buNone/>
            </a:pPr>
            <a:r>
              <a:rPr lang="en-US" sz="1700" dirty="0">
                <a:solidFill>
                  <a:srgbClr val="425466"/>
                </a:solidFill>
              </a:rPr>
              <a:t>aligned rhythm + online reach</a:t>
            </a:r>
            <a:endParaRPr lang="en-US" sz="1700" dirty="0"/>
          </a:p>
        </p:txBody>
      </p:sp>
      <p:sp>
        <p:nvSpPr>
          <p:cNvPr id="27" name="Text 25"/>
          <p:cNvSpPr/>
          <p:nvPr/>
        </p:nvSpPr>
        <p:spPr>
          <a:xfrm>
            <a:off x="502920" y="6473952"/>
            <a:ext cx="4572000" cy="182880"/>
          </a:xfrm>
          <a:prstGeom prst="rect">
            <a:avLst/>
          </a:prstGeom>
          <a:noFill/>
          <a:ln/>
        </p:spPr>
        <p:txBody>
          <a:bodyPr wrap="square" lIns="0" tIns="0" rIns="0" bIns="0" rtlCol="0" anchor="ctr"/>
          <a:lstStyle/>
          <a:p>
            <a:pPr marL="0" indent="0">
              <a:buNone/>
            </a:pPr>
            <a:r>
              <a:rPr lang="en-US" sz="850" dirty="0">
                <a:solidFill>
                  <a:srgbClr val="6B7280"/>
                </a:solidFill>
              </a:rPr>
              <a:t>Building Web Applications in Django • CAOC</a:t>
            </a:r>
            <a:endParaRPr lang="en-US" sz="850" dirty="0"/>
          </a:p>
        </p:txBody>
      </p:sp>
      <p:sp>
        <p:nvSpPr>
          <p:cNvPr id="28" name="Text 26"/>
          <p:cNvSpPr/>
          <p:nvPr/>
        </p:nvSpPr>
        <p:spPr>
          <a:xfrm>
            <a:off x="11475720" y="6473952"/>
            <a:ext cx="228600" cy="182880"/>
          </a:xfrm>
          <a:prstGeom prst="rect">
            <a:avLst/>
          </a:prstGeom>
          <a:noFill/>
          <a:ln/>
        </p:spPr>
        <p:txBody>
          <a:bodyPr wrap="square" lIns="0" tIns="0" rIns="0" bIns="0" rtlCol="0" anchor="ctr"/>
          <a:lstStyle/>
          <a:p>
            <a:pPr marL="0" indent="0" algn="r">
              <a:buNone/>
            </a:pPr>
            <a:r>
              <a:rPr lang="en-US" sz="850" dirty="0">
                <a:solidFill>
                  <a:srgbClr val="6B7280"/>
                </a:solidFill>
              </a:rPr>
              <a:t>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BF8EF"/>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What “campus linked” means</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An online course deliberately aligned with live campus courses</a:t>
            </a:r>
            <a:endParaRPr lang="en-US" sz="1400" dirty="0"/>
          </a:p>
        </p:txBody>
      </p:sp>
      <p:sp>
        <p:nvSpPr>
          <p:cNvPr id="4" name="Text 2"/>
          <p:cNvSpPr/>
          <p:nvPr/>
        </p:nvSpPr>
        <p:spPr>
          <a:xfrm>
            <a:off x="786384" y="1920240"/>
            <a:ext cx="2103120" cy="502920"/>
          </a:xfrm>
          <a:prstGeom prst="rect">
            <a:avLst/>
          </a:prstGeom>
          <a:noFill/>
          <a:ln/>
        </p:spPr>
        <p:txBody>
          <a:bodyPr wrap="square" lIns="0" tIns="0" rIns="0" bIns="0" rtlCol="0" anchor="ctr"/>
          <a:lstStyle/>
          <a:p>
            <a:pPr marL="0" indent="0" algn="ctr">
              <a:buNone/>
            </a:pPr>
            <a:r>
              <a:rPr lang="en-US" sz="3400" b="1" dirty="0">
                <a:solidFill>
                  <a:srgbClr val="18324A"/>
                </a:solidFill>
              </a:rPr>
              <a:t>SI 357</a:t>
            </a:r>
            <a:endParaRPr lang="en-US" sz="3400" dirty="0"/>
          </a:p>
        </p:txBody>
      </p:sp>
      <p:sp>
        <p:nvSpPr>
          <p:cNvPr id="5" name="Text 3"/>
          <p:cNvSpPr/>
          <p:nvPr/>
        </p:nvSpPr>
        <p:spPr>
          <a:xfrm>
            <a:off x="786384" y="3246120"/>
            <a:ext cx="2103120" cy="502920"/>
          </a:xfrm>
          <a:prstGeom prst="rect">
            <a:avLst/>
          </a:prstGeom>
          <a:noFill/>
          <a:ln/>
        </p:spPr>
        <p:txBody>
          <a:bodyPr wrap="square" lIns="0" tIns="0" rIns="0" bIns="0" rtlCol="0" anchor="ctr"/>
          <a:lstStyle/>
          <a:p>
            <a:pPr marL="0" indent="0" algn="ctr">
              <a:buNone/>
            </a:pPr>
            <a:r>
              <a:rPr lang="en-US" sz="3400" b="1" dirty="0">
                <a:solidFill>
                  <a:srgbClr val="18324A"/>
                </a:solidFill>
              </a:rPr>
              <a:t>SI 664</a:t>
            </a:r>
            <a:endParaRPr lang="en-US" sz="3400" dirty="0"/>
          </a:p>
        </p:txBody>
      </p:sp>
      <p:sp>
        <p:nvSpPr>
          <p:cNvPr id="6" name="Shape 4"/>
          <p:cNvSpPr/>
          <p:nvPr/>
        </p:nvSpPr>
        <p:spPr>
          <a:xfrm>
            <a:off x="2926080" y="2148840"/>
            <a:ext cx="5577840" cy="0"/>
          </a:xfrm>
          <a:prstGeom prst="line">
            <a:avLst/>
          </a:prstGeom>
          <a:noFill/>
          <a:ln w="38100">
            <a:solidFill>
              <a:srgbClr val="138A96"/>
            </a:solidFill>
            <a:prstDash val="solid"/>
            <a:tailEnd type="triangle"/>
          </a:ln>
        </p:spPr>
        <p:txBody>
          <a:bodyPr/>
          <a:lstStyle/>
          <a:p>
            <a:endParaRPr/>
          </a:p>
        </p:txBody>
      </p:sp>
      <p:sp>
        <p:nvSpPr>
          <p:cNvPr id="7" name="Shape 5"/>
          <p:cNvSpPr/>
          <p:nvPr/>
        </p:nvSpPr>
        <p:spPr>
          <a:xfrm>
            <a:off x="2926080" y="3474720"/>
            <a:ext cx="5577840" cy="0"/>
          </a:xfrm>
          <a:prstGeom prst="line">
            <a:avLst/>
          </a:prstGeom>
          <a:noFill/>
          <a:ln w="38100">
            <a:solidFill>
              <a:srgbClr val="138A96"/>
            </a:solidFill>
            <a:prstDash val="solid"/>
            <a:tailEnd type="triangle"/>
          </a:ln>
        </p:spPr>
        <p:txBody>
          <a:bodyPr/>
          <a:lstStyle/>
          <a:p>
            <a:endParaRPr/>
          </a:p>
        </p:txBody>
      </p:sp>
      <p:sp>
        <p:nvSpPr>
          <p:cNvPr id="8" name="Text 6"/>
          <p:cNvSpPr/>
          <p:nvPr/>
        </p:nvSpPr>
        <p:spPr>
          <a:xfrm>
            <a:off x="4041648" y="1883664"/>
            <a:ext cx="3474720" cy="292608"/>
          </a:xfrm>
          <a:prstGeom prst="rect">
            <a:avLst/>
          </a:prstGeom>
          <a:noFill/>
          <a:ln/>
        </p:spPr>
        <p:txBody>
          <a:bodyPr wrap="square" lIns="0" tIns="0" rIns="0" bIns="0" rtlCol="0" anchor="ctr"/>
          <a:lstStyle/>
          <a:p>
            <a:pPr marL="0" indent="0" algn="ctr">
              <a:buNone/>
            </a:pPr>
            <a:r>
              <a:rPr lang="en-US" sz="1900" dirty="0">
                <a:solidFill>
                  <a:srgbClr val="425466"/>
                </a:solidFill>
              </a:rPr>
              <a:t>same overall schedule</a:t>
            </a:r>
            <a:endParaRPr lang="en-US" sz="1900" dirty="0"/>
          </a:p>
        </p:txBody>
      </p:sp>
      <p:sp>
        <p:nvSpPr>
          <p:cNvPr id="9" name="Text 7"/>
          <p:cNvSpPr/>
          <p:nvPr/>
        </p:nvSpPr>
        <p:spPr>
          <a:xfrm>
            <a:off x="4041648" y="3200400"/>
            <a:ext cx="3474720" cy="292608"/>
          </a:xfrm>
          <a:prstGeom prst="rect">
            <a:avLst/>
          </a:prstGeom>
          <a:noFill/>
          <a:ln/>
        </p:spPr>
        <p:txBody>
          <a:bodyPr wrap="square" lIns="0" tIns="0" rIns="0" bIns="0" rtlCol="0" anchor="ctr"/>
          <a:lstStyle/>
          <a:p>
            <a:pPr marL="0" indent="0" algn="ctr">
              <a:buNone/>
            </a:pPr>
            <a:r>
              <a:rPr lang="en-US" sz="1900" dirty="0">
                <a:solidFill>
                  <a:srgbClr val="425466"/>
                </a:solidFill>
              </a:rPr>
              <a:t>same instructional orbit</a:t>
            </a:r>
            <a:endParaRPr lang="en-US" sz="1900" dirty="0"/>
          </a:p>
        </p:txBody>
      </p:sp>
      <p:sp>
        <p:nvSpPr>
          <p:cNvPr id="10" name="Text 8"/>
          <p:cNvSpPr/>
          <p:nvPr/>
        </p:nvSpPr>
        <p:spPr>
          <a:xfrm>
            <a:off x="8823960" y="2240280"/>
            <a:ext cx="2560320" cy="777240"/>
          </a:xfrm>
          <a:prstGeom prst="rect">
            <a:avLst/>
          </a:prstGeom>
          <a:noFill/>
          <a:ln/>
        </p:spPr>
        <p:txBody>
          <a:bodyPr wrap="square" lIns="0" tIns="0" rIns="0" bIns="0" rtlCol="0" anchor="ctr"/>
          <a:lstStyle/>
          <a:p>
            <a:pPr marL="0" indent="0" algn="ctr">
              <a:buNone/>
            </a:pPr>
            <a:r>
              <a:rPr lang="en-US" sz="2800" b="1" dirty="0">
                <a:solidFill>
                  <a:srgbClr val="138A96"/>
                </a:solidFill>
              </a:rPr>
              <a:t>Online</a:t>
            </a:r>
            <a:endParaRPr lang="en-US" sz="2800" dirty="0"/>
          </a:p>
          <a:p>
            <a:pPr marL="0" indent="0" algn="ctr">
              <a:buNone/>
            </a:pPr>
            <a:r>
              <a:rPr lang="en-US" sz="2800" b="1" dirty="0">
                <a:solidFill>
                  <a:srgbClr val="138A96"/>
                </a:solidFill>
              </a:rPr>
              <a:t>learners</a:t>
            </a:r>
            <a:endParaRPr lang="en-US" sz="2800" dirty="0"/>
          </a:p>
        </p:txBody>
      </p:sp>
      <p:sp>
        <p:nvSpPr>
          <p:cNvPr id="11" name="Text 9"/>
          <p:cNvSpPr/>
          <p:nvPr/>
        </p:nvSpPr>
        <p:spPr>
          <a:xfrm>
            <a:off x="8686800" y="3127248"/>
            <a:ext cx="2834640" cy="310896"/>
          </a:xfrm>
          <a:prstGeom prst="rect">
            <a:avLst/>
          </a:prstGeom>
          <a:noFill/>
          <a:ln/>
        </p:spPr>
        <p:txBody>
          <a:bodyPr wrap="square" lIns="0" tIns="0" rIns="0" bIns="0" rtlCol="0" anchor="ctr"/>
          <a:lstStyle/>
          <a:p>
            <a:pPr marL="0" indent="0" algn="ctr">
              <a:buNone/>
            </a:pPr>
            <a:r>
              <a:rPr lang="en-US" sz="1400" dirty="0">
                <a:solidFill>
                  <a:srgbClr val="425466"/>
                </a:solidFill>
              </a:rPr>
              <a:t>not UM enrolled • not a UM credential nor credit</a:t>
            </a:r>
            <a:endParaRPr lang="en-US" sz="1400" dirty="0"/>
          </a:p>
        </p:txBody>
      </p:sp>
      <p:sp>
        <p:nvSpPr>
          <p:cNvPr id="12" name="Shape 10"/>
          <p:cNvSpPr/>
          <p:nvPr/>
        </p:nvSpPr>
        <p:spPr>
          <a:xfrm>
            <a:off x="4754880" y="4800600"/>
            <a:ext cx="2560320" cy="384048"/>
          </a:xfrm>
          <a:prstGeom prst="roundRect">
            <a:avLst>
              <a:gd name="adj" fmla="val 19048"/>
            </a:avLst>
          </a:prstGeom>
          <a:solidFill>
            <a:srgbClr val="F5A623"/>
          </a:solidFill>
          <a:ln w="12700">
            <a:solidFill>
              <a:srgbClr val="F5A623">
                <a:alpha val="0"/>
              </a:srgbClr>
            </a:solidFill>
            <a:prstDash val="solid"/>
          </a:ln>
        </p:spPr>
        <p:txBody>
          <a:bodyPr/>
          <a:lstStyle/>
          <a:p>
            <a:endParaRPr/>
          </a:p>
        </p:txBody>
      </p:sp>
      <p:sp>
        <p:nvSpPr>
          <p:cNvPr id="13" name="Text 11"/>
          <p:cNvSpPr/>
          <p:nvPr/>
        </p:nvSpPr>
        <p:spPr>
          <a:xfrm>
            <a:off x="4864608" y="4882896"/>
            <a:ext cx="2340864" cy="182880"/>
          </a:xfrm>
          <a:prstGeom prst="rect">
            <a:avLst/>
          </a:prstGeom>
          <a:noFill/>
          <a:ln/>
        </p:spPr>
        <p:txBody>
          <a:bodyPr wrap="square" lIns="0" tIns="0" rIns="0" bIns="0" rtlCol="0" anchor="ctr"/>
          <a:lstStyle/>
          <a:p>
            <a:pPr marL="0" indent="0" algn="ctr">
              <a:buNone/>
            </a:pPr>
            <a:r>
              <a:rPr lang="en-US" sz="1150" b="1" dirty="0">
                <a:solidFill>
                  <a:srgbClr val="FFFFFF"/>
                </a:solidFill>
              </a:rPr>
              <a:t>aligned ≠ identical</a:t>
            </a:r>
            <a:endParaRPr lang="en-US" sz="1150" dirty="0"/>
          </a:p>
        </p:txBody>
      </p:sp>
      <p:sp>
        <p:nvSpPr>
          <p:cNvPr id="14" name="Text 12"/>
          <p:cNvSpPr/>
          <p:nvPr/>
        </p:nvSpPr>
        <p:spPr>
          <a:xfrm>
            <a:off x="502920" y="6473952"/>
            <a:ext cx="4572000" cy="182880"/>
          </a:xfrm>
          <a:prstGeom prst="rect">
            <a:avLst/>
          </a:prstGeom>
          <a:noFill/>
          <a:ln/>
        </p:spPr>
        <p:txBody>
          <a:bodyPr wrap="square" lIns="0" tIns="0" rIns="0" bIns="0" rtlCol="0" anchor="ctr"/>
          <a:lstStyle/>
          <a:p>
            <a:pPr marL="0" indent="0">
              <a:buNone/>
            </a:pPr>
            <a:r>
              <a:rPr lang="en-US" sz="850" dirty="0">
                <a:solidFill>
                  <a:srgbClr val="6B7280"/>
                </a:solidFill>
              </a:rPr>
              <a:t>Building Web Applications in Django • CAOC</a:t>
            </a:r>
            <a:endParaRPr lang="en-US" sz="850" dirty="0"/>
          </a:p>
        </p:txBody>
      </p:sp>
      <p:sp>
        <p:nvSpPr>
          <p:cNvPr id="15" name="Text 13"/>
          <p:cNvSpPr/>
          <p:nvPr/>
        </p:nvSpPr>
        <p:spPr>
          <a:xfrm>
            <a:off x="11475720" y="6473952"/>
            <a:ext cx="228600" cy="182880"/>
          </a:xfrm>
          <a:prstGeom prst="rect">
            <a:avLst/>
          </a:prstGeom>
          <a:noFill/>
          <a:ln/>
        </p:spPr>
        <p:txBody>
          <a:bodyPr wrap="square" lIns="0" tIns="0" rIns="0" bIns="0" rtlCol="0" anchor="ctr"/>
          <a:lstStyle/>
          <a:p>
            <a:pPr marL="0" indent="0" algn="r">
              <a:buNone/>
            </a:pPr>
            <a:r>
              <a:rPr lang="en-US" sz="850" dirty="0">
                <a:solidFill>
                  <a:srgbClr val="6B7280"/>
                </a:solidFill>
              </a:rPr>
              <a:t>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screenshot of a computer&#10;&#10;AI-generated content may be incorrect.">
            <a:extLst>
              <a:ext uri="{FF2B5EF4-FFF2-40B4-BE49-F238E27FC236}">
                <a16:creationId xmlns:a16="http://schemas.microsoft.com/office/drawing/2014/main" id="{AF23D128-BE19-6A7B-63C5-E91A02340BF5}"/>
              </a:ext>
            </a:extLst>
          </p:cNvPr>
          <p:cNvPicPr>
            <a:picLocks noChangeAspect="1"/>
          </p:cNvPicPr>
          <p:nvPr/>
        </p:nvPicPr>
        <p:blipFill>
          <a:blip r:embed="rId2"/>
          <a:stretch>
            <a:fillRect/>
          </a:stretch>
        </p:blipFill>
        <p:spPr>
          <a:xfrm>
            <a:off x="318499" y="275069"/>
            <a:ext cx="7772400" cy="4243954"/>
          </a:xfrm>
          <a:prstGeom prst="rect">
            <a:avLst/>
          </a:prstGeom>
          <a:ln w="38100">
            <a:solidFill>
              <a:schemeClr val="tx1"/>
            </a:solidFill>
          </a:ln>
        </p:spPr>
      </p:pic>
      <p:pic>
        <p:nvPicPr>
          <p:cNvPr id="9" name="Picture 8" descr="A screenshot of a computer&#10;&#10;AI-generated content may be incorrect.">
            <a:extLst>
              <a:ext uri="{FF2B5EF4-FFF2-40B4-BE49-F238E27FC236}">
                <a16:creationId xmlns:a16="http://schemas.microsoft.com/office/drawing/2014/main" id="{DFFFB8F4-D41C-86FF-9E6C-F9AB518BE0FA}"/>
              </a:ext>
            </a:extLst>
          </p:cNvPr>
          <p:cNvPicPr>
            <a:picLocks noChangeAspect="1"/>
          </p:cNvPicPr>
          <p:nvPr/>
        </p:nvPicPr>
        <p:blipFill>
          <a:blip r:embed="rId3"/>
          <a:stretch>
            <a:fillRect/>
          </a:stretch>
        </p:blipFill>
        <p:spPr>
          <a:xfrm>
            <a:off x="5006251" y="2499723"/>
            <a:ext cx="6781800" cy="4038600"/>
          </a:xfrm>
          <a:prstGeom prst="rect">
            <a:avLst/>
          </a:prstGeom>
          <a:ln w="38100">
            <a:solidFill>
              <a:schemeClr val="tx1"/>
            </a:solidFill>
          </a:ln>
        </p:spPr>
      </p:pic>
    </p:spTree>
    <p:extLst>
      <p:ext uri="{BB962C8B-B14F-4D97-AF65-F5344CB8AC3E}">
        <p14:creationId xmlns:p14="http://schemas.microsoft.com/office/powerpoint/2010/main" val="1626085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web application&#10;&#10;AI-generated content may be incorrect.">
            <a:extLst>
              <a:ext uri="{FF2B5EF4-FFF2-40B4-BE49-F238E27FC236}">
                <a16:creationId xmlns:a16="http://schemas.microsoft.com/office/drawing/2014/main" id="{41C80248-1DB7-ACBE-29F8-6147784276D9}"/>
              </a:ext>
            </a:extLst>
          </p:cNvPr>
          <p:cNvPicPr>
            <a:picLocks noChangeAspect="1"/>
          </p:cNvPicPr>
          <p:nvPr/>
        </p:nvPicPr>
        <p:blipFill>
          <a:blip r:embed="rId2"/>
          <a:stretch>
            <a:fillRect/>
          </a:stretch>
        </p:blipFill>
        <p:spPr>
          <a:xfrm>
            <a:off x="978911" y="195209"/>
            <a:ext cx="10234178" cy="6250720"/>
          </a:xfrm>
          <a:prstGeom prst="rect">
            <a:avLst/>
          </a:prstGeom>
        </p:spPr>
      </p:pic>
    </p:spTree>
    <p:extLst>
      <p:ext uri="{BB962C8B-B14F-4D97-AF65-F5344CB8AC3E}">
        <p14:creationId xmlns:p14="http://schemas.microsoft.com/office/powerpoint/2010/main" val="92848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BF8EF"/>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What online learners get</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More than recorded lectures: rhythm, support, and community</a:t>
            </a:r>
            <a:endParaRPr lang="en-US" sz="1400" dirty="0"/>
          </a:p>
        </p:txBody>
      </p:sp>
      <p:sp>
        <p:nvSpPr>
          <p:cNvPr id="4" name="Shape 2"/>
          <p:cNvSpPr/>
          <p:nvPr/>
        </p:nvSpPr>
        <p:spPr>
          <a:xfrm>
            <a:off x="1005840" y="1920240"/>
            <a:ext cx="960120" cy="960120"/>
          </a:xfrm>
          <a:prstGeom prst="ellipse">
            <a:avLst/>
          </a:prstGeom>
          <a:solidFill>
            <a:srgbClr val="138A96"/>
          </a:solidFill>
          <a:ln w="25400">
            <a:solidFill>
              <a:srgbClr val="FFFFFF"/>
            </a:solidFill>
            <a:prstDash val="solid"/>
          </a:ln>
        </p:spPr>
        <p:txBody>
          <a:bodyPr/>
          <a:lstStyle/>
          <a:p>
            <a:endParaRPr/>
          </a:p>
        </p:txBody>
      </p:sp>
      <p:sp>
        <p:nvSpPr>
          <p:cNvPr id="5" name="Text 3"/>
          <p:cNvSpPr/>
          <p:nvPr/>
        </p:nvSpPr>
        <p:spPr>
          <a:xfrm>
            <a:off x="2148840" y="197510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Schedule</a:t>
            </a:r>
            <a:endParaRPr lang="en-US" sz="2100" dirty="0"/>
          </a:p>
        </p:txBody>
      </p:sp>
      <p:sp>
        <p:nvSpPr>
          <p:cNvPr id="6" name="Text 4"/>
          <p:cNvSpPr/>
          <p:nvPr/>
        </p:nvSpPr>
        <p:spPr>
          <a:xfrm>
            <a:off x="2148840" y="233172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a reason to keep going</a:t>
            </a:r>
            <a:endParaRPr lang="en-US" sz="1400" dirty="0"/>
          </a:p>
        </p:txBody>
      </p:sp>
      <p:sp>
        <p:nvSpPr>
          <p:cNvPr id="7" name="Shape 5"/>
          <p:cNvSpPr/>
          <p:nvPr/>
        </p:nvSpPr>
        <p:spPr>
          <a:xfrm>
            <a:off x="3429000" y="3246120"/>
            <a:ext cx="960120" cy="960120"/>
          </a:xfrm>
          <a:prstGeom prst="ellipse">
            <a:avLst/>
          </a:prstGeom>
          <a:solidFill>
            <a:srgbClr val="F5A623"/>
          </a:solidFill>
          <a:ln w="25400">
            <a:solidFill>
              <a:srgbClr val="FFFFFF"/>
            </a:solidFill>
            <a:prstDash val="solid"/>
          </a:ln>
        </p:spPr>
        <p:txBody>
          <a:bodyPr/>
          <a:lstStyle/>
          <a:p>
            <a:endParaRPr/>
          </a:p>
        </p:txBody>
      </p:sp>
      <p:sp>
        <p:nvSpPr>
          <p:cNvPr id="8" name="Text 6"/>
          <p:cNvSpPr/>
          <p:nvPr/>
        </p:nvSpPr>
        <p:spPr>
          <a:xfrm>
            <a:off x="4572000" y="330098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Office hours</a:t>
            </a:r>
            <a:endParaRPr lang="en-US" sz="2100" dirty="0"/>
          </a:p>
        </p:txBody>
      </p:sp>
      <p:sp>
        <p:nvSpPr>
          <p:cNvPr id="9" name="Text 7"/>
          <p:cNvSpPr/>
          <p:nvPr/>
        </p:nvSpPr>
        <p:spPr>
          <a:xfrm>
            <a:off x="4572000" y="365760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help when questions matter</a:t>
            </a:r>
            <a:endParaRPr lang="en-US" sz="1400" dirty="0"/>
          </a:p>
        </p:txBody>
      </p:sp>
      <p:sp>
        <p:nvSpPr>
          <p:cNvPr id="10" name="Shape 8"/>
          <p:cNvSpPr/>
          <p:nvPr/>
        </p:nvSpPr>
        <p:spPr>
          <a:xfrm>
            <a:off x="6035040" y="1920240"/>
            <a:ext cx="960120" cy="960120"/>
          </a:xfrm>
          <a:prstGeom prst="ellipse">
            <a:avLst/>
          </a:prstGeom>
          <a:solidFill>
            <a:srgbClr val="5E8C42"/>
          </a:solidFill>
          <a:ln w="25400">
            <a:solidFill>
              <a:srgbClr val="FFFFFF"/>
            </a:solidFill>
            <a:prstDash val="solid"/>
          </a:ln>
        </p:spPr>
        <p:txBody>
          <a:bodyPr/>
          <a:lstStyle/>
          <a:p>
            <a:endParaRPr/>
          </a:p>
        </p:txBody>
      </p:sp>
      <p:sp>
        <p:nvSpPr>
          <p:cNvPr id="11" name="Text 9"/>
          <p:cNvSpPr/>
          <p:nvPr/>
        </p:nvSpPr>
        <p:spPr>
          <a:xfrm>
            <a:off x="7178040" y="197510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TA sessions</a:t>
            </a:r>
            <a:endParaRPr lang="en-US" sz="2100" dirty="0"/>
          </a:p>
        </p:txBody>
      </p:sp>
      <p:sp>
        <p:nvSpPr>
          <p:cNvPr id="12" name="Text 10"/>
          <p:cNvSpPr/>
          <p:nvPr/>
        </p:nvSpPr>
        <p:spPr>
          <a:xfrm>
            <a:off x="7178040" y="233172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support from the teaching team</a:t>
            </a:r>
            <a:endParaRPr lang="en-US" sz="1400" dirty="0"/>
          </a:p>
        </p:txBody>
      </p:sp>
      <p:sp>
        <p:nvSpPr>
          <p:cNvPr id="13" name="Shape 11"/>
          <p:cNvSpPr/>
          <p:nvPr/>
        </p:nvSpPr>
        <p:spPr>
          <a:xfrm>
            <a:off x="8549640" y="3246120"/>
            <a:ext cx="960120" cy="960120"/>
          </a:xfrm>
          <a:prstGeom prst="ellipse">
            <a:avLst/>
          </a:prstGeom>
          <a:solidFill>
            <a:srgbClr val="138A96"/>
          </a:solidFill>
          <a:ln w="25400">
            <a:solidFill>
              <a:srgbClr val="FFFFFF"/>
            </a:solidFill>
            <a:prstDash val="solid"/>
          </a:ln>
        </p:spPr>
        <p:txBody>
          <a:bodyPr/>
          <a:lstStyle/>
          <a:p>
            <a:endParaRPr/>
          </a:p>
        </p:txBody>
      </p:sp>
      <p:sp>
        <p:nvSpPr>
          <p:cNvPr id="14" name="Text 12"/>
          <p:cNvSpPr/>
          <p:nvPr/>
        </p:nvSpPr>
        <p:spPr>
          <a:xfrm>
            <a:off x="9692640" y="330098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Community</a:t>
            </a:r>
            <a:endParaRPr lang="en-US" sz="2100" dirty="0"/>
          </a:p>
        </p:txBody>
      </p:sp>
      <p:sp>
        <p:nvSpPr>
          <p:cNvPr id="15" name="Text 13"/>
          <p:cNvSpPr/>
          <p:nvPr/>
        </p:nvSpPr>
        <p:spPr>
          <a:xfrm>
            <a:off x="9692640" y="365760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people working beside you</a:t>
            </a:r>
            <a:endParaRPr lang="en-US" sz="1400" dirty="0"/>
          </a:p>
        </p:txBody>
      </p:sp>
      <p:sp>
        <p:nvSpPr>
          <p:cNvPr id="16" name="Text 14"/>
          <p:cNvSpPr/>
          <p:nvPr/>
        </p:nvSpPr>
        <p:spPr>
          <a:xfrm>
            <a:off x="1371600" y="5349240"/>
            <a:ext cx="9326880" cy="457200"/>
          </a:xfrm>
          <a:prstGeom prst="rect">
            <a:avLst/>
          </a:prstGeom>
          <a:noFill/>
          <a:ln/>
        </p:spPr>
        <p:txBody>
          <a:bodyPr wrap="square" lIns="0" tIns="0" rIns="0" bIns="0" rtlCol="0" anchor="ctr"/>
          <a:lstStyle/>
          <a:p>
            <a:pPr marL="0" indent="0" algn="ctr">
              <a:buNone/>
            </a:pPr>
            <a:r>
              <a:rPr lang="en-US" sz="2400" b="1" dirty="0">
                <a:solidFill>
                  <a:srgbClr val="10283B"/>
                </a:solidFill>
              </a:rPr>
              <a:t>The goal is not to pretend the experiences are identical. The goal is alignment.</a:t>
            </a:r>
            <a:endParaRPr lang="en-US" sz="2400" dirty="0"/>
          </a:p>
        </p:txBody>
      </p:sp>
      <p:sp>
        <p:nvSpPr>
          <p:cNvPr id="17" name="Text 15"/>
          <p:cNvSpPr/>
          <p:nvPr/>
        </p:nvSpPr>
        <p:spPr>
          <a:xfrm>
            <a:off x="502920" y="6473952"/>
            <a:ext cx="4572000" cy="182880"/>
          </a:xfrm>
          <a:prstGeom prst="rect">
            <a:avLst/>
          </a:prstGeom>
          <a:noFill/>
          <a:ln/>
        </p:spPr>
        <p:txBody>
          <a:bodyPr wrap="square" lIns="0" tIns="0" rIns="0" bIns="0" rtlCol="0" anchor="ctr"/>
          <a:lstStyle/>
          <a:p>
            <a:pPr marL="0" indent="0">
              <a:buNone/>
            </a:pPr>
            <a:r>
              <a:rPr lang="en-US" sz="850" dirty="0">
                <a:solidFill>
                  <a:srgbClr val="6B7280"/>
                </a:solidFill>
              </a:rPr>
              <a:t>Building Web Applications in Django • CAOC</a:t>
            </a:r>
            <a:endParaRPr lang="en-US" sz="850" dirty="0"/>
          </a:p>
        </p:txBody>
      </p:sp>
      <p:sp>
        <p:nvSpPr>
          <p:cNvPr id="18" name="Text 16"/>
          <p:cNvSpPr/>
          <p:nvPr/>
        </p:nvSpPr>
        <p:spPr>
          <a:xfrm>
            <a:off x="11475720" y="6473952"/>
            <a:ext cx="228600" cy="182880"/>
          </a:xfrm>
          <a:prstGeom prst="rect">
            <a:avLst/>
          </a:prstGeom>
          <a:noFill/>
          <a:ln/>
        </p:spPr>
        <p:txBody>
          <a:bodyPr wrap="square" lIns="0" tIns="0" rIns="0" bIns="0" rtlCol="0" anchor="ctr"/>
          <a:lstStyle/>
          <a:p>
            <a:pPr marL="0" indent="0" algn="r">
              <a:buNone/>
            </a:pPr>
            <a:r>
              <a:rPr lang="en-US" sz="850" dirty="0">
                <a:solidFill>
                  <a:srgbClr val="6B7280"/>
                </a:solidFill>
              </a:rPr>
              <a:t>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BF8EF"/>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First offering</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Beginning August 1</a:t>
            </a:r>
            <a:endParaRPr lang="en-US" sz="1400" dirty="0"/>
          </a:p>
        </p:txBody>
      </p:sp>
      <p:sp>
        <p:nvSpPr>
          <p:cNvPr id="4" name="Text 2"/>
          <p:cNvSpPr/>
          <p:nvPr/>
        </p:nvSpPr>
        <p:spPr>
          <a:xfrm>
            <a:off x="868680" y="1554480"/>
            <a:ext cx="3657600" cy="1005840"/>
          </a:xfrm>
          <a:prstGeom prst="rect">
            <a:avLst/>
          </a:prstGeom>
          <a:noFill/>
          <a:ln/>
        </p:spPr>
        <p:txBody>
          <a:bodyPr wrap="square" lIns="0" tIns="0" rIns="0" bIns="0" rtlCol="0" anchor="ctr"/>
          <a:lstStyle/>
          <a:p>
            <a:pPr marL="0" indent="0">
              <a:buNone/>
            </a:pPr>
            <a:r>
              <a:rPr lang="en-US" sz="7200" b="1" dirty="0">
                <a:solidFill>
                  <a:srgbClr val="138A96"/>
                </a:solidFill>
              </a:rPr>
              <a:t>$300</a:t>
            </a:r>
            <a:endParaRPr lang="en-US" sz="7200" dirty="0"/>
          </a:p>
        </p:txBody>
      </p:sp>
      <p:sp>
        <p:nvSpPr>
          <p:cNvPr id="5" name="Text 3"/>
          <p:cNvSpPr/>
          <p:nvPr/>
        </p:nvSpPr>
        <p:spPr>
          <a:xfrm>
            <a:off x="932688" y="2651760"/>
            <a:ext cx="4572000" cy="329184"/>
          </a:xfrm>
          <a:prstGeom prst="rect">
            <a:avLst/>
          </a:prstGeom>
          <a:noFill/>
          <a:ln/>
        </p:spPr>
        <p:txBody>
          <a:bodyPr wrap="square" lIns="0" tIns="0" rIns="0" bIns="0" rtlCol="0" anchor="ctr"/>
          <a:lstStyle/>
          <a:p>
            <a:pPr marL="0" indent="0">
              <a:buNone/>
            </a:pPr>
            <a:r>
              <a:rPr lang="en-US" sz="2100" dirty="0">
                <a:solidFill>
                  <a:srgbClr val="10283B"/>
                </a:solidFill>
              </a:rPr>
              <a:t>to cover the costs of teaching assistants</a:t>
            </a:r>
            <a:endParaRPr lang="en-US" sz="2100" dirty="0"/>
          </a:p>
        </p:txBody>
      </p:sp>
      <p:sp>
        <p:nvSpPr>
          <p:cNvPr id="6" name="Text 4"/>
          <p:cNvSpPr/>
          <p:nvPr/>
        </p:nvSpPr>
        <p:spPr>
          <a:xfrm>
            <a:off x="978408" y="3337560"/>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7" name="Text 5"/>
          <p:cNvSpPr/>
          <p:nvPr/>
        </p:nvSpPr>
        <p:spPr>
          <a:xfrm>
            <a:off x="1280160" y="3374136"/>
            <a:ext cx="445312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office hours</a:t>
            </a:r>
            <a:endParaRPr lang="en-US" sz="1600" dirty="0"/>
          </a:p>
        </p:txBody>
      </p:sp>
      <p:sp>
        <p:nvSpPr>
          <p:cNvPr id="8" name="Text 6"/>
          <p:cNvSpPr/>
          <p:nvPr/>
        </p:nvSpPr>
        <p:spPr>
          <a:xfrm>
            <a:off x="978408" y="3794760"/>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9" name="Text 7"/>
          <p:cNvSpPr/>
          <p:nvPr/>
        </p:nvSpPr>
        <p:spPr>
          <a:xfrm>
            <a:off x="1280160" y="3831336"/>
            <a:ext cx="445312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instructional sessions</a:t>
            </a:r>
            <a:endParaRPr lang="en-US" sz="1600" dirty="0"/>
          </a:p>
        </p:txBody>
      </p:sp>
      <p:sp>
        <p:nvSpPr>
          <p:cNvPr id="10" name="Text 8"/>
          <p:cNvSpPr/>
          <p:nvPr/>
        </p:nvSpPr>
        <p:spPr>
          <a:xfrm>
            <a:off x="978408" y="4251960"/>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11" name="Text 9"/>
          <p:cNvSpPr/>
          <p:nvPr/>
        </p:nvSpPr>
        <p:spPr>
          <a:xfrm>
            <a:off x="1280160" y="4288536"/>
            <a:ext cx="445312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help with course material</a:t>
            </a:r>
            <a:endParaRPr lang="en-US" sz="1600" dirty="0"/>
          </a:p>
        </p:txBody>
      </p:sp>
      <p:sp>
        <p:nvSpPr>
          <p:cNvPr id="12" name="Text 10"/>
          <p:cNvSpPr/>
          <p:nvPr/>
        </p:nvSpPr>
        <p:spPr>
          <a:xfrm>
            <a:off x="978408" y="4709160"/>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13" name="Text 11"/>
          <p:cNvSpPr/>
          <p:nvPr/>
        </p:nvSpPr>
        <p:spPr>
          <a:xfrm>
            <a:off x="1280160" y="4745736"/>
            <a:ext cx="445312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support for online students</a:t>
            </a:r>
            <a:endParaRPr lang="en-US" sz="1600" dirty="0"/>
          </a:p>
        </p:txBody>
      </p:sp>
      <p:sp>
        <p:nvSpPr>
          <p:cNvPr id="14" name="Shape 12"/>
          <p:cNvSpPr/>
          <p:nvPr/>
        </p:nvSpPr>
        <p:spPr>
          <a:xfrm>
            <a:off x="6766560" y="1554480"/>
            <a:ext cx="4389120" cy="3383280"/>
          </a:xfrm>
          <a:prstGeom prst="rect">
            <a:avLst/>
          </a:prstGeom>
          <a:solidFill>
            <a:srgbClr val="E8F4F5"/>
          </a:solidFill>
          <a:ln w="12700">
            <a:solidFill>
              <a:srgbClr val="E8F4F5">
                <a:alpha val="0"/>
              </a:srgbClr>
            </a:solidFill>
            <a:prstDash val="solid"/>
          </a:ln>
        </p:spPr>
        <p:txBody>
          <a:bodyPr/>
          <a:lstStyle/>
          <a:p>
            <a:endParaRPr/>
          </a:p>
        </p:txBody>
      </p:sp>
      <p:sp>
        <p:nvSpPr>
          <p:cNvPr id="15" name="Text 13"/>
          <p:cNvSpPr/>
          <p:nvPr/>
        </p:nvSpPr>
        <p:spPr>
          <a:xfrm>
            <a:off x="7178040" y="2148840"/>
            <a:ext cx="3566160" cy="822960"/>
          </a:xfrm>
          <a:prstGeom prst="rect">
            <a:avLst/>
          </a:prstGeom>
          <a:noFill/>
          <a:ln/>
        </p:spPr>
        <p:txBody>
          <a:bodyPr wrap="square" lIns="0" tIns="0" rIns="0" bIns="0" rtlCol="0" anchor="ctr">
            <a:normAutofit fontScale="92500"/>
          </a:bodyPr>
          <a:lstStyle/>
          <a:p>
            <a:pPr marL="0" indent="0" algn="ctr">
              <a:buNone/>
            </a:pPr>
            <a:r>
              <a:rPr lang="en-US" sz="2900" b="1" dirty="0">
                <a:solidFill>
                  <a:srgbClr val="18324A"/>
                </a:solidFill>
              </a:rPr>
              <a:t>The fee supports people, not a paywall.</a:t>
            </a:r>
            <a:endParaRPr lang="en-US" sz="2900" dirty="0"/>
          </a:p>
        </p:txBody>
      </p:sp>
      <p:sp>
        <p:nvSpPr>
          <p:cNvPr id="16" name="Text 14"/>
          <p:cNvSpPr/>
          <p:nvPr/>
        </p:nvSpPr>
        <p:spPr>
          <a:xfrm>
            <a:off x="7360920" y="3319272"/>
            <a:ext cx="3200400" cy="640080"/>
          </a:xfrm>
          <a:prstGeom prst="rect">
            <a:avLst/>
          </a:prstGeom>
          <a:noFill/>
          <a:ln/>
        </p:spPr>
        <p:txBody>
          <a:bodyPr wrap="square" lIns="0" tIns="0" rIns="0" bIns="0" rtlCol="0" anchor="ctr"/>
          <a:lstStyle/>
          <a:p>
            <a:pPr marL="0" indent="0" algn="ctr">
              <a:buNone/>
            </a:pPr>
            <a:r>
              <a:rPr lang="en-US" sz="1700" dirty="0">
                <a:solidFill>
                  <a:srgbClr val="425466"/>
                </a:solidFill>
              </a:rPr>
              <a:t>The goal is a more human online learning experience.</a:t>
            </a:r>
            <a:endParaRPr lang="en-US" sz="1700" dirty="0"/>
          </a:p>
        </p:txBody>
      </p:sp>
      <p:sp>
        <p:nvSpPr>
          <p:cNvPr id="17" name="Text 15"/>
          <p:cNvSpPr/>
          <p:nvPr/>
        </p:nvSpPr>
        <p:spPr>
          <a:xfrm>
            <a:off x="502920" y="6473952"/>
            <a:ext cx="4572000" cy="182880"/>
          </a:xfrm>
          <a:prstGeom prst="rect">
            <a:avLst/>
          </a:prstGeom>
          <a:noFill/>
          <a:ln/>
        </p:spPr>
        <p:txBody>
          <a:bodyPr wrap="square" lIns="0" tIns="0" rIns="0" bIns="0" rtlCol="0" anchor="ctr"/>
          <a:lstStyle/>
          <a:p>
            <a:pPr marL="0" indent="0">
              <a:buNone/>
            </a:pPr>
            <a:r>
              <a:rPr lang="en-US" sz="850" dirty="0">
                <a:solidFill>
                  <a:srgbClr val="6B7280"/>
                </a:solidFill>
              </a:rPr>
              <a:t>Building Web Applications in Django • CAOC</a:t>
            </a:r>
            <a:endParaRPr lang="en-US" sz="850" dirty="0"/>
          </a:p>
        </p:txBody>
      </p:sp>
      <p:sp>
        <p:nvSpPr>
          <p:cNvPr id="18" name="Text 16"/>
          <p:cNvSpPr/>
          <p:nvPr/>
        </p:nvSpPr>
        <p:spPr>
          <a:xfrm>
            <a:off x="11475720" y="6473952"/>
            <a:ext cx="228600" cy="182880"/>
          </a:xfrm>
          <a:prstGeom prst="rect">
            <a:avLst/>
          </a:prstGeom>
          <a:noFill/>
          <a:ln/>
        </p:spPr>
        <p:txBody>
          <a:bodyPr wrap="square" lIns="0" tIns="0" rIns="0" bIns="0" rtlCol="0" anchor="ctr"/>
          <a:lstStyle/>
          <a:p>
            <a:pPr marL="0" indent="0" algn="r">
              <a:buNone/>
            </a:pPr>
            <a:r>
              <a:rPr lang="en-US" sz="850" dirty="0">
                <a:solidFill>
                  <a:srgbClr val="6B7280"/>
                </a:solidFill>
              </a:rPr>
              <a:t>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7FAFB"/>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This is an experiment</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The first cohort helps define what a CAOC should be</a:t>
            </a:r>
            <a:endParaRPr lang="en-US" sz="1400" dirty="0"/>
          </a:p>
        </p:txBody>
      </p:sp>
      <p:sp>
        <p:nvSpPr>
          <p:cNvPr id="4" name="Text 2"/>
          <p:cNvSpPr/>
          <p:nvPr/>
        </p:nvSpPr>
        <p:spPr>
          <a:xfrm>
            <a:off x="914400" y="1737360"/>
            <a:ext cx="2194560" cy="411480"/>
          </a:xfrm>
          <a:prstGeom prst="rect">
            <a:avLst/>
          </a:prstGeom>
          <a:noFill/>
          <a:ln/>
        </p:spPr>
        <p:txBody>
          <a:bodyPr wrap="square" lIns="0" tIns="0" rIns="0" bIns="0" rtlCol="0" anchor="ctr"/>
          <a:lstStyle/>
          <a:p>
            <a:pPr marL="0" indent="0" algn="ctr">
              <a:buNone/>
            </a:pPr>
            <a:r>
              <a:rPr lang="en-US" sz="2700" b="1" dirty="0">
                <a:solidFill>
                  <a:srgbClr val="138A96"/>
                </a:solidFill>
              </a:rPr>
              <a:t>Listen</a:t>
            </a:r>
            <a:endParaRPr lang="en-US" sz="2700" dirty="0"/>
          </a:p>
        </p:txBody>
      </p:sp>
      <p:sp>
        <p:nvSpPr>
          <p:cNvPr id="5" name="Text 3"/>
          <p:cNvSpPr/>
          <p:nvPr/>
        </p:nvSpPr>
        <p:spPr>
          <a:xfrm>
            <a:off x="4983480" y="1737360"/>
            <a:ext cx="2194560" cy="411480"/>
          </a:xfrm>
          <a:prstGeom prst="rect">
            <a:avLst/>
          </a:prstGeom>
          <a:noFill/>
          <a:ln/>
        </p:spPr>
        <p:txBody>
          <a:bodyPr wrap="square" lIns="0" tIns="0" rIns="0" bIns="0" rtlCol="0" anchor="ctr"/>
          <a:lstStyle/>
          <a:p>
            <a:pPr marL="0" indent="0" algn="ctr">
              <a:buNone/>
            </a:pPr>
            <a:r>
              <a:rPr lang="en-US" sz="2700" b="1" dirty="0">
                <a:solidFill>
                  <a:srgbClr val="F5A623"/>
                </a:solidFill>
              </a:rPr>
              <a:t>Adjust</a:t>
            </a:r>
            <a:endParaRPr lang="en-US" sz="2700" dirty="0"/>
          </a:p>
        </p:txBody>
      </p:sp>
      <p:sp>
        <p:nvSpPr>
          <p:cNvPr id="6" name="Text 4"/>
          <p:cNvSpPr/>
          <p:nvPr/>
        </p:nvSpPr>
        <p:spPr>
          <a:xfrm>
            <a:off x="8915400" y="1737360"/>
            <a:ext cx="2194560" cy="411480"/>
          </a:xfrm>
          <a:prstGeom prst="rect">
            <a:avLst/>
          </a:prstGeom>
          <a:noFill/>
          <a:ln/>
        </p:spPr>
        <p:txBody>
          <a:bodyPr wrap="square" lIns="0" tIns="0" rIns="0" bIns="0" rtlCol="0" anchor="ctr"/>
          <a:lstStyle/>
          <a:p>
            <a:pPr marL="0" indent="0" algn="ctr">
              <a:buNone/>
            </a:pPr>
            <a:r>
              <a:rPr lang="en-US" sz="2700" b="1" dirty="0">
                <a:solidFill>
                  <a:srgbClr val="5E8C42"/>
                </a:solidFill>
              </a:rPr>
              <a:t>Improve</a:t>
            </a:r>
            <a:endParaRPr lang="en-US" sz="2700" dirty="0"/>
          </a:p>
        </p:txBody>
      </p:sp>
      <p:sp>
        <p:nvSpPr>
          <p:cNvPr id="7" name="Shape 5"/>
          <p:cNvSpPr/>
          <p:nvPr/>
        </p:nvSpPr>
        <p:spPr>
          <a:xfrm>
            <a:off x="3337560" y="1965960"/>
            <a:ext cx="1234440" cy="0"/>
          </a:xfrm>
          <a:prstGeom prst="line">
            <a:avLst/>
          </a:prstGeom>
          <a:noFill/>
          <a:ln w="25400">
            <a:solidFill>
              <a:srgbClr val="9AB7BB"/>
            </a:solidFill>
            <a:prstDash val="solid"/>
            <a:headEnd type="none"/>
            <a:tailEnd type="triangle"/>
          </a:ln>
        </p:spPr>
        <p:txBody>
          <a:bodyPr/>
          <a:lstStyle/>
          <a:p>
            <a:endParaRPr/>
          </a:p>
        </p:txBody>
      </p:sp>
      <p:sp>
        <p:nvSpPr>
          <p:cNvPr id="8" name="Shape 6"/>
          <p:cNvSpPr/>
          <p:nvPr/>
        </p:nvSpPr>
        <p:spPr>
          <a:xfrm>
            <a:off x="7360920" y="1965960"/>
            <a:ext cx="1188720" cy="0"/>
          </a:xfrm>
          <a:prstGeom prst="line">
            <a:avLst/>
          </a:prstGeom>
          <a:noFill/>
          <a:ln w="25400">
            <a:solidFill>
              <a:srgbClr val="9AB7BB"/>
            </a:solidFill>
            <a:prstDash val="solid"/>
            <a:headEnd type="none"/>
            <a:tailEnd type="triangle"/>
          </a:ln>
        </p:spPr>
        <p:txBody>
          <a:bodyPr/>
          <a:lstStyle/>
          <a:p>
            <a:endParaRPr/>
          </a:p>
        </p:txBody>
      </p:sp>
      <p:sp>
        <p:nvSpPr>
          <p:cNvPr id="9" name="Text 7"/>
          <p:cNvSpPr/>
          <p:nvPr/>
        </p:nvSpPr>
        <p:spPr>
          <a:xfrm>
            <a:off x="868680" y="2743200"/>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0" name="Text 8"/>
          <p:cNvSpPr/>
          <p:nvPr/>
        </p:nvSpPr>
        <p:spPr>
          <a:xfrm>
            <a:off x="1170432" y="2779776"/>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office-hour feedback</a:t>
            </a:r>
            <a:endParaRPr lang="en-US" sz="1500" dirty="0"/>
          </a:p>
        </p:txBody>
      </p:sp>
      <p:sp>
        <p:nvSpPr>
          <p:cNvPr id="11" name="Text 9"/>
          <p:cNvSpPr/>
          <p:nvPr/>
        </p:nvSpPr>
        <p:spPr>
          <a:xfrm>
            <a:off x="868680" y="3182112"/>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2" name="Text 10"/>
          <p:cNvSpPr/>
          <p:nvPr/>
        </p:nvSpPr>
        <p:spPr>
          <a:xfrm>
            <a:off x="1170432" y="3218688"/>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live session questions</a:t>
            </a:r>
            <a:endParaRPr lang="en-US" sz="1500" dirty="0"/>
          </a:p>
        </p:txBody>
      </p:sp>
      <p:sp>
        <p:nvSpPr>
          <p:cNvPr id="13" name="Text 11"/>
          <p:cNvSpPr/>
          <p:nvPr/>
        </p:nvSpPr>
        <p:spPr>
          <a:xfrm>
            <a:off x="868680" y="3621024"/>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4" name="Text 12"/>
          <p:cNvSpPr/>
          <p:nvPr/>
        </p:nvSpPr>
        <p:spPr>
          <a:xfrm>
            <a:off x="1170432" y="3657600"/>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email</a:t>
            </a:r>
            <a:endParaRPr lang="en-US" sz="1500" dirty="0"/>
          </a:p>
        </p:txBody>
      </p:sp>
      <p:sp>
        <p:nvSpPr>
          <p:cNvPr id="15" name="Text 13"/>
          <p:cNvSpPr/>
          <p:nvPr/>
        </p:nvSpPr>
        <p:spPr>
          <a:xfrm>
            <a:off x="868680" y="4059936"/>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6" name="Text 14"/>
          <p:cNvSpPr/>
          <p:nvPr/>
        </p:nvSpPr>
        <p:spPr>
          <a:xfrm>
            <a:off x="1170432" y="4096512"/>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patterns across assignments</a:t>
            </a:r>
            <a:endParaRPr lang="en-US" sz="1500" dirty="0"/>
          </a:p>
        </p:txBody>
      </p:sp>
      <p:sp>
        <p:nvSpPr>
          <p:cNvPr id="17" name="Text 15"/>
          <p:cNvSpPr/>
          <p:nvPr/>
        </p:nvSpPr>
        <p:spPr>
          <a:xfrm>
            <a:off x="4892040" y="2743200"/>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8" name="Text 16"/>
          <p:cNvSpPr/>
          <p:nvPr/>
        </p:nvSpPr>
        <p:spPr>
          <a:xfrm>
            <a:off x="5193792" y="2779776"/>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clarify instructions</a:t>
            </a:r>
            <a:endParaRPr lang="en-US" sz="1500" dirty="0"/>
          </a:p>
        </p:txBody>
      </p:sp>
      <p:sp>
        <p:nvSpPr>
          <p:cNvPr id="19" name="Text 17"/>
          <p:cNvSpPr/>
          <p:nvPr/>
        </p:nvSpPr>
        <p:spPr>
          <a:xfrm>
            <a:off x="4892040" y="3182112"/>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0" name="Text 18"/>
          <p:cNvSpPr/>
          <p:nvPr/>
        </p:nvSpPr>
        <p:spPr>
          <a:xfrm>
            <a:off x="5193792" y="3218688"/>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add examples</a:t>
            </a:r>
            <a:endParaRPr lang="en-US" sz="1500" dirty="0"/>
          </a:p>
        </p:txBody>
      </p:sp>
      <p:sp>
        <p:nvSpPr>
          <p:cNvPr id="21" name="Text 19"/>
          <p:cNvSpPr/>
          <p:nvPr/>
        </p:nvSpPr>
        <p:spPr>
          <a:xfrm>
            <a:off x="4892040" y="3621024"/>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2" name="Text 20"/>
          <p:cNvSpPr/>
          <p:nvPr/>
        </p:nvSpPr>
        <p:spPr>
          <a:xfrm>
            <a:off x="5193792" y="3657600"/>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tune sessions</a:t>
            </a:r>
            <a:endParaRPr lang="en-US" sz="1500" dirty="0"/>
          </a:p>
        </p:txBody>
      </p:sp>
      <p:sp>
        <p:nvSpPr>
          <p:cNvPr id="23" name="Text 21"/>
          <p:cNvSpPr/>
          <p:nvPr/>
        </p:nvSpPr>
        <p:spPr>
          <a:xfrm>
            <a:off x="4892040" y="4059936"/>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4" name="Text 22"/>
          <p:cNvSpPr/>
          <p:nvPr/>
        </p:nvSpPr>
        <p:spPr>
          <a:xfrm>
            <a:off x="5193792" y="4096512"/>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create extra material</a:t>
            </a:r>
            <a:endParaRPr lang="en-US" sz="1500" dirty="0"/>
          </a:p>
        </p:txBody>
      </p:sp>
      <p:sp>
        <p:nvSpPr>
          <p:cNvPr id="25" name="Text 23"/>
          <p:cNvSpPr/>
          <p:nvPr/>
        </p:nvSpPr>
        <p:spPr>
          <a:xfrm>
            <a:off x="8732520" y="2743200"/>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6" name="Text 24"/>
          <p:cNvSpPr/>
          <p:nvPr/>
        </p:nvSpPr>
        <p:spPr>
          <a:xfrm>
            <a:off x="9034272" y="2779776"/>
            <a:ext cx="280720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future offerings</a:t>
            </a:r>
            <a:endParaRPr lang="en-US" sz="1500" dirty="0"/>
          </a:p>
        </p:txBody>
      </p:sp>
      <p:sp>
        <p:nvSpPr>
          <p:cNvPr id="27" name="Text 25"/>
          <p:cNvSpPr/>
          <p:nvPr/>
        </p:nvSpPr>
        <p:spPr>
          <a:xfrm>
            <a:off x="8732520" y="3182112"/>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8" name="Text 26"/>
          <p:cNvSpPr/>
          <p:nvPr/>
        </p:nvSpPr>
        <p:spPr>
          <a:xfrm>
            <a:off x="9034272" y="3218688"/>
            <a:ext cx="280720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better interaction</a:t>
            </a:r>
            <a:endParaRPr lang="en-US" sz="1500" dirty="0"/>
          </a:p>
        </p:txBody>
      </p:sp>
      <p:sp>
        <p:nvSpPr>
          <p:cNvPr id="29" name="Text 27"/>
          <p:cNvSpPr/>
          <p:nvPr/>
        </p:nvSpPr>
        <p:spPr>
          <a:xfrm>
            <a:off x="8732520" y="3621024"/>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30" name="Text 28"/>
          <p:cNvSpPr/>
          <p:nvPr/>
        </p:nvSpPr>
        <p:spPr>
          <a:xfrm>
            <a:off x="9034272" y="3657600"/>
            <a:ext cx="280720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stronger online support</a:t>
            </a:r>
            <a:endParaRPr lang="en-US" sz="1500" dirty="0"/>
          </a:p>
        </p:txBody>
      </p:sp>
      <p:sp>
        <p:nvSpPr>
          <p:cNvPr id="31" name="Text 29"/>
          <p:cNvSpPr/>
          <p:nvPr/>
        </p:nvSpPr>
        <p:spPr>
          <a:xfrm>
            <a:off x="8732520" y="4059936"/>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32" name="Text 30"/>
          <p:cNvSpPr/>
          <p:nvPr/>
        </p:nvSpPr>
        <p:spPr>
          <a:xfrm>
            <a:off x="9034272" y="4096512"/>
            <a:ext cx="280720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clearer CAOC model</a:t>
            </a:r>
            <a:endParaRPr lang="en-US" sz="1500" dirty="0"/>
          </a:p>
        </p:txBody>
      </p:sp>
      <p:sp>
        <p:nvSpPr>
          <p:cNvPr id="33" name="Text 31"/>
          <p:cNvSpPr/>
          <p:nvPr/>
        </p:nvSpPr>
        <p:spPr>
          <a:xfrm>
            <a:off x="502920" y="6473952"/>
            <a:ext cx="4572000" cy="182880"/>
          </a:xfrm>
          <a:prstGeom prst="rect">
            <a:avLst/>
          </a:prstGeom>
          <a:noFill/>
          <a:ln/>
        </p:spPr>
        <p:txBody>
          <a:bodyPr wrap="square" lIns="0" tIns="0" rIns="0" bIns="0" rtlCol="0" anchor="ctr"/>
          <a:lstStyle/>
          <a:p>
            <a:pPr marL="0" indent="0">
              <a:buNone/>
            </a:pPr>
            <a:r>
              <a:rPr lang="en-US" sz="850" dirty="0">
                <a:solidFill>
                  <a:srgbClr val="6B7280"/>
                </a:solidFill>
              </a:rPr>
              <a:t>Building Web Applications in Django • CAOC</a:t>
            </a:r>
            <a:endParaRPr lang="en-US" sz="850" dirty="0"/>
          </a:p>
        </p:txBody>
      </p:sp>
      <p:sp>
        <p:nvSpPr>
          <p:cNvPr id="34" name="Text 32"/>
          <p:cNvSpPr/>
          <p:nvPr/>
        </p:nvSpPr>
        <p:spPr>
          <a:xfrm>
            <a:off x="11475720" y="6473952"/>
            <a:ext cx="228600" cy="182880"/>
          </a:xfrm>
          <a:prstGeom prst="rect">
            <a:avLst/>
          </a:prstGeom>
          <a:noFill/>
          <a:ln/>
        </p:spPr>
        <p:txBody>
          <a:bodyPr wrap="square" lIns="0" tIns="0" rIns="0" bIns="0" rtlCol="0" anchor="ctr"/>
          <a:lstStyle/>
          <a:p>
            <a:pPr marL="0" indent="0" algn="r">
              <a:buNone/>
            </a:pPr>
            <a:r>
              <a:rPr lang="en-US" sz="850" dirty="0">
                <a:solidFill>
                  <a:srgbClr val="6B7280"/>
                </a:solidFill>
              </a:rPr>
              <a:t>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F7FB"/>
          </a:solidFill>
          <a:ln w="12700">
            <a:solidFill>
              <a:srgbClr val="F4F7FB">
                <a:alpha val="0"/>
              </a:srgbClr>
            </a:solidFill>
            <a:prstDash val="solid"/>
          </a:ln>
        </p:spPr>
        <p:txBody>
          <a:bodyPr/>
          <a:lstStyle/>
          <a:p>
            <a:endParaRPr lang="en-US"/>
          </a:p>
        </p:txBody>
      </p:sp>
      <p:sp>
        <p:nvSpPr>
          <p:cNvPr id="3" name="Shape 1"/>
          <p:cNvSpPr/>
          <p:nvPr/>
        </p:nvSpPr>
        <p:spPr>
          <a:xfrm>
            <a:off x="0" y="0"/>
            <a:ext cx="155448" cy="6858000"/>
          </a:xfrm>
          <a:prstGeom prst="rect">
            <a:avLst/>
          </a:prstGeom>
          <a:solidFill>
            <a:srgbClr val="FFCB05"/>
          </a:solidFill>
          <a:ln w="12700">
            <a:solidFill>
              <a:srgbClr val="FFCB05">
                <a:alpha val="0"/>
              </a:srgbClr>
            </a:solidFill>
            <a:prstDash val="solid"/>
          </a:ln>
        </p:spPr>
        <p:txBody>
          <a:bodyPr/>
          <a:lstStyle/>
          <a:p>
            <a:endParaRPr lang="en-US"/>
          </a:p>
        </p:txBody>
      </p:sp>
      <p:sp>
        <p:nvSpPr>
          <p:cNvPr id="4" name="Text 2"/>
          <p:cNvSpPr/>
          <p:nvPr/>
        </p:nvSpPr>
        <p:spPr>
          <a:xfrm>
            <a:off x="594360" y="402336"/>
            <a:ext cx="5257800" cy="502920"/>
          </a:xfrm>
          <a:prstGeom prst="rect">
            <a:avLst/>
          </a:prstGeom>
          <a:noFill/>
          <a:ln/>
        </p:spPr>
        <p:txBody>
          <a:bodyPr wrap="square" lIns="508" tIns="508" rIns="508" bIns="508" rtlCol="0" anchor="ctr">
            <a:normAutofit/>
          </a:bodyPr>
          <a:lstStyle/>
          <a:p>
            <a:pPr marL="0" indent="0" algn="l">
              <a:buNone/>
            </a:pPr>
            <a:r>
              <a:rPr lang="en-US" sz="3100" b="1" dirty="0">
                <a:solidFill>
                  <a:srgbClr val="00274C"/>
                </a:solidFill>
                <a:latin typeface="Aptos" pitchFamily="34" charset="0"/>
                <a:ea typeface="Aptos" pitchFamily="34" charset="-122"/>
                <a:cs typeface="Aptos" pitchFamily="34" charset="-120"/>
              </a:rPr>
              <a:t>The promise of CLOC</a:t>
            </a:r>
            <a:endParaRPr lang="en-US" sz="3100" dirty="0"/>
          </a:p>
        </p:txBody>
      </p:sp>
      <p:sp>
        <p:nvSpPr>
          <p:cNvPr id="5" name="Text 3"/>
          <p:cNvSpPr/>
          <p:nvPr/>
        </p:nvSpPr>
        <p:spPr>
          <a:xfrm>
            <a:off x="621792" y="941832"/>
            <a:ext cx="5303520" cy="320040"/>
          </a:xfrm>
          <a:prstGeom prst="rect">
            <a:avLst/>
          </a:prstGeom>
          <a:noFill/>
          <a:ln/>
        </p:spPr>
        <p:txBody>
          <a:bodyPr wrap="square" lIns="508" tIns="508" rIns="508" bIns="508" rtlCol="0" anchor="ctr">
            <a:normAutofit fontScale="77500" lnSpcReduction="20000"/>
          </a:bodyPr>
          <a:lstStyle/>
          <a:p>
            <a:pPr marL="0" indent="0" algn="l">
              <a:buNone/>
            </a:pPr>
            <a:r>
              <a:rPr lang="en-US" sz="1500" dirty="0">
                <a:solidFill>
                  <a:srgbClr val="4F5B66"/>
                </a:solidFill>
                <a:latin typeface="Aptos" pitchFamily="34" charset="0"/>
                <a:ea typeface="Aptos" pitchFamily="34" charset="-122"/>
                <a:cs typeface="Aptos" pitchFamily="34" charset="-120"/>
              </a:rPr>
              <a:t>A course design pattern for open learners who need structure and connection.</a:t>
            </a:r>
            <a:endParaRPr lang="en-US" sz="1500" dirty="0"/>
          </a:p>
        </p:txBody>
      </p:sp>
      <p:pic>
        <p:nvPicPr>
          <p:cNvPr id="6" name="Image 0" descr="/mnt/data/a_realistic_high_quality_digital_photo_cgi_style.png"/>
          <p:cNvPicPr>
            <a:picLocks noChangeAspect="1"/>
          </p:cNvPicPr>
          <p:nvPr/>
        </p:nvPicPr>
        <p:blipFill>
          <a:blip r:embed="rId3"/>
          <a:stretch>
            <a:fillRect/>
          </a:stretch>
        </p:blipFill>
        <p:spPr>
          <a:xfrm>
            <a:off x="6263640" y="731520"/>
            <a:ext cx="5212080" cy="5349240"/>
          </a:xfrm>
          <a:prstGeom prst="rect">
            <a:avLst/>
          </a:prstGeom>
        </p:spPr>
      </p:pic>
      <p:sp>
        <p:nvSpPr>
          <p:cNvPr id="7" name="Text 4"/>
          <p:cNvSpPr/>
          <p:nvPr/>
        </p:nvSpPr>
        <p:spPr>
          <a:xfrm>
            <a:off x="777240" y="1508760"/>
            <a:ext cx="4937760" cy="502920"/>
          </a:xfrm>
          <a:prstGeom prst="rect">
            <a:avLst/>
          </a:prstGeom>
          <a:noFill/>
          <a:ln/>
        </p:spPr>
        <p:txBody>
          <a:bodyPr wrap="square" lIns="508" tIns="508" rIns="508" bIns="508" rtlCol="0" anchor="ctr">
            <a:normAutofit fontScale="55000" lnSpcReduction="20000"/>
          </a:bodyPr>
          <a:lstStyle/>
          <a:p>
            <a:pPr marL="0" indent="0" algn="l">
              <a:buNone/>
            </a:pPr>
            <a:r>
              <a:rPr lang="en-US" sz="3300" b="1" dirty="0">
                <a:solidFill>
                  <a:srgbClr val="00274C"/>
                </a:solidFill>
                <a:latin typeface="Aptos" pitchFamily="34" charset="0"/>
                <a:ea typeface="Aptos" pitchFamily="34" charset="-122"/>
                <a:cs typeface="Aptos" pitchFamily="34" charset="-120"/>
              </a:rPr>
              <a:t>Campus-linked does not mean campus-bound.</a:t>
            </a:r>
            <a:endParaRPr lang="en-US" sz="3300" dirty="0"/>
          </a:p>
        </p:txBody>
      </p:sp>
      <p:sp>
        <p:nvSpPr>
          <p:cNvPr id="8" name="Text 5"/>
          <p:cNvSpPr/>
          <p:nvPr/>
        </p:nvSpPr>
        <p:spPr>
          <a:xfrm>
            <a:off x="841248" y="2331720"/>
            <a:ext cx="4892040" cy="1280160"/>
          </a:xfrm>
          <a:prstGeom prst="rect">
            <a:avLst/>
          </a:prstGeom>
          <a:noFill/>
          <a:ln/>
        </p:spPr>
        <p:txBody>
          <a:bodyPr wrap="square" lIns="508" tIns="508" rIns="508" bIns="508" rtlCol="0" anchor="ctr">
            <a:normAutofit fontScale="92500" lnSpcReduction="10000"/>
          </a:bodyPr>
          <a:lstStyle/>
          <a:p>
            <a:pPr marL="0" indent="0" algn="l">
              <a:buNone/>
            </a:pPr>
            <a:r>
              <a:rPr lang="en-US" sz="2500" dirty="0">
                <a:solidFill>
                  <a:srgbClr val="06254A"/>
                </a:solidFill>
                <a:latin typeface="Aptos" pitchFamily="34" charset="0"/>
                <a:ea typeface="Aptos" pitchFamily="34" charset="-122"/>
                <a:cs typeface="Aptos" pitchFamily="34" charset="-120"/>
              </a:rPr>
              <a:t>It means students learn online while staying connected to a real course rhythm, real instructors, real support, and a real learning community.</a:t>
            </a:r>
            <a:endParaRPr lang="en-US" sz="2500" dirty="0"/>
          </a:p>
        </p:txBody>
      </p:sp>
      <p:sp>
        <p:nvSpPr>
          <p:cNvPr id="9" name="Text 6"/>
          <p:cNvSpPr/>
          <p:nvPr/>
        </p:nvSpPr>
        <p:spPr>
          <a:xfrm>
            <a:off x="841248" y="4325112"/>
            <a:ext cx="4800600" cy="502920"/>
          </a:xfrm>
          <a:prstGeom prst="roundRect">
            <a:avLst/>
          </a:prstGeom>
          <a:solidFill>
            <a:srgbClr val="FFCB05"/>
          </a:solidFill>
          <a:ln>
            <a:solidFill>
              <a:srgbClr val="FFCB05">
                <a:alpha val="0"/>
              </a:srgbClr>
            </a:solidFill>
          </a:ln>
        </p:spPr>
        <p:txBody>
          <a:bodyPr wrap="square" lIns="508" tIns="508" rIns="508" bIns="508" rtlCol="0" anchor="ctr">
            <a:normAutofit/>
          </a:bodyPr>
          <a:lstStyle/>
          <a:p>
            <a:pPr marL="0" indent="0" algn="ctr">
              <a:buNone/>
            </a:pPr>
            <a:r>
              <a:rPr lang="en-US" sz="1400" b="1" dirty="0">
                <a:solidFill>
                  <a:srgbClr val="00274C"/>
                </a:solidFill>
                <a:latin typeface="Aptos" pitchFamily="34" charset="0"/>
                <a:ea typeface="Aptos" pitchFamily="34" charset="-122"/>
                <a:cs typeface="Aptos" pitchFamily="34" charset="-120"/>
              </a:rPr>
              <a:t>CLOC = Online flexibility + Campus connection</a:t>
            </a:r>
            <a:endParaRPr lang="en-US" sz="1400" dirty="0"/>
          </a:p>
        </p:txBody>
      </p:sp>
      <p:sp>
        <p:nvSpPr>
          <p:cNvPr id="10" name="Text 7"/>
          <p:cNvSpPr/>
          <p:nvPr/>
        </p:nvSpPr>
        <p:spPr>
          <a:xfrm>
            <a:off x="914400" y="5074920"/>
            <a:ext cx="4572000" cy="320040"/>
          </a:xfrm>
          <a:prstGeom prst="rect">
            <a:avLst/>
          </a:prstGeom>
          <a:noFill/>
          <a:ln/>
        </p:spPr>
        <p:txBody>
          <a:bodyPr wrap="square" lIns="508" tIns="508" rIns="508" bIns="508" rtlCol="0" anchor="ctr">
            <a:normAutofit fontScale="85000" lnSpcReduction="10000"/>
          </a:bodyPr>
          <a:lstStyle/>
          <a:p>
            <a:pPr marL="0" indent="0" algn="l">
              <a:buNone/>
            </a:pPr>
            <a:r>
              <a:rPr lang="en-US" sz="1900" i="1" dirty="0">
                <a:solidFill>
                  <a:srgbClr val="4F5B66"/>
                </a:solidFill>
                <a:latin typeface="Aptos" pitchFamily="34" charset="0"/>
                <a:ea typeface="Aptos" pitchFamily="34" charset="-122"/>
                <a:cs typeface="Aptos" pitchFamily="34" charset="-120"/>
              </a:rPr>
              <a:t>Questions and feedback will shape the next offering.</a:t>
            </a:r>
            <a:endParaRPr lang="en-US" sz="1900" dirty="0"/>
          </a:p>
        </p:txBody>
      </p:sp>
      <p:sp>
        <p:nvSpPr>
          <p:cNvPr id="11" name="Text 8"/>
          <p:cNvSpPr/>
          <p:nvPr/>
        </p:nvSpPr>
        <p:spPr>
          <a:xfrm>
            <a:off x="594360" y="6473952"/>
            <a:ext cx="4572000" cy="201168"/>
          </a:xfrm>
          <a:prstGeom prst="rect">
            <a:avLst/>
          </a:prstGeom>
          <a:noFill/>
          <a:ln/>
        </p:spPr>
        <p:txBody>
          <a:bodyPr wrap="square" lIns="508" tIns="508" rIns="508" bIns="508" rtlCol="0" anchor="ctr">
            <a:normAutofit/>
          </a:bodyPr>
          <a:lstStyle/>
          <a:p>
            <a:pPr marL="0" indent="0" algn="l">
              <a:buNone/>
            </a:pPr>
            <a:r>
              <a:rPr lang="en-US" sz="850" dirty="0">
                <a:solidFill>
                  <a:srgbClr val="778899"/>
                </a:solidFill>
                <a:latin typeface="Aptos" pitchFamily="34" charset="0"/>
                <a:ea typeface="Aptos" pitchFamily="34" charset="-122"/>
                <a:cs typeface="Aptos" pitchFamily="34" charset="-120"/>
              </a:rPr>
              <a:t>CLOC: Campus-Linked Online Course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0F2233"/>
        </a:solidFill>
        <a:effectLst/>
      </p:bgPr>
    </p:bg>
    <p:spTree>
      <p:nvGrpSpPr>
        <p:cNvPr id="1" name=""/>
        <p:cNvGrpSpPr/>
        <p:nvPr/>
      </p:nvGrpSpPr>
      <p:grpSpPr>
        <a:xfrm>
          <a:off x="0" y="0"/>
          <a:ext cx="0" cy="0"/>
          <a:chOff x="0" y="0"/>
          <a:chExt cx="0" cy="0"/>
        </a:xfrm>
      </p:grpSpPr>
      <p:sp>
        <p:nvSpPr>
          <p:cNvPr id="2" name="Shape 0"/>
          <p:cNvSpPr/>
          <p:nvPr/>
        </p:nvSpPr>
        <p:spPr>
          <a:xfrm>
            <a:off x="0" y="0"/>
            <a:ext cx="5074920" cy="6858000"/>
          </a:xfrm>
          <a:prstGeom prst="rect">
            <a:avLst/>
          </a:prstGeom>
          <a:solidFill>
            <a:srgbClr val="0F2233"/>
          </a:solidFill>
          <a:ln w="12700">
            <a:solidFill>
              <a:srgbClr val="0F2233">
                <a:alpha val="0"/>
              </a:srgbClr>
            </a:solidFill>
            <a:prstDash val="solid"/>
          </a:ln>
        </p:spPr>
        <p:txBody>
          <a:bodyPr/>
          <a:lstStyle/>
          <a:p>
            <a:endParaRPr/>
          </a:p>
        </p:txBody>
      </p:sp>
      <p:sp>
        <p:nvSpPr>
          <p:cNvPr id="4" name="Text 1"/>
          <p:cNvSpPr/>
          <p:nvPr/>
        </p:nvSpPr>
        <p:spPr>
          <a:xfrm>
            <a:off x="685800" y="685800"/>
            <a:ext cx="4023360" cy="502920"/>
          </a:xfrm>
          <a:prstGeom prst="rect">
            <a:avLst/>
          </a:prstGeom>
          <a:noFill/>
          <a:ln/>
        </p:spPr>
        <p:txBody>
          <a:bodyPr wrap="square" lIns="0" tIns="0" rIns="0" bIns="0" rtlCol="0" anchor="ctr"/>
          <a:lstStyle/>
          <a:p>
            <a:pPr marL="0" indent="0">
              <a:buNone/>
            </a:pPr>
            <a:r>
              <a:rPr lang="en-US" sz="3400" b="1" dirty="0">
                <a:solidFill>
                  <a:srgbClr val="FFFFFF"/>
                </a:solidFill>
              </a:rPr>
              <a:t>One course.</a:t>
            </a:r>
            <a:endParaRPr lang="en-US" sz="3400" dirty="0"/>
          </a:p>
        </p:txBody>
      </p:sp>
      <p:sp>
        <p:nvSpPr>
          <p:cNvPr id="5" name="Text 2"/>
          <p:cNvSpPr/>
          <p:nvPr/>
        </p:nvSpPr>
        <p:spPr>
          <a:xfrm>
            <a:off x="685800" y="1389888"/>
            <a:ext cx="4023360" cy="868680"/>
          </a:xfrm>
          <a:prstGeom prst="rect">
            <a:avLst/>
          </a:prstGeom>
          <a:noFill/>
          <a:ln/>
        </p:spPr>
        <p:txBody>
          <a:bodyPr wrap="square" lIns="0" tIns="0" rIns="0" bIns="0" rtlCol="0" anchor="ctr">
            <a:normAutofit fontScale="92500" lnSpcReduction="10000"/>
          </a:bodyPr>
          <a:lstStyle/>
          <a:p>
            <a:pPr marL="0" indent="0">
              <a:buNone/>
            </a:pPr>
            <a:r>
              <a:rPr lang="en-US" sz="3300" b="1" dirty="0">
                <a:solidFill>
                  <a:srgbClr val="FFFFFF"/>
                </a:solidFill>
              </a:rPr>
              <a:t>Campus and open sections.</a:t>
            </a:r>
            <a:endParaRPr lang="en-US" sz="3300" dirty="0"/>
          </a:p>
        </p:txBody>
      </p:sp>
      <p:sp>
        <p:nvSpPr>
          <p:cNvPr id="6" name="Text 3"/>
          <p:cNvSpPr/>
          <p:nvPr/>
        </p:nvSpPr>
        <p:spPr>
          <a:xfrm>
            <a:off x="713232" y="2578608"/>
            <a:ext cx="3977640" cy="1280160"/>
          </a:xfrm>
          <a:prstGeom prst="rect">
            <a:avLst/>
          </a:prstGeom>
          <a:noFill/>
          <a:ln/>
        </p:spPr>
        <p:txBody>
          <a:bodyPr wrap="square" lIns="0" tIns="0" rIns="0" bIns="0" rtlCol="0" anchor="ctr">
            <a:normAutofit lnSpcReduction="10000"/>
          </a:bodyPr>
          <a:lstStyle/>
          <a:p>
            <a:pPr marL="0" indent="0">
              <a:buNone/>
            </a:pPr>
            <a:r>
              <a:rPr lang="en-US" sz="2200" dirty="0">
                <a:solidFill>
                  <a:srgbClr val="E9F6F6"/>
                </a:solidFill>
              </a:rPr>
              <a:t>A shared schedule, a shared instructional community, and a better chance to feel connected to the process of learning.</a:t>
            </a:r>
            <a:endParaRPr lang="en-US" sz="2200" dirty="0"/>
          </a:p>
        </p:txBody>
      </p:sp>
      <p:sp>
        <p:nvSpPr>
          <p:cNvPr id="7" name="Text 4"/>
          <p:cNvSpPr/>
          <p:nvPr/>
        </p:nvSpPr>
        <p:spPr>
          <a:xfrm>
            <a:off x="713232" y="4892040"/>
            <a:ext cx="4114800" cy="502920"/>
          </a:xfrm>
          <a:prstGeom prst="rect">
            <a:avLst/>
          </a:prstGeom>
          <a:noFill/>
          <a:ln/>
        </p:spPr>
        <p:txBody>
          <a:bodyPr wrap="square" lIns="0" tIns="0" rIns="0" bIns="0" rtlCol="0" anchor="ctr"/>
          <a:lstStyle/>
          <a:p>
            <a:pPr marL="0" indent="0">
              <a:buNone/>
            </a:pPr>
            <a:r>
              <a:rPr lang="en-US" sz="3000" b="1" dirty="0">
                <a:solidFill>
                  <a:srgbClr val="F8C463"/>
                </a:solidFill>
              </a:rPr>
              <a:t>Welcome to the first CLOC</a:t>
            </a:r>
            <a:endParaRPr lang="en-US" sz="3000" dirty="0"/>
          </a:p>
        </p:txBody>
      </p:sp>
      <p:pic>
        <p:nvPicPr>
          <p:cNvPr id="10" name="Picture 9" descr="A computer on a desk&#10;&#10;AI-generated content may be incorrect.">
            <a:extLst>
              <a:ext uri="{FF2B5EF4-FFF2-40B4-BE49-F238E27FC236}">
                <a16:creationId xmlns:a16="http://schemas.microsoft.com/office/drawing/2014/main" id="{1D005A04-63CA-8D32-4E96-F117BBA88862}"/>
              </a:ext>
            </a:extLst>
          </p:cNvPr>
          <p:cNvPicPr>
            <a:picLocks noChangeAspect="1"/>
          </p:cNvPicPr>
          <p:nvPr/>
        </p:nvPicPr>
        <p:blipFill>
          <a:blip r:embed="rId3"/>
          <a:stretch>
            <a:fillRect/>
          </a:stretch>
        </p:blipFill>
        <p:spPr>
          <a:xfrm>
            <a:off x="5375000" y="1261872"/>
            <a:ext cx="6817000" cy="383660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276</TotalTime>
  <Words>1074</Words>
  <Application>Microsoft Macintosh PowerPoint</Application>
  <PresentationFormat>Widescreen</PresentationFormat>
  <Paragraphs>189</Paragraphs>
  <Slides>14</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Building Web Applications in Django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Web Applications in Django: A Campus Aligned Open Course</dc:title>
  <dc:subject>CAOC Introduction</dc:subject>
  <dc:creator>Dr. Chuck</dc:creator>
  <cp:lastModifiedBy>Severance, Charles</cp:lastModifiedBy>
  <cp:revision>12</cp:revision>
  <dcterms:created xsi:type="dcterms:W3CDTF">2026-07-22T14:19:06Z</dcterms:created>
  <dcterms:modified xsi:type="dcterms:W3CDTF">2026-07-27T17:02:25Z</dcterms:modified>
</cp:coreProperties>
</file>