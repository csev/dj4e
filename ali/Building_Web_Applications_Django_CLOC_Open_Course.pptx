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72" r:id="rId3"/>
    <p:sldId id="258" r:id="rId4"/>
    <p:sldId id="261" r:id="rId5"/>
    <p:sldId id="268" r:id="rId6"/>
    <p:sldId id="270" r:id="rId7"/>
    <p:sldId id="271" r:id="rId8"/>
    <p:sldId id="264" r:id="rId9"/>
    <p:sldId id="265"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34"/>
    <p:restoredTop sz="94706"/>
  </p:normalViewPr>
  <p:slideViewPr>
    <p:cSldViewPr snapToGrid="0" snapToObjects="1">
      <p:cViewPr varScale="1">
        <p:scale>
          <a:sx n="127" d="100"/>
          <a:sy n="127" d="100"/>
        </p:scale>
        <p:origin x="408"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999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Dr. Chuck, and I want to tell you about a new way that I’m offering Building Web Applications in Django, beginning August 1. I’m calling it a CLOC: a Campus Linked Open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62AA6-8F8D-C7EB-4A6E-C99FE154C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8AD2D4-1183-C0A8-0796-6AECCCA9F6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CAE18F-5E6A-7CAB-0C9B-E1D2C98C91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86B784-6A68-F2C1-45C9-0418794995E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257445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Online learners will have access to scheduled office hours and selected sessions involving the campus teaching team and teaching assistants. The goal is not to pretend that the online and campus experiences are identical. They are not. The goal is alignment.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experiment, and we will learn from it as we go. Online students will be encouraged to share feedback during office hours, in live sessions, and by email. When several people struggle with the same assignment or explanation, that is useful information. We may add examples, clarify instructions, adjust sessions, or create additional material.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there is an important space between a completely self-paced online course and formal university enrollment. A Campus-Linked Open Course is meant to occupy that space. One course. Campus and online learners. A shared schedule, a shared instructional community, and a better chance for online learners to feel connected. Welcome to Building Web Applications in Django. Welcome to the experiment. And welcome to the CLOC.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CLOC_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027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4.jp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233"/>
        </a:solidFill>
        <a:effectLst/>
      </p:bgPr>
    </p:bg>
    <p:spTree>
      <p:nvGrpSpPr>
        <p:cNvPr id="1" name=""/>
        <p:cNvGrpSpPr/>
        <p:nvPr/>
      </p:nvGrpSpPr>
      <p:grpSpPr>
        <a:xfrm>
          <a:off x="0" y="0"/>
          <a:ext cx="0" cy="0"/>
          <a:chOff x="0" y="0"/>
          <a:chExt cx="0" cy="0"/>
        </a:xfrm>
      </p:grpSpPr>
      <p:sp>
        <p:nvSpPr>
          <p:cNvPr id="3" name="Shape 0"/>
          <p:cNvSpPr/>
          <p:nvPr/>
        </p:nvSpPr>
        <p:spPr>
          <a:xfrm>
            <a:off x="0" y="0"/>
            <a:ext cx="5943600" cy="6858000"/>
          </a:xfrm>
          <a:prstGeom prst="rect">
            <a:avLst/>
          </a:prstGeom>
          <a:solidFill>
            <a:srgbClr val="0F2233">
              <a:alpha val="93000"/>
            </a:srgbClr>
          </a:solidFill>
          <a:ln w="12700">
            <a:solidFill>
              <a:srgbClr val="0F2233">
                <a:alpha val="0"/>
              </a:srgbClr>
            </a:solidFill>
            <a:prstDash val="solid"/>
          </a:ln>
        </p:spPr>
        <p:txBody>
          <a:bodyPr/>
          <a:lstStyle/>
          <a:p>
            <a:endParaRPr/>
          </a:p>
        </p:txBody>
      </p:sp>
      <p:sp>
        <p:nvSpPr>
          <p:cNvPr id="4" name="Text 1"/>
          <p:cNvSpPr/>
          <p:nvPr/>
        </p:nvSpPr>
        <p:spPr>
          <a:xfrm>
            <a:off x="594360" y="566928"/>
            <a:ext cx="4846320" cy="1143000"/>
          </a:xfrm>
          <a:prstGeom prst="rect">
            <a:avLst/>
          </a:prstGeom>
          <a:noFill/>
          <a:ln/>
        </p:spPr>
        <p:txBody>
          <a:bodyPr wrap="square" lIns="0" tIns="0" rIns="0" bIns="0" rtlCol="0" anchor="ctr">
            <a:normAutofit/>
          </a:bodyPr>
          <a:lstStyle/>
          <a:p>
            <a:pPr marL="0" indent="0">
              <a:buNone/>
            </a:pPr>
            <a:r>
              <a:rPr lang="en-US" sz="3200" b="1" dirty="0">
                <a:solidFill>
                  <a:srgbClr val="FFFFFF"/>
                </a:solidFill>
                <a:latin typeface="Aptos Display" pitchFamily="34" charset="0"/>
                <a:ea typeface="Aptos Display" pitchFamily="34" charset="-122"/>
                <a:cs typeface="Aptos Display" pitchFamily="34" charset="-120"/>
              </a:rPr>
              <a:t>Building Web Applications</a:t>
            </a:r>
            <a:endParaRPr lang="en-US" sz="3200" dirty="0"/>
          </a:p>
          <a:p>
            <a:pPr marL="0" indent="0">
              <a:buNone/>
            </a:pPr>
            <a:r>
              <a:rPr lang="en-US" sz="3200" b="1" dirty="0">
                <a:solidFill>
                  <a:srgbClr val="FFFFFF"/>
                </a:solidFill>
                <a:latin typeface="Aptos Display" pitchFamily="34" charset="0"/>
                <a:ea typeface="Aptos Display" pitchFamily="34" charset="-122"/>
                <a:cs typeface="Aptos Display" pitchFamily="34" charset="-120"/>
              </a:rPr>
              <a:t>in Django</a:t>
            </a:r>
            <a:endParaRPr lang="en-US" sz="3200" dirty="0"/>
          </a:p>
        </p:txBody>
      </p:sp>
      <p:sp>
        <p:nvSpPr>
          <p:cNvPr id="5" name="Text 2"/>
          <p:cNvSpPr/>
          <p:nvPr/>
        </p:nvSpPr>
        <p:spPr>
          <a:xfrm>
            <a:off x="612648" y="1828800"/>
            <a:ext cx="4754880" cy="320040"/>
          </a:xfrm>
          <a:prstGeom prst="rect">
            <a:avLst/>
          </a:prstGeom>
          <a:noFill/>
          <a:ln/>
        </p:spPr>
        <p:txBody>
          <a:bodyPr wrap="square" lIns="0" tIns="0" rIns="0" bIns="0" rtlCol="0" anchor="ctr"/>
          <a:lstStyle/>
          <a:p>
            <a:pPr marL="0" indent="0">
              <a:buNone/>
            </a:pPr>
            <a:r>
              <a:rPr lang="en-US" sz="1900" dirty="0">
                <a:solidFill>
                  <a:srgbClr val="E9F6F6"/>
                </a:solidFill>
              </a:rPr>
              <a:t>A Campus-Linked Open Course</a:t>
            </a:r>
            <a:endParaRPr lang="en-US" sz="1900" dirty="0"/>
          </a:p>
        </p:txBody>
      </p:sp>
      <p:sp>
        <p:nvSpPr>
          <p:cNvPr id="6" name="Text 3"/>
          <p:cNvSpPr/>
          <p:nvPr/>
        </p:nvSpPr>
        <p:spPr>
          <a:xfrm>
            <a:off x="603504" y="2359152"/>
            <a:ext cx="4297680" cy="731520"/>
          </a:xfrm>
          <a:prstGeom prst="rect">
            <a:avLst/>
          </a:prstGeom>
          <a:noFill/>
          <a:ln/>
        </p:spPr>
        <p:txBody>
          <a:bodyPr wrap="square" lIns="0" tIns="0" rIns="0" bIns="0" rtlCol="0" anchor="ctr"/>
          <a:lstStyle/>
          <a:p>
            <a:pPr marL="0" indent="0">
              <a:buNone/>
            </a:pPr>
            <a:r>
              <a:rPr lang="en-US" sz="5600" b="1" dirty="0">
                <a:solidFill>
                  <a:srgbClr val="F8C463"/>
                </a:solidFill>
                <a:latin typeface="Aptos Display" pitchFamily="34" charset="0"/>
                <a:ea typeface="Aptos Display" pitchFamily="34" charset="-122"/>
                <a:cs typeface="Aptos Display" pitchFamily="34" charset="-120"/>
              </a:rPr>
              <a:t>CLOC</a:t>
            </a:r>
            <a:endParaRPr lang="en-US" sz="5600" dirty="0"/>
          </a:p>
        </p:txBody>
      </p:sp>
      <p:sp>
        <p:nvSpPr>
          <p:cNvPr id="7" name="Text 4"/>
          <p:cNvSpPr/>
          <p:nvPr/>
        </p:nvSpPr>
        <p:spPr>
          <a:xfrm>
            <a:off x="658368" y="3273552"/>
            <a:ext cx="4297680" cy="320040"/>
          </a:xfrm>
          <a:prstGeom prst="rect">
            <a:avLst/>
          </a:prstGeom>
          <a:noFill/>
          <a:ln/>
        </p:spPr>
        <p:txBody>
          <a:bodyPr wrap="square" lIns="0" tIns="0" rIns="0" bIns="0" rtlCol="0" anchor="ctr"/>
          <a:lstStyle/>
          <a:p>
            <a:pPr marL="0" indent="0">
              <a:buNone/>
            </a:pPr>
            <a:r>
              <a:rPr lang="en-US" sz="1800" dirty="0">
                <a:solidFill>
                  <a:srgbClr val="FFFFFF"/>
                </a:solidFill>
              </a:rPr>
              <a:t>First offering begins August 1</a:t>
            </a:r>
            <a:endParaRPr lang="en-US" sz="1800" dirty="0"/>
          </a:p>
        </p:txBody>
      </p:sp>
      <p:sp>
        <p:nvSpPr>
          <p:cNvPr id="8" name="Shape 5"/>
          <p:cNvSpPr/>
          <p:nvPr/>
        </p:nvSpPr>
        <p:spPr>
          <a:xfrm>
            <a:off x="658368" y="3840480"/>
            <a:ext cx="2880360" cy="384048"/>
          </a:xfrm>
          <a:prstGeom prst="roundRect">
            <a:avLst>
              <a:gd name="adj" fmla="val 19048"/>
            </a:avLst>
          </a:prstGeom>
          <a:solidFill>
            <a:srgbClr val="138A96"/>
          </a:solidFill>
          <a:ln w="12700">
            <a:solidFill>
              <a:srgbClr val="138A96">
                <a:alpha val="0"/>
              </a:srgbClr>
            </a:solidFill>
            <a:prstDash val="solid"/>
          </a:ln>
        </p:spPr>
        <p:txBody>
          <a:bodyPr/>
          <a:lstStyle/>
          <a:p>
            <a:endParaRPr/>
          </a:p>
        </p:txBody>
      </p:sp>
      <p:sp>
        <p:nvSpPr>
          <p:cNvPr id="9" name="Text 6"/>
          <p:cNvSpPr/>
          <p:nvPr/>
        </p:nvSpPr>
        <p:spPr>
          <a:xfrm>
            <a:off x="768096" y="3922776"/>
            <a:ext cx="2660904" cy="182880"/>
          </a:xfrm>
          <a:prstGeom prst="rect">
            <a:avLst/>
          </a:prstGeom>
          <a:noFill/>
          <a:ln/>
        </p:spPr>
        <p:txBody>
          <a:bodyPr wrap="square" lIns="0" tIns="0" rIns="0" bIns="0" rtlCol="0" anchor="ctr"/>
          <a:lstStyle/>
          <a:p>
            <a:pPr marL="0" indent="0" algn="ctr">
              <a:buNone/>
            </a:pPr>
            <a:r>
              <a:rPr lang="en-US" sz="1150" b="1" dirty="0">
                <a:solidFill>
                  <a:srgbClr val="FFFFFF"/>
                </a:solidFill>
              </a:rPr>
              <a:t>$300 • supports instructional staff</a:t>
            </a:r>
            <a:endParaRPr lang="en-US" sz="1150" dirty="0"/>
          </a:p>
        </p:txBody>
      </p:sp>
      <p:sp>
        <p:nvSpPr>
          <p:cNvPr id="2" name="Text 6">
            <a:extLst>
              <a:ext uri="{FF2B5EF4-FFF2-40B4-BE49-F238E27FC236}">
                <a16:creationId xmlns:a16="http://schemas.microsoft.com/office/drawing/2014/main" id="{20BAB88A-5B40-25CF-4959-C20D7F46BC69}"/>
              </a:ext>
            </a:extLst>
          </p:cNvPr>
          <p:cNvSpPr/>
          <p:nvPr/>
        </p:nvSpPr>
        <p:spPr>
          <a:xfrm>
            <a:off x="640080" y="4509708"/>
            <a:ext cx="480060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This is an experiment to explore feasibility of this course model.</a:t>
            </a:r>
            <a:endParaRPr lang="en-US" sz="1400" dirty="0"/>
          </a:p>
        </p:txBody>
      </p:sp>
      <p:sp>
        <p:nvSpPr>
          <p:cNvPr id="11" name="TextBox 10">
            <a:extLst>
              <a:ext uri="{FF2B5EF4-FFF2-40B4-BE49-F238E27FC236}">
                <a16:creationId xmlns:a16="http://schemas.microsoft.com/office/drawing/2014/main" id="{86348356-21D6-B404-353E-9CAD96DE0212}"/>
              </a:ext>
            </a:extLst>
          </p:cNvPr>
          <p:cNvSpPr txBox="1"/>
          <p:nvPr/>
        </p:nvSpPr>
        <p:spPr>
          <a:xfrm>
            <a:off x="1159627" y="5263082"/>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sp>
        <p:nvSpPr>
          <p:cNvPr id="12" name="Shape 0">
            <a:extLst>
              <a:ext uri="{FF2B5EF4-FFF2-40B4-BE49-F238E27FC236}">
                <a16:creationId xmlns:a16="http://schemas.microsoft.com/office/drawing/2014/main" id="{0D82E5D1-7BE7-95D6-2F90-D898443A3873}"/>
              </a:ext>
            </a:extLst>
          </p:cNvPr>
          <p:cNvSpPr/>
          <p:nvPr/>
        </p:nvSpPr>
        <p:spPr>
          <a:xfrm>
            <a:off x="3619263" y="6291072"/>
            <a:ext cx="3606259" cy="502920"/>
          </a:xfrm>
          <a:prstGeom prst="rect">
            <a:avLst/>
          </a:prstGeom>
          <a:solidFill>
            <a:srgbClr val="0F2233"/>
          </a:solidFill>
          <a:ln w="12700">
            <a:solidFill>
              <a:srgbClr val="0F2233">
                <a:alpha val="0"/>
              </a:srgbClr>
            </a:solidFill>
            <a:prstDash val="solid"/>
          </a:ln>
        </p:spPr>
        <p:txBody>
          <a:bodyPr/>
          <a:lstStyle/>
          <a:p>
            <a:endParaRPr/>
          </a:p>
        </p:txBody>
      </p:sp>
      <p:pic>
        <p:nvPicPr>
          <p:cNvPr id="14" name="Picture 13" descr="A computer on a desk&#10;&#10;AI-generated content may be incorrect.">
            <a:extLst>
              <a:ext uri="{FF2B5EF4-FFF2-40B4-BE49-F238E27FC236}">
                <a16:creationId xmlns:a16="http://schemas.microsoft.com/office/drawing/2014/main" id="{2993E7BA-2990-0A8D-F715-F7D767362E5C}"/>
              </a:ext>
            </a:extLst>
          </p:cNvPr>
          <p:cNvPicPr>
            <a:picLocks noChangeAspect="1"/>
          </p:cNvPicPr>
          <p:nvPr/>
        </p:nvPicPr>
        <p:blipFill>
          <a:blip r:embed="rId3"/>
          <a:srcRect r="50484" b="10404"/>
          <a:stretch>
            <a:fillRect/>
          </a:stretch>
        </p:blipFill>
        <p:spPr>
          <a:xfrm>
            <a:off x="5921839" y="1389888"/>
            <a:ext cx="2924852" cy="2978566"/>
          </a:xfrm>
          <a:prstGeom prst="rect">
            <a:avLst/>
          </a:prstGeom>
        </p:spPr>
      </p:pic>
      <p:sp>
        <p:nvSpPr>
          <p:cNvPr id="15" name="TextBox 14">
            <a:extLst>
              <a:ext uri="{FF2B5EF4-FFF2-40B4-BE49-F238E27FC236}">
                <a16:creationId xmlns:a16="http://schemas.microsoft.com/office/drawing/2014/main" id="{74BB14BB-0209-ED99-A060-BD3467519881}"/>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13" name="Picture 12" descr="A qr code on a white background&#10;&#10;AI-generated content may be incorrect.">
            <a:extLst>
              <a:ext uri="{FF2B5EF4-FFF2-40B4-BE49-F238E27FC236}">
                <a16:creationId xmlns:a16="http://schemas.microsoft.com/office/drawing/2014/main" id="{4CD458DA-3BF5-FB52-A886-A1F3651EF3C0}"/>
              </a:ext>
            </a:extLst>
          </p:cNvPr>
          <p:cNvPicPr>
            <a:picLocks noChangeAspect="1"/>
          </p:cNvPicPr>
          <p:nvPr/>
        </p:nvPicPr>
        <p:blipFill>
          <a:blip r:embed="rId4"/>
          <a:stretch>
            <a:fillRect/>
          </a:stretch>
        </p:blipFill>
        <p:spPr>
          <a:xfrm>
            <a:off x="9052663" y="1427813"/>
            <a:ext cx="2912131" cy="29121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0EFC6-1BA2-B0CD-1FC7-9218A2D3862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617FB29-3A52-7140-9402-42F72579FA6C}"/>
              </a:ext>
            </a:extLst>
          </p:cNvPr>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a:extLst>
              <a:ext uri="{FF2B5EF4-FFF2-40B4-BE49-F238E27FC236}">
                <a16:creationId xmlns:a16="http://schemas.microsoft.com/office/drawing/2014/main" id="{A7146B00-408C-68F6-FD7C-0A5AB5211364}"/>
              </a:ext>
            </a:extLst>
          </p:cNvPr>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a:extLst>
              <a:ext uri="{FF2B5EF4-FFF2-40B4-BE49-F238E27FC236}">
                <a16:creationId xmlns:a16="http://schemas.microsoft.com/office/drawing/2014/main" id="{494669E4-D482-46F8-8ACC-9DE5E799D439}"/>
              </a:ext>
            </a:extLst>
          </p:cNvPr>
          <p:cNvSpPr/>
          <p:nvPr/>
        </p:nvSpPr>
        <p:spPr>
          <a:xfrm>
            <a:off x="594359" y="402336"/>
            <a:ext cx="6224129" cy="502920"/>
          </a:xfrm>
          <a:prstGeom prst="rect">
            <a:avLst/>
          </a:prstGeom>
          <a:noFill/>
          <a:ln/>
        </p:spPr>
        <p:txBody>
          <a:bodyPr wrap="square" lIns="508" tIns="508" rIns="508" bIns="508" rtlCol="0" anchor="ctr">
            <a:normAutofit fontScale="70000" lnSpcReduction="20000"/>
          </a:bodyPr>
          <a:lstStyle/>
          <a:p>
            <a:pPr marL="0" indent="0" algn="l">
              <a:buNone/>
            </a:pPr>
            <a:r>
              <a:rPr lang="en-US" sz="3100" b="1" dirty="0">
                <a:solidFill>
                  <a:srgbClr val="00274C"/>
                </a:solidFill>
                <a:latin typeface="Aptos" pitchFamily="34" charset="0"/>
                <a:ea typeface="Aptos" pitchFamily="34" charset="-122"/>
                <a:cs typeface="Aptos" pitchFamily="34" charset="-120"/>
              </a:rPr>
              <a:t>What is a Campus-Linked Open Course (CLOC)?</a:t>
            </a:r>
            <a:endParaRPr lang="en-US" sz="3100" dirty="0"/>
          </a:p>
        </p:txBody>
      </p:sp>
      <p:sp>
        <p:nvSpPr>
          <p:cNvPr id="5" name="Text 3">
            <a:extLst>
              <a:ext uri="{FF2B5EF4-FFF2-40B4-BE49-F238E27FC236}">
                <a16:creationId xmlns:a16="http://schemas.microsoft.com/office/drawing/2014/main" id="{B18B57EB-E0B1-7D51-27D4-37DE9EB60643}"/>
              </a:ext>
            </a:extLst>
          </p:cNvPr>
          <p:cNvSpPr/>
          <p:nvPr/>
        </p:nvSpPr>
        <p:spPr>
          <a:xfrm>
            <a:off x="621791" y="941832"/>
            <a:ext cx="7092543"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CLOC is tightly linked to an on-campus section of a course which it is being taught</a:t>
            </a:r>
            <a:endParaRPr lang="en-US" sz="1500" dirty="0"/>
          </a:p>
        </p:txBody>
      </p:sp>
      <p:sp>
        <p:nvSpPr>
          <p:cNvPr id="6" name="Shape 4">
            <a:extLst>
              <a:ext uri="{FF2B5EF4-FFF2-40B4-BE49-F238E27FC236}">
                <a16:creationId xmlns:a16="http://schemas.microsoft.com/office/drawing/2014/main" id="{0F113861-FD82-E8DA-F8E0-75EFCACFB105}"/>
              </a:ext>
            </a:extLst>
          </p:cNvPr>
          <p:cNvSpPr/>
          <p:nvPr/>
        </p:nvSpPr>
        <p:spPr>
          <a:xfrm>
            <a:off x="749808" y="1417320"/>
            <a:ext cx="3017520" cy="4434840"/>
          </a:xfrm>
          <a:prstGeom prst="roundRect">
            <a:avLst>
              <a:gd name="adj" fmla="val 1818"/>
            </a:avLst>
          </a:prstGeom>
          <a:solidFill>
            <a:srgbClr val="E8EEF6"/>
          </a:solidFill>
          <a:ln w="12700">
            <a:solidFill>
              <a:srgbClr val="C6D1DD"/>
            </a:solidFill>
            <a:prstDash val="solid"/>
          </a:ln>
        </p:spPr>
        <p:txBody>
          <a:bodyPr/>
          <a:lstStyle/>
          <a:p>
            <a:pPr algn="ctr"/>
            <a:r>
              <a:rPr lang="en-US" sz="2400" b="1" dirty="0"/>
              <a:t>MOOC</a:t>
            </a:r>
            <a:endParaRPr lang="en-US" b="1" dirty="0"/>
          </a:p>
          <a:p>
            <a:endParaRPr lang="en-US" dirty="0"/>
          </a:p>
          <a:p>
            <a:r>
              <a:rPr lang="en-US" dirty="0">
                <a:solidFill>
                  <a:srgbClr val="06254A"/>
                </a:solidFill>
                <a:latin typeface="Aptos" pitchFamily="34" charset="0"/>
                <a:ea typeface="Aptos" pitchFamily="34" charset="-122"/>
                <a:cs typeface="Aptos" pitchFamily="34" charset="-120"/>
              </a:rPr>
              <a:t>open access</a:t>
            </a:r>
            <a:endParaRPr lang="en-US" dirty="0"/>
          </a:p>
          <a:p>
            <a:r>
              <a:rPr lang="en-US" dirty="0">
                <a:solidFill>
                  <a:srgbClr val="06254A"/>
                </a:solidFill>
                <a:latin typeface="Aptos" pitchFamily="34" charset="0"/>
                <a:ea typeface="Aptos" pitchFamily="34" charset="-122"/>
                <a:cs typeface="Aptos" pitchFamily="34" charset="-120"/>
              </a:rPr>
              <a:t>large scale</a:t>
            </a:r>
          </a:p>
          <a:p>
            <a:endParaRPr lang="en-US" dirty="0"/>
          </a:p>
          <a:p>
            <a:r>
              <a:rPr lang="en-US" dirty="0">
                <a:solidFill>
                  <a:srgbClr val="06254A"/>
                </a:solidFill>
                <a:latin typeface="Aptos" pitchFamily="34" charset="0"/>
                <a:ea typeface="Aptos" pitchFamily="34" charset="-122"/>
                <a:cs typeface="Aptos" pitchFamily="34" charset="-120"/>
              </a:rPr>
              <a:t>mostly self-directed</a:t>
            </a:r>
            <a:endParaRPr lang="en-US" dirty="0"/>
          </a:p>
          <a:p>
            <a:r>
              <a:rPr lang="en-US" dirty="0">
                <a:solidFill>
                  <a:srgbClr val="06254A"/>
                </a:solidFill>
                <a:latin typeface="Aptos" pitchFamily="34" charset="0"/>
                <a:ea typeface="Aptos" pitchFamily="34" charset="-122"/>
                <a:cs typeface="Aptos" pitchFamily="34" charset="-120"/>
              </a:rPr>
              <a:t>no live support</a:t>
            </a:r>
          </a:p>
          <a:p>
            <a:r>
              <a:rPr lang="en-US" dirty="0">
                <a:solidFill>
                  <a:srgbClr val="06254A"/>
                </a:solidFill>
                <a:latin typeface="Aptos" pitchFamily="34" charset="0"/>
              </a:rPr>
              <a:t>no instructor interaction</a:t>
            </a:r>
          </a:p>
          <a:p>
            <a:endParaRPr lang="en-US" dirty="0">
              <a:solidFill>
                <a:srgbClr val="06254A"/>
              </a:solidFill>
              <a:latin typeface="Aptos" pitchFamily="34" charset="0"/>
            </a:endParaRPr>
          </a:p>
          <a:p>
            <a:r>
              <a:rPr lang="en-US" dirty="0">
                <a:solidFill>
                  <a:srgbClr val="06254A"/>
                </a:solidFill>
                <a:latin typeface="Aptos" pitchFamily="34" charset="0"/>
              </a:rPr>
              <a:t>often an old copy of an on-campus course</a:t>
            </a:r>
          </a:p>
          <a:p>
            <a:endParaRPr lang="en-US" dirty="0"/>
          </a:p>
        </p:txBody>
      </p:sp>
      <p:sp>
        <p:nvSpPr>
          <p:cNvPr id="8" name="Shape 6">
            <a:extLst>
              <a:ext uri="{FF2B5EF4-FFF2-40B4-BE49-F238E27FC236}">
                <a16:creationId xmlns:a16="http://schemas.microsoft.com/office/drawing/2014/main" id="{4D1148FC-8D49-2781-DD9D-B042B42695EB}"/>
              </a:ext>
            </a:extLst>
          </p:cNvPr>
          <p:cNvSpPr/>
          <p:nvPr/>
        </p:nvSpPr>
        <p:spPr>
          <a:xfrm>
            <a:off x="7991856" y="1438507"/>
            <a:ext cx="3017520" cy="4434840"/>
          </a:xfrm>
          <a:prstGeom prst="roundRect">
            <a:avLst>
              <a:gd name="adj" fmla="val 1818"/>
            </a:avLst>
          </a:prstGeom>
          <a:solidFill>
            <a:srgbClr val="E8EEF6"/>
          </a:solidFill>
          <a:ln w="12700">
            <a:solidFill>
              <a:srgbClr val="C6D1DD"/>
            </a:solidFill>
            <a:prstDash val="solid"/>
          </a:ln>
        </p:spPr>
        <p:txBody>
          <a:bodyPr/>
          <a:lstStyle/>
          <a:p>
            <a:pPr algn="ctr"/>
            <a:r>
              <a:rPr lang="en-US" sz="2400" b="1" dirty="0">
                <a:solidFill>
                  <a:srgbClr val="00274C"/>
                </a:solidFill>
                <a:latin typeface="Aptos" pitchFamily="34" charset="0"/>
                <a:ea typeface="Aptos" pitchFamily="34" charset="-122"/>
                <a:cs typeface="Aptos" pitchFamily="34" charset="-120"/>
              </a:rPr>
              <a:t>SI357@UMich</a:t>
            </a:r>
          </a:p>
          <a:p>
            <a:pPr algn="ctr"/>
            <a:endParaRPr lang="en-US" b="1" dirty="0">
              <a:solidFill>
                <a:srgbClr val="00274C"/>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course calendar / cohort</a:t>
            </a:r>
          </a:p>
          <a:p>
            <a:r>
              <a:rPr lang="en-US" dirty="0">
                <a:solidFill>
                  <a:srgbClr val="06254A"/>
                </a:solidFill>
                <a:latin typeface="Aptos" pitchFamily="34" charset="0"/>
              </a:rPr>
              <a:t>weekly communications</a:t>
            </a:r>
          </a:p>
          <a:p>
            <a:r>
              <a:rPr lang="en-US" dirty="0"/>
              <a:t>instructor interaction</a:t>
            </a:r>
          </a:p>
          <a:p>
            <a:r>
              <a:rPr lang="en-US" dirty="0">
                <a:solidFill>
                  <a:srgbClr val="06254A"/>
                </a:solidFill>
                <a:latin typeface="Aptos" pitchFamily="34" charset="0"/>
                <a:ea typeface="Aptos" pitchFamily="34" charset="-122"/>
                <a:cs typeface="Aptos" pitchFamily="34" charset="-120"/>
              </a:rPr>
              <a:t>weekly live help sessions</a:t>
            </a:r>
          </a:p>
          <a:p>
            <a:endParaRPr lang="en-US"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limited enrollment</a:t>
            </a:r>
          </a:p>
          <a:p>
            <a:r>
              <a:rPr lang="en-US" b="1" dirty="0">
                <a:solidFill>
                  <a:srgbClr val="06254A"/>
                </a:solidFill>
                <a:latin typeface="Aptos" pitchFamily="34" charset="0"/>
                <a:ea typeface="Aptos" pitchFamily="34" charset="-122"/>
                <a:cs typeface="Aptos" pitchFamily="34" charset="-120"/>
              </a:rPr>
              <a:t>campus credit cost</a:t>
            </a:r>
          </a:p>
          <a:p>
            <a:endParaRPr lang="en-US" b="1"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rPr>
              <a:t>real deadlines / late points</a:t>
            </a:r>
          </a:p>
          <a:p>
            <a:r>
              <a:rPr lang="en-US" dirty="0">
                <a:solidFill>
                  <a:srgbClr val="06254A"/>
                </a:solidFill>
                <a:latin typeface="Aptos" pitchFamily="34" charset="0"/>
              </a:rPr>
              <a:t>exams and grades</a:t>
            </a:r>
          </a:p>
          <a:p>
            <a:r>
              <a:rPr lang="en-US" dirty="0">
                <a:solidFill>
                  <a:srgbClr val="06254A"/>
                </a:solidFill>
                <a:latin typeface="Aptos" pitchFamily="34" charset="0"/>
              </a:rPr>
              <a:t>course ends after 15 weeks</a:t>
            </a:r>
          </a:p>
          <a:p>
            <a:endParaRPr lang="en-US" dirty="0">
              <a:solidFill>
                <a:srgbClr val="06254A"/>
              </a:solidFill>
              <a:latin typeface="Aptos" pitchFamily="34" charset="0"/>
            </a:endParaRPr>
          </a:p>
          <a:p>
            <a:endParaRPr lang="en-US" dirty="0">
              <a:solidFill>
                <a:srgbClr val="06254A"/>
              </a:solidFill>
              <a:latin typeface="Aptos" pitchFamily="34" charset="0"/>
            </a:endParaRPr>
          </a:p>
          <a:p>
            <a:pPr algn="ctr"/>
            <a:endParaRPr lang="en-US" dirty="0"/>
          </a:p>
        </p:txBody>
      </p:sp>
      <p:sp>
        <p:nvSpPr>
          <p:cNvPr id="15" name="Text 13">
            <a:extLst>
              <a:ext uri="{FF2B5EF4-FFF2-40B4-BE49-F238E27FC236}">
                <a16:creationId xmlns:a16="http://schemas.microsoft.com/office/drawing/2014/main" id="{C4A7415D-7FE0-9B9B-16CE-D6AFFDED7155}"/>
              </a:ext>
            </a:extLst>
          </p:cNvPr>
          <p:cNvSpPr/>
          <p:nvPr/>
        </p:nvSpPr>
        <p:spPr>
          <a:xfrm>
            <a:off x="960120" y="6153912"/>
            <a:ext cx="10424160" cy="256032"/>
          </a:xfrm>
          <a:prstGeom prst="rect">
            <a:avLst/>
          </a:prstGeom>
          <a:noFill/>
          <a:ln/>
        </p:spPr>
        <p:txBody>
          <a:bodyPr wrap="square" lIns="508" tIns="508" rIns="508" bIns="508" rtlCol="0" anchor="ctr">
            <a:normAutofit fontScale="92500" lnSpcReduction="20000"/>
          </a:bodyPr>
          <a:lstStyle/>
          <a:p>
            <a:pPr marL="0" indent="0" algn="ctr">
              <a:buNone/>
            </a:pPr>
            <a:r>
              <a:rPr lang="en-US" sz="2000" b="1" dirty="0">
                <a:solidFill>
                  <a:srgbClr val="00274C"/>
                </a:solidFill>
                <a:latin typeface="Aptos" pitchFamily="34" charset="0"/>
                <a:ea typeface="Aptos" pitchFamily="34" charset="-122"/>
                <a:cs typeface="Aptos" pitchFamily="34" charset="-120"/>
              </a:rPr>
              <a:t>CLOC is not “MOOC plus.” It is a non-credit online section of a campus course.</a:t>
            </a:r>
            <a:endParaRPr lang="en-US" sz="2000" dirty="0"/>
          </a:p>
        </p:txBody>
      </p:sp>
      <p:grpSp>
        <p:nvGrpSpPr>
          <p:cNvPr id="20" name="Group 19">
            <a:extLst>
              <a:ext uri="{FF2B5EF4-FFF2-40B4-BE49-F238E27FC236}">
                <a16:creationId xmlns:a16="http://schemas.microsoft.com/office/drawing/2014/main" id="{367832EF-EA6F-AF54-0B3F-5C269A98C0CA}"/>
              </a:ext>
            </a:extLst>
          </p:cNvPr>
          <p:cNvGrpSpPr/>
          <p:nvPr/>
        </p:nvGrpSpPr>
        <p:grpSpPr>
          <a:xfrm>
            <a:off x="4975086" y="1721971"/>
            <a:ext cx="2651760" cy="4172563"/>
            <a:chOff x="8156448" y="1700784"/>
            <a:chExt cx="2651760" cy="4172563"/>
          </a:xfrm>
        </p:grpSpPr>
        <p:sp>
          <p:nvSpPr>
            <p:cNvPr id="18" name="Text 9">
              <a:extLst>
                <a:ext uri="{FF2B5EF4-FFF2-40B4-BE49-F238E27FC236}">
                  <a16:creationId xmlns:a16="http://schemas.microsoft.com/office/drawing/2014/main" id="{6FA6EB9E-3712-43AD-3CD6-198E5AFA82F2}"/>
                </a:ext>
              </a:extLst>
            </p:cNvPr>
            <p:cNvSpPr/>
            <p:nvPr/>
          </p:nvSpPr>
          <p:spPr>
            <a:xfrm>
              <a:off x="8156448" y="1700784"/>
              <a:ext cx="2651760" cy="320040"/>
            </a:xfrm>
            <a:prstGeom prst="rect">
              <a:avLst/>
            </a:prstGeom>
            <a:noFill/>
            <a:ln/>
          </p:spPr>
          <p:txBody>
            <a:bodyPr wrap="square" lIns="508" tIns="508" rIns="508" bIns="508" rtlCol="0" anchor="ctr">
              <a:normAutofit fontScale="92500" lnSpcReduction="20000"/>
            </a:bodyPr>
            <a:lstStyle/>
            <a:p>
              <a:pPr marL="0" indent="0" algn="ctr">
                <a:buNone/>
              </a:pPr>
              <a:r>
                <a:rPr lang="en-US" sz="2600" b="1" dirty="0">
                  <a:solidFill>
                    <a:srgbClr val="00274C"/>
                  </a:solidFill>
                  <a:latin typeface="Aptos" pitchFamily="34" charset="0"/>
                  <a:ea typeface="Aptos" pitchFamily="34" charset="-122"/>
                  <a:cs typeface="Aptos" pitchFamily="34" charset="-120"/>
                </a:rPr>
                <a:t>Django CLOC</a:t>
              </a:r>
              <a:endParaRPr lang="en-US" sz="2600" dirty="0"/>
            </a:p>
          </p:txBody>
        </p:sp>
        <p:sp>
          <p:nvSpPr>
            <p:cNvPr id="19" name="Text 12">
              <a:extLst>
                <a:ext uri="{FF2B5EF4-FFF2-40B4-BE49-F238E27FC236}">
                  <a16:creationId xmlns:a16="http://schemas.microsoft.com/office/drawing/2014/main" id="{D7A31B52-DC49-3135-7C73-BCF326D5CC69}"/>
                </a:ext>
              </a:extLst>
            </p:cNvPr>
            <p:cNvSpPr/>
            <p:nvPr/>
          </p:nvSpPr>
          <p:spPr>
            <a:xfrm>
              <a:off x="8275320" y="2020825"/>
              <a:ext cx="2468880" cy="3852522"/>
            </a:xfrm>
            <a:prstGeom prst="rect">
              <a:avLst/>
            </a:prstGeom>
            <a:noFill/>
            <a:ln/>
          </p:spPr>
          <p:txBody>
            <a:bodyPr wrap="square" lIns="635" tIns="635" rIns="635" bIns="635" rtlCol="0" anchor="ctr">
              <a:normAutofit/>
            </a:bodyPr>
            <a:lstStyle/>
            <a:p>
              <a:r>
                <a:rPr lang="en-US" sz="1600" dirty="0">
                  <a:solidFill>
                    <a:srgbClr val="06254A"/>
                  </a:solidFill>
                  <a:latin typeface="Aptos" pitchFamily="34" charset="0"/>
                  <a:ea typeface="Aptos" pitchFamily="34" charset="-122"/>
                  <a:cs typeface="Aptos" pitchFamily="34" charset="-120"/>
                </a:rPr>
                <a:t>course calendar / cohort</a:t>
              </a:r>
            </a:p>
            <a:p>
              <a:r>
                <a:rPr lang="en-US" sz="1600" dirty="0">
                  <a:solidFill>
                    <a:srgbClr val="06254A"/>
                  </a:solidFill>
                  <a:latin typeface="Aptos" pitchFamily="34" charset="0"/>
                </a:rPr>
                <a:t>weekly communications</a:t>
              </a:r>
            </a:p>
            <a:p>
              <a:r>
                <a:rPr lang="en-US" sz="1600" dirty="0">
                  <a:solidFill>
                    <a:srgbClr val="06254A"/>
                  </a:solidFill>
                  <a:latin typeface="Aptos" pitchFamily="34" charset="0"/>
                </a:rPr>
                <a:t>instructor interaction</a:t>
              </a:r>
              <a:endParaRPr lang="en-US" sz="1600" dirty="0"/>
            </a:p>
            <a:p>
              <a:r>
                <a:rPr lang="en-US" sz="1600" dirty="0">
                  <a:solidFill>
                    <a:srgbClr val="06254A"/>
                  </a:solidFill>
                  <a:latin typeface="Aptos" pitchFamily="34" charset="0"/>
                  <a:ea typeface="Aptos" pitchFamily="34" charset="-122"/>
                  <a:cs typeface="Aptos" pitchFamily="34" charset="-120"/>
                </a:rPr>
                <a:t>weekly live help sessions</a:t>
              </a:r>
            </a:p>
            <a:p>
              <a:endParaRPr lang="en-US" sz="1600" dirty="0">
                <a:solidFill>
                  <a:srgbClr val="06254A"/>
                </a:solidFill>
                <a:latin typeface="Aptos" pitchFamily="34" charset="0"/>
                <a:ea typeface="Aptos" pitchFamily="34" charset="-122"/>
                <a:cs typeface="Aptos" pitchFamily="34" charset="-120"/>
              </a:endParaRPr>
            </a:p>
            <a:p>
              <a:r>
                <a:rPr lang="en-US" sz="1600" dirty="0">
                  <a:solidFill>
                    <a:srgbClr val="06254A"/>
                  </a:solidFill>
                  <a:latin typeface="Aptos" pitchFamily="34" charset="0"/>
                  <a:ea typeface="Aptos" pitchFamily="34" charset="-122"/>
                  <a:cs typeface="Aptos" pitchFamily="34" charset="-120"/>
                </a:rPr>
                <a:t>open enrollment</a:t>
              </a:r>
            </a:p>
            <a:p>
              <a:r>
                <a:rPr lang="en-US" sz="1600" dirty="0">
                  <a:solidFill>
                    <a:srgbClr val="06254A"/>
                  </a:solidFill>
                  <a:latin typeface="Aptos" pitchFamily="34" charset="0"/>
                  <a:ea typeface="Aptos" pitchFamily="34" charset="-122"/>
                  <a:cs typeface="Aptos" pitchFamily="34" charset="-120"/>
                </a:rPr>
                <a:t>low cost / non-credit</a:t>
              </a:r>
            </a:p>
            <a:p>
              <a:r>
                <a:rPr lang="en-US" sz="1600" dirty="0">
                  <a:solidFill>
                    <a:srgbClr val="06254A"/>
                  </a:solidFill>
                  <a:latin typeface="Aptos" pitchFamily="34" charset="0"/>
                  <a:ea typeface="Aptos" pitchFamily="34" charset="-122"/>
                  <a:cs typeface="Aptos" pitchFamily="34" charset="-120"/>
                </a:rPr>
                <a:t>schedule / no late points</a:t>
              </a:r>
            </a:p>
            <a:p>
              <a:r>
                <a:rPr lang="en-US" sz="1600" dirty="0">
                  <a:solidFill>
                    <a:srgbClr val="06254A"/>
                  </a:solidFill>
                  <a:latin typeface="Aptos" pitchFamily="34" charset="0"/>
                </a:rPr>
                <a:t>no exams /no grades</a:t>
              </a:r>
            </a:p>
            <a:p>
              <a:r>
                <a:rPr lang="en-US" sz="1600" dirty="0">
                  <a:solidFill>
                    <a:srgbClr val="06254A"/>
                  </a:solidFill>
                  <a:latin typeface="Aptos" pitchFamily="34" charset="0"/>
                </a:rPr>
                <a:t>cohort 15 weeks</a:t>
              </a:r>
            </a:p>
            <a:p>
              <a:r>
                <a:rPr lang="en-US" sz="1600" dirty="0">
                  <a:solidFill>
                    <a:srgbClr val="06254A"/>
                  </a:solidFill>
                  <a:latin typeface="Aptos" pitchFamily="34" charset="0"/>
                </a:rPr>
                <a:t>self-paced for 360 days</a:t>
              </a:r>
            </a:p>
            <a:p>
              <a:r>
                <a:rPr lang="en-US" sz="1600" dirty="0">
                  <a:solidFill>
                    <a:srgbClr val="06254A"/>
                  </a:solidFill>
                  <a:latin typeface="Aptos" pitchFamily="34" charset="0"/>
                </a:rPr>
                <a:t>certificate/badge maybe </a:t>
              </a:r>
              <a:endParaRPr lang="en-US" sz="1600" dirty="0"/>
            </a:p>
          </p:txBody>
        </p:sp>
      </p:grpSp>
      <p:sp>
        <p:nvSpPr>
          <p:cNvPr id="11" name="Shape 8">
            <a:extLst>
              <a:ext uri="{FF2B5EF4-FFF2-40B4-BE49-F238E27FC236}">
                <a16:creationId xmlns:a16="http://schemas.microsoft.com/office/drawing/2014/main" id="{34D517DD-AEFB-1120-0B45-6486862CD81F}"/>
              </a:ext>
            </a:extLst>
          </p:cNvPr>
          <p:cNvSpPr/>
          <p:nvPr/>
        </p:nvSpPr>
        <p:spPr>
          <a:xfrm>
            <a:off x="4961991" y="1450491"/>
            <a:ext cx="3017520" cy="4434840"/>
          </a:xfrm>
          <a:prstGeom prst="roundRect">
            <a:avLst>
              <a:gd name="adj" fmla="val 1818"/>
            </a:avLst>
          </a:prstGeom>
          <a:solidFill>
            <a:srgbClr val="FFF5C7"/>
          </a:solidFill>
          <a:ln w="25400">
            <a:solidFill>
              <a:srgbClr val="FFCB05"/>
            </a:solidFill>
            <a:prstDash val="solid"/>
          </a:ln>
        </p:spPr>
        <p:txBody>
          <a:bodyPr/>
          <a:lstStyle/>
          <a:p>
            <a:pPr algn="ctr"/>
            <a:r>
              <a:rPr lang="en-US" sz="2400" b="1" dirty="0">
                <a:solidFill>
                  <a:srgbClr val="00274C"/>
                </a:solidFill>
                <a:latin typeface="Aptos" pitchFamily="34" charset="0"/>
                <a:ea typeface="Aptos" pitchFamily="34" charset="-122"/>
                <a:cs typeface="Aptos" pitchFamily="34" charset="-120"/>
              </a:rPr>
              <a:t>Django CLOC</a:t>
            </a:r>
          </a:p>
          <a:p>
            <a:endParaRPr lang="en-US" b="1" dirty="0">
              <a:solidFill>
                <a:srgbClr val="00274C"/>
              </a:solidFill>
              <a:latin typeface="Aptos" pitchFamily="34" charset="0"/>
            </a:endParaRPr>
          </a:p>
          <a:p>
            <a:r>
              <a:rPr lang="en-US" dirty="0">
                <a:solidFill>
                  <a:srgbClr val="06254A"/>
                </a:solidFill>
                <a:latin typeface="Aptos" pitchFamily="34" charset="0"/>
                <a:ea typeface="Aptos" pitchFamily="34" charset="-122"/>
                <a:cs typeface="Aptos" pitchFamily="34" charset="-120"/>
              </a:rPr>
              <a:t>course calendar / cohort</a:t>
            </a:r>
          </a:p>
          <a:p>
            <a:r>
              <a:rPr lang="en-US" dirty="0">
                <a:solidFill>
                  <a:srgbClr val="06254A"/>
                </a:solidFill>
                <a:latin typeface="Aptos" pitchFamily="34" charset="0"/>
              </a:rPr>
              <a:t>weekly communications</a:t>
            </a:r>
          </a:p>
          <a:p>
            <a:r>
              <a:rPr lang="en-US" dirty="0">
                <a:solidFill>
                  <a:srgbClr val="06254A"/>
                </a:solidFill>
                <a:latin typeface="Aptos" pitchFamily="34" charset="0"/>
              </a:rPr>
              <a:t>instructor interaction</a:t>
            </a:r>
            <a:endParaRPr lang="en-US" dirty="0"/>
          </a:p>
          <a:p>
            <a:r>
              <a:rPr lang="en-US" dirty="0">
                <a:solidFill>
                  <a:srgbClr val="06254A"/>
                </a:solidFill>
                <a:latin typeface="Aptos" pitchFamily="34" charset="0"/>
                <a:ea typeface="Aptos" pitchFamily="34" charset="-122"/>
                <a:cs typeface="Aptos" pitchFamily="34" charset="-120"/>
              </a:rPr>
              <a:t>weekly live help sessions</a:t>
            </a:r>
          </a:p>
          <a:p>
            <a:endParaRPr lang="en-US"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open enrollment</a:t>
            </a:r>
          </a:p>
          <a:p>
            <a:r>
              <a:rPr lang="en-US" b="1" dirty="0">
                <a:solidFill>
                  <a:srgbClr val="06254A"/>
                </a:solidFill>
                <a:latin typeface="Aptos" pitchFamily="34" charset="0"/>
                <a:ea typeface="Aptos" pitchFamily="34" charset="-122"/>
                <a:cs typeface="Aptos" pitchFamily="34" charset="-120"/>
              </a:rPr>
              <a:t>low cost / non-credit</a:t>
            </a:r>
          </a:p>
          <a:p>
            <a:r>
              <a:rPr lang="en-US" dirty="0">
                <a:solidFill>
                  <a:srgbClr val="06254A"/>
                </a:solidFill>
                <a:latin typeface="Aptos" pitchFamily="34" charset="0"/>
              </a:rPr>
              <a:t>certificate/badge</a:t>
            </a:r>
            <a:endParaRPr lang="en-US" dirty="0"/>
          </a:p>
          <a:p>
            <a:endParaRPr lang="en-US" b="1" dirty="0">
              <a:solidFill>
                <a:srgbClr val="06254A"/>
              </a:solidFill>
              <a:latin typeface="Aptos" pitchFamily="34" charset="0"/>
              <a:ea typeface="Aptos" pitchFamily="34" charset="-122"/>
              <a:cs typeface="Aptos" pitchFamily="34" charset="-120"/>
            </a:endParaRPr>
          </a:p>
          <a:p>
            <a:r>
              <a:rPr lang="en-US" dirty="0">
                <a:solidFill>
                  <a:srgbClr val="06254A"/>
                </a:solidFill>
                <a:latin typeface="Aptos" pitchFamily="34" charset="0"/>
                <a:ea typeface="Aptos" pitchFamily="34" charset="-122"/>
                <a:cs typeface="Aptos" pitchFamily="34" charset="-120"/>
              </a:rPr>
              <a:t>schedule / no late points</a:t>
            </a:r>
          </a:p>
          <a:p>
            <a:r>
              <a:rPr lang="en-US" dirty="0">
                <a:solidFill>
                  <a:srgbClr val="06254A"/>
                </a:solidFill>
                <a:latin typeface="Aptos" pitchFamily="34" charset="0"/>
              </a:rPr>
              <a:t>no exams /no grades</a:t>
            </a:r>
          </a:p>
          <a:p>
            <a:r>
              <a:rPr lang="en-US" dirty="0">
                <a:solidFill>
                  <a:srgbClr val="06254A"/>
                </a:solidFill>
                <a:latin typeface="Aptos" pitchFamily="34" charset="0"/>
              </a:rPr>
              <a:t>cohort 15 weeks</a:t>
            </a:r>
          </a:p>
          <a:p>
            <a:r>
              <a:rPr lang="en-US" dirty="0">
                <a:solidFill>
                  <a:srgbClr val="06254A"/>
                </a:solidFill>
                <a:latin typeface="Aptos" pitchFamily="34" charset="0"/>
              </a:rPr>
              <a:t>self-paced for 360 days</a:t>
            </a:r>
          </a:p>
          <a:p>
            <a:endParaRPr lang="en-US" dirty="0"/>
          </a:p>
          <a:p>
            <a:endParaRPr lang="en-US" dirty="0"/>
          </a:p>
        </p:txBody>
      </p:sp>
    </p:spTree>
    <p:extLst>
      <p:ext uri="{BB962C8B-B14F-4D97-AF65-F5344CB8AC3E}">
        <p14:creationId xmlns:p14="http://schemas.microsoft.com/office/powerpoint/2010/main" val="3429196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F7FB"/>
          </a:solidFill>
          <a:ln w="12700">
            <a:solidFill>
              <a:srgbClr val="F4F7FB">
                <a:alpha val="0"/>
              </a:srgbClr>
            </a:solidFill>
            <a:prstDash val="solid"/>
          </a:ln>
        </p:spPr>
        <p:txBody>
          <a:bodyPr/>
          <a:lstStyle/>
          <a:p>
            <a:endParaRPr lang="en-US"/>
          </a:p>
        </p:txBody>
      </p:sp>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862884" cy="502920"/>
          </a:xfrm>
          <a:prstGeom prst="rect">
            <a:avLst/>
          </a:prstGeom>
          <a:noFill/>
          <a:ln/>
        </p:spPr>
        <p:txBody>
          <a:bodyPr wrap="square" lIns="508" tIns="508" rIns="508" bIns="508" rtlCol="0" anchor="ctr">
            <a:normAutofit fontScale="70000" lnSpcReduction="20000"/>
          </a:bodyPr>
          <a:lstStyle/>
          <a:p>
            <a:pPr marL="0" indent="0" algn="l">
              <a:buNone/>
            </a:pPr>
            <a:r>
              <a:rPr lang="en-US" sz="3100" b="1" dirty="0">
                <a:solidFill>
                  <a:srgbClr val="00274C"/>
                </a:solidFill>
                <a:latin typeface="Aptos" pitchFamily="34" charset="0"/>
                <a:ea typeface="Aptos" pitchFamily="34" charset="-122"/>
                <a:cs typeface="Aptos" pitchFamily="34" charset="-120"/>
              </a:rPr>
              <a:t>Why should you take this course as a CLOC?</a:t>
            </a:r>
            <a:endParaRPr lang="en-US" sz="3100" dirty="0"/>
          </a:p>
        </p:txBody>
      </p:sp>
      <p:sp>
        <p:nvSpPr>
          <p:cNvPr id="5" name="Text 3"/>
          <p:cNvSpPr/>
          <p:nvPr/>
        </p:nvSpPr>
        <p:spPr>
          <a:xfrm>
            <a:off x="621791" y="941831"/>
            <a:ext cx="5535245" cy="502919"/>
          </a:xfrm>
          <a:prstGeom prst="rect">
            <a:avLst/>
          </a:prstGeom>
          <a:noFill/>
          <a:ln/>
        </p:spPr>
        <p:txBody>
          <a:bodyPr wrap="square" lIns="508" tIns="508" rIns="508" bIns="508" rtlCol="0" anchor="ctr">
            <a:noAutofit/>
          </a:bodyPr>
          <a:lstStyle/>
          <a:p>
            <a:pPr marL="0" indent="0" algn="l">
              <a:buNone/>
            </a:pPr>
            <a:r>
              <a:rPr lang="en-US" b="1" dirty="0">
                <a:solidFill>
                  <a:srgbClr val="4F5B66"/>
                </a:solidFill>
                <a:latin typeface="Aptos" pitchFamily="34" charset="0"/>
              </a:rPr>
              <a:t>I think it is difficult to stay motivated in self-paced online courses…</a:t>
            </a:r>
            <a:endParaRPr lang="en-US" b="1" dirty="0"/>
          </a:p>
        </p:txBody>
      </p:sp>
      <p:pic>
        <p:nvPicPr>
          <p:cNvPr id="6" name="Image 0" descr="/mnt/data/a_realistic_high_quality_digital_photo_cgi_style.png"/>
          <p:cNvPicPr>
            <a:picLocks noChangeAspect="1"/>
          </p:cNvPicPr>
          <p:nvPr/>
        </p:nvPicPr>
        <p:blipFill>
          <a:blip r:embed="rId3"/>
          <a:srcRect r="32016"/>
          <a:stretch>
            <a:fillRect/>
          </a:stretch>
        </p:blipFill>
        <p:spPr>
          <a:xfrm>
            <a:off x="6948802" y="653796"/>
            <a:ext cx="3450102" cy="2775204"/>
          </a:xfrm>
          <a:prstGeom prst="rect">
            <a:avLst/>
          </a:prstGeom>
        </p:spPr>
      </p:pic>
      <p:sp>
        <p:nvSpPr>
          <p:cNvPr id="7" name="Text 4"/>
          <p:cNvSpPr/>
          <p:nvPr/>
        </p:nvSpPr>
        <p:spPr>
          <a:xfrm>
            <a:off x="749807" y="1627633"/>
            <a:ext cx="5175504" cy="429768"/>
          </a:xfrm>
          <a:prstGeom prst="rect">
            <a:avLst/>
          </a:prstGeom>
          <a:noFill/>
          <a:ln/>
        </p:spPr>
        <p:txBody>
          <a:bodyPr wrap="square" lIns="508" tIns="508" rIns="508" bIns="508" rtlCol="0" anchor="ctr">
            <a:normAutofit fontScale="77500" lnSpcReduction="20000"/>
          </a:bodyPr>
          <a:lstStyle/>
          <a:p>
            <a:pPr marL="0" indent="0" algn="l">
              <a:buNone/>
            </a:pPr>
            <a:r>
              <a:rPr lang="en-US" sz="2300" b="1" dirty="0">
                <a:solidFill>
                  <a:srgbClr val="00274C"/>
                </a:solidFill>
                <a:latin typeface="Aptos" pitchFamily="34" charset="0"/>
                <a:ea typeface="Aptos" pitchFamily="34" charset="-122"/>
                <a:cs typeface="Aptos" pitchFamily="34" charset="-120"/>
              </a:rPr>
              <a:t>I think you would learn better and faster with: </a:t>
            </a:r>
            <a:endParaRPr lang="en-US" sz="2300" dirty="0"/>
          </a:p>
        </p:txBody>
      </p:sp>
      <p:sp>
        <p:nvSpPr>
          <p:cNvPr id="8" name="Text 5"/>
          <p:cNvSpPr/>
          <p:nvPr/>
        </p:nvSpPr>
        <p:spPr>
          <a:xfrm>
            <a:off x="841247" y="1965960"/>
            <a:ext cx="6164463" cy="2240280"/>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calendar and due dates</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office hours and responsive help</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human feedback when the course is confusing</a:t>
            </a:r>
            <a:endParaRPr lang="en-US" sz="2000" dirty="0"/>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a cohort moving through the material together</a:t>
            </a:r>
          </a:p>
          <a:p>
            <a:pPr marL="342900" indent="-342900">
              <a:buFont typeface="Arial" panose="020B0604020202020204" pitchFamily="34" charset="0"/>
              <a:buChar char="•"/>
            </a:pPr>
            <a:endParaRPr lang="en-US" sz="2000" dirty="0">
              <a:solidFill>
                <a:srgbClr val="06254A"/>
              </a:solidFill>
              <a:latin typeface="Aptos" pitchFamily="34" charset="0"/>
            </a:endParaRPr>
          </a:p>
          <a:p>
            <a:pPr marL="342900" indent="-342900">
              <a:buFont typeface="Arial" panose="020B0604020202020204" pitchFamily="34" charset="0"/>
              <a:buChar char="•"/>
            </a:pPr>
            <a:r>
              <a:rPr lang="en-US" sz="2000" dirty="0">
                <a:solidFill>
                  <a:srgbClr val="06254A"/>
                </a:solidFill>
                <a:latin typeface="Aptos" pitchFamily="34" charset="0"/>
              </a:rPr>
              <a:t>a sense of a "real college experience"</a:t>
            </a:r>
            <a:endParaRPr lang="en-US" sz="2000" dirty="0"/>
          </a:p>
        </p:txBody>
      </p:sp>
      <p:sp>
        <p:nvSpPr>
          <p:cNvPr id="9" name="Text 6"/>
          <p:cNvSpPr/>
          <p:nvPr/>
        </p:nvSpPr>
        <p:spPr>
          <a:xfrm>
            <a:off x="749807" y="4800599"/>
            <a:ext cx="5535245" cy="743673"/>
          </a:xfrm>
          <a:prstGeom prst="rect">
            <a:avLst/>
          </a:prstGeom>
          <a:noFill/>
          <a:ln/>
        </p:spPr>
        <p:txBody>
          <a:bodyPr wrap="square" lIns="508" tIns="508" rIns="508" bIns="508" rtlCol="0" anchor="ctr">
            <a:normAutofit fontScale="77500" lnSpcReduction="20000"/>
          </a:bodyPr>
          <a:lstStyle/>
          <a:p>
            <a:pPr marL="0" indent="0" algn="l">
              <a:buNone/>
            </a:pPr>
            <a:r>
              <a:rPr lang="en-US" sz="2500" b="1" dirty="0">
                <a:solidFill>
                  <a:srgbClr val="00274C"/>
                </a:solidFill>
                <a:latin typeface="Aptos" pitchFamily="34" charset="0"/>
                <a:ea typeface="Aptos" pitchFamily="34" charset="-122"/>
                <a:cs typeface="Aptos" pitchFamily="34" charset="-120"/>
              </a:rPr>
              <a:t>CLOC lets you learn online at  low cost and anywhere in the world  (like a MOOC) while providing campus-like vibe, rhythm and support.</a:t>
            </a:r>
            <a:endParaRPr lang="en-US" sz="2500" dirty="0"/>
          </a:p>
        </p:txBody>
      </p:sp>
      <p:sp>
        <p:nvSpPr>
          <p:cNvPr id="11" name="TextBox 10">
            <a:extLst>
              <a:ext uri="{FF2B5EF4-FFF2-40B4-BE49-F238E27FC236}">
                <a16:creationId xmlns:a16="http://schemas.microsoft.com/office/drawing/2014/main" id="{55E89F23-B97D-100D-BABE-A4F08518ABA8}"/>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pic>
        <p:nvPicPr>
          <p:cNvPr id="13" name="Picture 12" descr="A large crowd of people in yellow shirts&#10;&#10;AI-generated content may be incorrect.">
            <a:extLst>
              <a:ext uri="{FF2B5EF4-FFF2-40B4-BE49-F238E27FC236}">
                <a16:creationId xmlns:a16="http://schemas.microsoft.com/office/drawing/2014/main" id="{DEA6A036-26B6-1C55-E81D-6920BB8BABF8}"/>
              </a:ext>
            </a:extLst>
          </p:cNvPr>
          <p:cNvPicPr>
            <a:picLocks noChangeAspect="1"/>
          </p:cNvPicPr>
          <p:nvPr/>
        </p:nvPicPr>
        <p:blipFill>
          <a:blip r:embed="rId4"/>
          <a:stretch>
            <a:fillRect/>
          </a:stretch>
        </p:blipFill>
        <p:spPr>
          <a:xfrm>
            <a:off x="9765333" y="2937234"/>
            <a:ext cx="2069845" cy="2069845"/>
          </a:xfrm>
          <a:prstGeom prst="rect">
            <a:avLst/>
          </a:prstGeom>
        </p:spPr>
      </p:pic>
      <p:pic>
        <p:nvPicPr>
          <p:cNvPr id="10" name="Picture 9" descr="A qr code on a white background&#10;&#10;AI-generated content may be incorrect.">
            <a:extLst>
              <a:ext uri="{FF2B5EF4-FFF2-40B4-BE49-F238E27FC236}">
                <a16:creationId xmlns:a16="http://schemas.microsoft.com/office/drawing/2014/main" id="{46598AC0-A73E-2CC6-6B64-CA8D77179BAB}"/>
              </a:ext>
            </a:extLst>
          </p:cNvPr>
          <p:cNvPicPr>
            <a:picLocks noChangeAspect="1"/>
          </p:cNvPicPr>
          <p:nvPr/>
        </p:nvPicPr>
        <p:blipFill>
          <a:blip r:embed="rId5"/>
          <a:stretch>
            <a:fillRect/>
          </a:stretch>
        </p:blipFill>
        <p:spPr>
          <a:xfrm>
            <a:off x="6457319" y="3441243"/>
            <a:ext cx="2474925" cy="24749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BF8EF"/>
        </a:solidFill>
        <a:effectLst/>
      </p:bgPr>
    </p:bg>
    <p:spTree>
      <p:nvGrpSpPr>
        <p:cNvPr id="1" name=""/>
        <p:cNvGrpSpPr/>
        <p:nvPr/>
      </p:nvGrpSpPr>
      <p:grpSpPr>
        <a:xfrm>
          <a:off x="0" y="0"/>
          <a:ext cx="0" cy="0"/>
          <a:chOff x="0" y="0"/>
          <a:chExt cx="0" cy="0"/>
        </a:xfrm>
      </p:grpSpPr>
      <p:sp>
        <p:nvSpPr>
          <p:cNvPr id="2" name="Text 0"/>
          <p:cNvSpPr/>
          <p:nvPr/>
        </p:nvSpPr>
        <p:spPr>
          <a:xfrm>
            <a:off x="502920" y="347472"/>
            <a:ext cx="7680960"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What online learners get</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More than recorded lectures: rhythm, support, and community</a:t>
            </a:r>
            <a:endParaRPr lang="en-US" sz="1400" dirty="0"/>
          </a:p>
        </p:txBody>
      </p:sp>
      <p:sp>
        <p:nvSpPr>
          <p:cNvPr id="4" name="Shape 2"/>
          <p:cNvSpPr/>
          <p:nvPr/>
        </p:nvSpPr>
        <p:spPr>
          <a:xfrm>
            <a:off x="1005840" y="1920240"/>
            <a:ext cx="960120" cy="960120"/>
          </a:xfrm>
          <a:prstGeom prst="ellipse">
            <a:avLst/>
          </a:prstGeom>
          <a:solidFill>
            <a:srgbClr val="138A96"/>
          </a:solidFill>
          <a:ln w="25400">
            <a:solidFill>
              <a:srgbClr val="FFFFFF"/>
            </a:solidFill>
            <a:prstDash val="solid"/>
          </a:ln>
        </p:spPr>
        <p:txBody>
          <a:bodyPr/>
          <a:lstStyle/>
          <a:p>
            <a:endParaRPr/>
          </a:p>
        </p:txBody>
      </p:sp>
      <p:sp>
        <p:nvSpPr>
          <p:cNvPr id="5" name="Text 3"/>
          <p:cNvSpPr/>
          <p:nvPr/>
        </p:nvSpPr>
        <p:spPr>
          <a:xfrm>
            <a:off x="21488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Schedule</a:t>
            </a:r>
            <a:endParaRPr lang="en-US" sz="2100" dirty="0"/>
          </a:p>
        </p:txBody>
      </p:sp>
      <p:sp>
        <p:nvSpPr>
          <p:cNvPr id="6" name="Text 4"/>
          <p:cNvSpPr/>
          <p:nvPr/>
        </p:nvSpPr>
        <p:spPr>
          <a:xfrm>
            <a:off x="21488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a reason to keep going</a:t>
            </a:r>
            <a:endParaRPr lang="en-US" sz="1400" dirty="0"/>
          </a:p>
        </p:txBody>
      </p:sp>
      <p:sp>
        <p:nvSpPr>
          <p:cNvPr id="7" name="Shape 5"/>
          <p:cNvSpPr/>
          <p:nvPr/>
        </p:nvSpPr>
        <p:spPr>
          <a:xfrm>
            <a:off x="3429000" y="3246120"/>
            <a:ext cx="960120" cy="960120"/>
          </a:xfrm>
          <a:prstGeom prst="ellipse">
            <a:avLst/>
          </a:prstGeom>
          <a:solidFill>
            <a:srgbClr val="F5A623"/>
          </a:solidFill>
          <a:ln w="25400">
            <a:solidFill>
              <a:srgbClr val="FFFFFF"/>
            </a:solidFill>
            <a:prstDash val="solid"/>
          </a:ln>
        </p:spPr>
        <p:txBody>
          <a:bodyPr/>
          <a:lstStyle/>
          <a:p>
            <a:endParaRPr/>
          </a:p>
        </p:txBody>
      </p:sp>
      <p:sp>
        <p:nvSpPr>
          <p:cNvPr id="8" name="Text 6"/>
          <p:cNvSpPr/>
          <p:nvPr/>
        </p:nvSpPr>
        <p:spPr>
          <a:xfrm>
            <a:off x="457200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Office hours</a:t>
            </a:r>
            <a:endParaRPr lang="en-US" sz="2100" dirty="0"/>
          </a:p>
        </p:txBody>
      </p:sp>
      <p:sp>
        <p:nvSpPr>
          <p:cNvPr id="9" name="Text 7"/>
          <p:cNvSpPr/>
          <p:nvPr/>
        </p:nvSpPr>
        <p:spPr>
          <a:xfrm>
            <a:off x="457200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help when questions matter</a:t>
            </a:r>
            <a:endParaRPr lang="en-US" sz="1400" dirty="0"/>
          </a:p>
        </p:txBody>
      </p:sp>
      <p:sp>
        <p:nvSpPr>
          <p:cNvPr id="10" name="Shape 8"/>
          <p:cNvSpPr/>
          <p:nvPr/>
        </p:nvSpPr>
        <p:spPr>
          <a:xfrm>
            <a:off x="6035040" y="1920240"/>
            <a:ext cx="960120" cy="960120"/>
          </a:xfrm>
          <a:prstGeom prst="ellipse">
            <a:avLst/>
          </a:prstGeom>
          <a:solidFill>
            <a:srgbClr val="5E8C42"/>
          </a:solidFill>
          <a:ln w="25400">
            <a:solidFill>
              <a:srgbClr val="FFFFFF"/>
            </a:solidFill>
            <a:prstDash val="solid"/>
          </a:ln>
        </p:spPr>
        <p:txBody>
          <a:bodyPr/>
          <a:lstStyle/>
          <a:p>
            <a:endParaRPr/>
          </a:p>
        </p:txBody>
      </p:sp>
      <p:sp>
        <p:nvSpPr>
          <p:cNvPr id="11" name="Text 9"/>
          <p:cNvSpPr/>
          <p:nvPr/>
        </p:nvSpPr>
        <p:spPr>
          <a:xfrm>
            <a:off x="7178040" y="197510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IA sessions</a:t>
            </a:r>
            <a:endParaRPr lang="en-US" sz="2100" dirty="0"/>
          </a:p>
        </p:txBody>
      </p:sp>
      <p:sp>
        <p:nvSpPr>
          <p:cNvPr id="12" name="Text 10"/>
          <p:cNvSpPr/>
          <p:nvPr/>
        </p:nvSpPr>
        <p:spPr>
          <a:xfrm>
            <a:off x="7178040" y="233172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support from the teaching team</a:t>
            </a:r>
            <a:endParaRPr lang="en-US" sz="1400" dirty="0"/>
          </a:p>
        </p:txBody>
      </p:sp>
      <p:sp>
        <p:nvSpPr>
          <p:cNvPr id="13" name="Shape 11"/>
          <p:cNvSpPr/>
          <p:nvPr/>
        </p:nvSpPr>
        <p:spPr>
          <a:xfrm>
            <a:off x="8549640" y="3246120"/>
            <a:ext cx="960120" cy="960120"/>
          </a:xfrm>
          <a:prstGeom prst="ellipse">
            <a:avLst/>
          </a:prstGeom>
          <a:solidFill>
            <a:srgbClr val="138A96"/>
          </a:solidFill>
          <a:ln w="25400">
            <a:solidFill>
              <a:srgbClr val="FFFFFF"/>
            </a:solidFill>
            <a:prstDash val="solid"/>
          </a:ln>
        </p:spPr>
        <p:txBody>
          <a:bodyPr/>
          <a:lstStyle/>
          <a:p>
            <a:endParaRPr/>
          </a:p>
        </p:txBody>
      </p:sp>
      <p:sp>
        <p:nvSpPr>
          <p:cNvPr id="14" name="Text 12"/>
          <p:cNvSpPr/>
          <p:nvPr/>
        </p:nvSpPr>
        <p:spPr>
          <a:xfrm>
            <a:off x="9692640" y="3300984"/>
            <a:ext cx="1828800" cy="274320"/>
          </a:xfrm>
          <a:prstGeom prst="rect">
            <a:avLst/>
          </a:prstGeom>
          <a:noFill/>
          <a:ln/>
        </p:spPr>
        <p:txBody>
          <a:bodyPr wrap="square" lIns="0" tIns="0" rIns="0" bIns="0" rtlCol="0" anchor="ctr"/>
          <a:lstStyle/>
          <a:p>
            <a:pPr marL="0" indent="0">
              <a:buNone/>
            </a:pPr>
            <a:r>
              <a:rPr lang="en-US" sz="2100" b="1" dirty="0">
                <a:solidFill>
                  <a:srgbClr val="18324A"/>
                </a:solidFill>
              </a:rPr>
              <a:t>Community</a:t>
            </a:r>
            <a:endParaRPr lang="en-US" sz="2100" dirty="0"/>
          </a:p>
        </p:txBody>
      </p:sp>
      <p:sp>
        <p:nvSpPr>
          <p:cNvPr id="15" name="Text 13"/>
          <p:cNvSpPr/>
          <p:nvPr/>
        </p:nvSpPr>
        <p:spPr>
          <a:xfrm>
            <a:off x="9692640" y="3657600"/>
            <a:ext cx="1965960" cy="457200"/>
          </a:xfrm>
          <a:prstGeom prst="rect">
            <a:avLst/>
          </a:prstGeom>
          <a:noFill/>
          <a:ln/>
        </p:spPr>
        <p:txBody>
          <a:bodyPr wrap="square" lIns="0" tIns="0" rIns="0" bIns="0" rtlCol="0" anchor="ctr">
            <a:normAutofit/>
          </a:bodyPr>
          <a:lstStyle/>
          <a:p>
            <a:pPr marL="0" indent="0">
              <a:buNone/>
            </a:pPr>
            <a:r>
              <a:rPr lang="en-US" sz="1400" dirty="0">
                <a:solidFill>
                  <a:srgbClr val="425466"/>
                </a:solidFill>
              </a:rPr>
              <a:t>people working beside you</a:t>
            </a:r>
            <a:endParaRPr lang="en-US" sz="1400" dirty="0"/>
          </a:p>
        </p:txBody>
      </p:sp>
      <p:sp>
        <p:nvSpPr>
          <p:cNvPr id="16" name="Text 14"/>
          <p:cNvSpPr/>
          <p:nvPr/>
        </p:nvSpPr>
        <p:spPr>
          <a:xfrm>
            <a:off x="1371600" y="4882896"/>
            <a:ext cx="9326880" cy="923544"/>
          </a:xfrm>
          <a:prstGeom prst="rect">
            <a:avLst/>
          </a:prstGeom>
          <a:noFill/>
          <a:ln/>
        </p:spPr>
        <p:txBody>
          <a:bodyPr wrap="square" lIns="0" tIns="0" rIns="0" bIns="0" rtlCol="0" anchor="ctr"/>
          <a:lstStyle/>
          <a:p>
            <a:pPr marL="0" indent="0" algn="ctr">
              <a:buNone/>
            </a:pPr>
            <a:r>
              <a:rPr lang="en-US" sz="2400" b="1" dirty="0">
                <a:solidFill>
                  <a:srgbClr val="10283B"/>
                </a:solidFill>
              </a:rPr>
              <a:t>The goal is not to pretend the experiences are identical. The goal is schedule alignment and access to instructional resources.</a:t>
            </a:r>
            <a:endParaRPr lang="en-US" sz="2400" dirty="0"/>
          </a:p>
        </p:txBody>
      </p:sp>
      <p:sp>
        <p:nvSpPr>
          <p:cNvPr id="19" name="TextBox 18">
            <a:extLst>
              <a:ext uri="{FF2B5EF4-FFF2-40B4-BE49-F238E27FC236}">
                <a16:creationId xmlns:a16="http://schemas.microsoft.com/office/drawing/2014/main" id="{FED867E6-A211-7AEA-D8DE-287C8FA9F75C}"/>
              </a:ext>
            </a:extLst>
          </p:cNvPr>
          <p:cNvSpPr txBox="1"/>
          <p:nvPr/>
        </p:nvSpPr>
        <p:spPr>
          <a:xfrm>
            <a:off x="227695" y="4304812"/>
            <a:ext cx="3476529" cy="523220"/>
          </a:xfrm>
          <a:prstGeom prst="rect">
            <a:avLst/>
          </a:prstGeom>
          <a:noFill/>
        </p:spPr>
        <p:txBody>
          <a:bodyPr wrap="none" rtlCol="0">
            <a:spAutoFit/>
          </a:bodyPr>
          <a:lstStyle/>
          <a:p>
            <a:r>
              <a:rPr lang="en-US" sz="2800" dirty="0" err="1"/>
              <a:t>django.dr-chuck.com</a:t>
            </a:r>
            <a:endParaRPr lang="en-US" sz="2800" dirty="0"/>
          </a:p>
        </p:txBody>
      </p:sp>
      <p:pic>
        <p:nvPicPr>
          <p:cNvPr id="17" name="Picture 16" descr="A qr code on a white background&#10;&#10;AI-generated content may be incorrect.">
            <a:extLst>
              <a:ext uri="{FF2B5EF4-FFF2-40B4-BE49-F238E27FC236}">
                <a16:creationId xmlns:a16="http://schemas.microsoft.com/office/drawing/2014/main" id="{084436C0-2F06-2083-98D6-D31AC7C3C6C6}"/>
              </a:ext>
            </a:extLst>
          </p:cNvPr>
          <p:cNvPicPr>
            <a:picLocks noChangeAspect="1"/>
          </p:cNvPicPr>
          <p:nvPr/>
        </p:nvPicPr>
        <p:blipFill>
          <a:blip r:embed="rId3"/>
          <a:stretch>
            <a:fillRect/>
          </a:stretch>
        </p:blipFill>
        <p:spPr>
          <a:xfrm>
            <a:off x="9408888" y="237456"/>
            <a:ext cx="2451168" cy="245116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descr="A group of people walking on a bridge&#10;&#10;AI-generated content may be incorrect.">
            <a:extLst>
              <a:ext uri="{FF2B5EF4-FFF2-40B4-BE49-F238E27FC236}">
                <a16:creationId xmlns:a16="http://schemas.microsoft.com/office/drawing/2014/main" id="{774F259F-B572-A147-3C0F-BCC3423BBEDF}"/>
              </a:ext>
            </a:extLst>
          </p:cNvPr>
          <p:cNvPicPr>
            <a:picLocks noChangeAspect="1"/>
          </p:cNvPicPr>
          <p:nvPr/>
        </p:nvPicPr>
        <p:blipFill>
          <a:blip r:embed="rId3"/>
          <a:stretch>
            <a:fillRect/>
          </a:stretch>
        </p:blipFill>
        <p:spPr>
          <a:xfrm>
            <a:off x="6647098" y="791861"/>
            <a:ext cx="4811129" cy="2704821"/>
          </a:xfrm>
          <a:prstGeom prst="rect">
            <a:avLst/>
          </a:prstGeom>
        </p:spPr>
      </p:pic>
      <p:sp>
        <p:nvSpPr>
          <p:cNvPr id="3" name="Shape 1"/>
          <p:cNvSpPr/>
          <p:nvPr/>
        </p:nvSpPr>
        <p:spPr>
          <a:xfrm>
            <a:off x="0" y="0"/>
            <a:ext cx="155448" cy="6858000"/>
          </a:xfrm>
          <a:prstGeom prst="rect">
            <a:avLst/>
          </a:prstGeom>
          <a:solidFill>
            <a:srgbClr val="FFCB05"/>
          </a:solidFill>
          <a:ln w="12700">
            <a:solidFill>
              <a:srgbClr val="FFCB05">
                <a:alpha val="0"/>
              </a:srgbClr>
            </a:solidFill>
            <a:prstDash val="solid"/>
          </a:ln>
        </p:spPr>
        <p:txBody>
          <a:bodyPr/>
          <a:lstStyle/>
          <a:p>
            <a:endParaRPr lang="en-US"/>
          </a:p>
        </p:txBody>
      </p:sp>
      <p:sp>
        <p:nvSpPr>
          <p:cNvPr id="4" name="Text 2"/>
          <p:cNvSpPr/>
          <p:nvPr/>
        </p:nvSpPr>
        <p:spPr>
          <a:xfrm>
            <a:off x="594360" y="402336"/>
            <a:ext cx="5257800" cy="502920"/>
          </a:xfrm>
          <a:prstGeom prst="rect">
            <a:avLst/>
          </a:prstGeom>
          <a:noFill/>
          <a:ln/>
        </p:spPr>
        <p:txBody>
          <a:bodyPr wrap="square" lIns="508" tIns="508" rIns="508" bIns="508" rtlCol="0" anchor="ctr">
            <a:normAutofit/>
          </a:bodyPr>
          <a:lstStyle/>
          <a:p>
            <a:pPr marL="0" indent="0" algn="l">
              <a:buNone/>
            </a:pPr>
            <a:r>
              <a:rPr lang="en-US" sz="3100" b="1" dirty="0">
                <a:solidFill>
                  <a:srgbClr val="00274C"/>
                </a:solidFill>
                <a:latin typeface="Aptos" pitchFamily="34" charset="0"/>
                <a:ea typeface="Aptos" pitchFamily="34" charset="-122"/>
                <a:cs typeface="Aptos" pitchFamily="34" charset="-120"/>
              </a:rPr>
              <a:t>First CLOC offering</a:t>
            </a:r>
            <a:endParaRPr lang="en-US" sz="3100" dirty="0"/>
          </a:p>
        </p:txBody>
      </p:sp>
      <p:sp>
        <p:nvSpPr>
          <p:cNvPr id="5" name="Text 3"/>
          <p:cNvSpPr/>
          <p:nvPr/>
        </p:nvSpPr>
        <p:spPr>
          <a:xfrm>
            <a:off x="621792" y="941832"/>
            <a:ext cx="5303520" cy="320040"/>
          </a:xfrm>
          <a:prstGeom prst="rect">
            <a:avLst/>
          </a:prstGeom>
          <a:noFill/>
          <a:ln/>
        </p:spPr>
        <p:txBody>
          <a:bodyPr wrap="square" lIns="508" tIns="508" rIns="508" bIns="508" rtlCol="0" anchor="ctr">
            <a:normAutofit/>
          </a:bodyPr>
          <a:lstStyle/>
          <a:p>
            <a:pPr marL="0" indent="0" algn="l">
              <a:buNone/>
            </a:pPr>
            <a:r>
              <a:rPr lang="en-US" sz="1500" dirty="0">
                <a:solidFill>
                  <a:srgbClr val="4F5B66"/>
                </a:solidFill>
                <a:latin typeface="Aptos" pitchFamily="34" charset="0"/>
                <a:ea typeface="Aptos" pitchFamily="34" charset="-122"/>
                <a:cs typeface="Aptos" pitchFamily="34" charset="-120"/>
              </a:rPr>
              <a:t>A focused pilot for Building Web Applications in Django.</a:t>
            </a:r>
            <a:endParaRPr lang="en-US" sz="1500" dirty="0"/>
          </a:p>
        </p:txBody>
      </p:sp>
      <p:sp>
        <p:nvSpPr>
          <p:cNvPr id="17" name="Text 14"/>
          <p:cNvSpPr/>
          <p:nvPr/>
        </p:nvSpPr>
        <p:spPr>
          <a:xfrm>
            <a:off x="841248" y="5413248"/>
            <a:ext cx="5074920" cy="502920"/>
          </a:xfrm>
          <a:prstGeom prst="roundRect">
            <a:avLst/>
          </a:prstGeom>
          <a:solidFill>
            <a:srgbClr val="FFCB05"/>
          </a:solidFill>
          <a:ln>
            <a:solidFill>
              <a:srgbClr val="FFCB05">
                <a:alpha val="0"/>
              </a:srgbClr>
            </a:solidFill>
          </a:ln>
        </p:spPr>
        <p:txBody>
          <a:bodyPr wrap="square" lIns="508" tIns="508" rIns="508" bIns="508" rtlCol="0" anchor="ctr">
            <a:normAutofit/>
          </a:bodyPr>
          <a:lstStyle/>
          <a:p>
            <a:pPr marL="0" indent="0" algn="ctr">
              <a:buNone/>
            </a:pPr>
            <a:r>
              <a:rPr lang="en-US" sz="1400" b="1" dirty="0">
                <a:solidFill>
                  <a:srgbClr val="00274C"/>
                </a:solidFill>
                <a:latin typeface="Aptos" pitchFamily="34" charset="0"/>
                <a:ea typeface="Aptos" pitchFamily="34" charset="-122"/>
                <a:cs typeface="Aptos" pitchFamily="34" charset="-120"/>
              </a:rPr>
              <a:t>Flexible online learning + campus connection</a:t>
            </a:r>
            <a:endParaRPr lang="en-US" sz="1400" dirty="0"/>
          </a:p>
        </p:txBody>
      </p:sp>
      <p:sp>
        <p:nvSpPr>
          <p:cNvPr id="19" name="TextBox 18">
            <a:extLst>
              <a:ext uri="{FF2B5EF4-FFF2-40B4-BE49-F238E27FC236}">
                <a16:creationId xmlns:a16="http://schemas.microsoft.com/office/drawing/2014/main" id="{3C870B27-9FC9-2C8D-1AE5-33799BC55EB2}"/>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
        <p:nvSpPr>
          <p:cNvPr id="2" name="Text 5">
            <a:extLst>
              <a:ext uri="{FF2B5EF4-FFF2-40B4-BE49-F238E27FC236}">
                <a16:creationId xmlns:a16="http://schemas.microsoft.com/office/drawing/2014/main" id="{4F1A9A2C-749D-A5DB-4DB0-D00247706890}"/>
              </a:ext>
            </a:extLst>
          </p:cNvPr>
          <p:cNvSpPr/>
          <p:nvPr/>
        </p:nvSpPr>
        <p:spPr>
          <a:xfrm>
            <a:off x="781658" y="1448218"/>
            <a:ext cx="5786567" cy="3965029"/>
          </a:xfrm>
          <a:prstGeom prst="rect">
            <a:avLst/>
          </a:prstGeom>
          <a:noFill/>
          <a:ln/>
        </p:spPr>
        <p:txBody>
          <a:bodyPr wrap="square" lIns="635" tIns="635" rIns="635" bIns="635" rtlCol="0" anchor="ctr">
            <a:normAutofit/>
          </a:bodyPr>
          <a:lstStyle/>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Cost: $300</a:t>
            </a:r>
          </a:p>
          <a:p>
            <a:pPr marL="342900" indent="-342900">
              <a:buFont typeface="Arial" panose="020B0604020202020204" pitchFamily="34" charset="0"/>
              <a:buChar char="•"/>
            </a:pPr>
            <a:r>
              <a:rPr lang="en-US" sz="2000" dirty="0">
                <a:solidFill>
                  <a:srgbClr val="06254A"/>
                </a:solidFill>
                <a:latin typeface="Aptos" pitchFamily="34" charset="0"/>
                <a:ea typeface="Aptos" pitchFamily="34" charset="-122"/>
                <a:cs typeface="Aptos" pitchFamily="34" charset="-120"/>
              </a:rPr>
              <a:t>Enrollment:  August 1 – September 1</a:t>
            </a:r>
          </a:p>
          <a:p>
            <a:pPr marL="342900" indent="-342900">
              <a:buFont typeface="Arial" panose="020B0604020202020204" pitchFamily="34" charset="0"/>
              <a:buChar char="•"/>
            </a:pPr>
            <a:r>
              <a:rPr lang="en-US" sz="2000" dirty="0">
                <a:solidFill>
                  <a:srgbClr val="06254A"/>
                </a:solidFill>
                <a:latin typeface="Aptos" pitchFamily="34" charset="0"/>
              </a:rPr>
              <a:t>August 1 – August 25 is online-only early access (with weekly office hours)</a:t>
            </a:r>
          </a:p>
          <a:p>
            <a:pPr marL="342900" indent="-342900">
              <a:buFont typeface="Arial" panose="020B0604020202020204" pitchFamily="34" charset="0"/>
              <a:buChar char="•"/>
            </a:pPr>
            <a:r>
              <a:rPr lang="en-US" sz="2000" dirty="0">
                <a:solidFill>
                  <a:srgbClr val="06254A"/>
                </a:solidFill>
                <a:latin typeface="Aptos" pitchFamily="34" charset="0"/>
              </a:rPr>
              <a:t>First due date is September 4</a:t>
            </a:r>
          </a:p>
          <a:p>
            <a:pPr marL="342900" indent="-342900">
              <a:buFont typeface="Arial" panose="020B0604020202020204" pitchFamily="34" charset="0"/>
              <a:buChar char="•"/>
            </a:pPr>
            <a:r>
              <a:rPr lang="en-US" sz="2000" dirty="0">
                <a:solidFill>
                  <a:srgbClr val="06254A"/>
                </a:solidFill>
                <a:latin typeface="Aptos" pitchFamily="34" charset="0"/>
              </a:rPr>
              <a:t>Instructional Assistant Sessions start in September</a:t>
            </a:r>
          </a:p>
          <a:p>
            <a:pPr marL="342900" indent="-342900">
              <a:buFont typeface="Arial" panose="020B0604020202020204" pitchFamily="34" charset="0"/>
              <a:buChar char="•"/>
            </a:pPr>
            <a:r>
              <a:rPr lang="en-US" sz="2000" dirty="0">
                <a:solidFill>
                  <a:srgbClr val="06254A"/>
                </a:solidFill>
                <a:latin typeface="Aptos" pitchFamily="34" charset="0"/>
              </a:rPr>
              <a:t>Late Enrollment: September 1 - October 1</a:t>
            </a:r>
          </a:p>
          <a:p>
            <a:pPr marL="342900" indent="-342900">
              <a:buFont typeface="Arial" panose="020B0604020202020204" pitchFamily="34" charset="0"/>
              <a:buChar char="•"/>
            </a:pPr>
            <a:r>
              <a:rPr lang="en-US" sz="2000" dirty="0">
                <a:solidFill>
                  <a:srgbClr val="06254A"/>
                </a:solidFill>
                <a:latin typeface="Aptos" pitchFamily="34" charset="0"/>
              </a:rPr>
              <a:t>Financial Aid – 90% discount – depends on paid enrollment – Decision late August</a:t>
            </a:r>
          </a:p>
          <a:p>
            <a:endParaRPr lang="en-US" sz="2000" dirty="0">
              <a:solidFill>
                <a:srgbClr val="06254A"/>
              </a:solidFill>
              <a:latin typeface="Aptos" pitchFamily="34" charset="0"/>
            </a:endParaRPr>
          </a:p>
          <a:p>
            <a:pPr marL="342900" indent="-342900">
              <a:buFont typeface="Arial" panose="020B0604020202020204" pitchFamily="34" charset="0"/>
              <a:buChar char="•"/>
            </a:pPr>
            <a:endParaRPr lang="en-US" sz="2000" dirty="0"/>
          </a:p>
        </p:txBody>
      </p:sp>
      <p:pic>
        <p:nvPicPr>
          <p:cNvPr id="6" name="Picture 5" descr="A qr code on a white background&#10;&#10;AI-generated content may be incorrect.">
            <a:extLst>
              <a:ext uri="{FF2B5EF4-FFF2-40B4-BE49-F238E27FC236}">
                <a16:creationId xmlns:a16="http://schemas.microsoft.com/office/drawing/2014/main" id="{D5AA12D9-1567-A686-6369-2F54CD553F36}"/>
              </a:ext>
            </a:extLst>
          </p:cNvPr>
          <p:cNvPicPr>
            <a:picLocks noChangeAspect="1"/>
          </p:cNvPicPr>
          <p:nvPr/>
        </p:nvPicPr>
        <p:blipFill>
          <a:blip r:embed="rId4"/>
          <a:stretch>
            <a:fillRect/>
          </a:stretch>
        </p:blipFill>
        <p:spPr>
          <a:xfrm>
            <a:off x="9052662" y="3626040"/>
            <a:ext cx="2160769" cy="21607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AI-generated content may be incorrect.">
            <a:extLst>
              <a:ext uri="{FF2B5EF4-FFF2-40B4-BE49-F238E27FC236}">
                <a16:creationId xmlns:a16="http://schemas.microsoft.com/office/drawing/2014/main" id="{AF23D128-BE19-6A7B-63C5-E91A02340BF5}"/>
              </a:ext>
            </a:extLst>
          </p:cNvPr>
          <p:cNvPicPr>
            <a:picLocks noChangeAspect="1"/>
          </p:cNvPicPr>
          <p:nvPr/>
        </p:nvPicPr>
        <p:blipFill>
          <a:blip r:embed="rId2"/>
          <a:stretch>
            <a:fillRect/>
          </a:stretch>
        </p:blipFill>
        <p:spPr>
          <a:xfrm>
            <a:off x="318499" y="275069"/>
            <a:ext cx="7772400" cy="4243954"/>
          </a:xfrm>
          <a:prstGeom prst="rect">
            <a:avLst/>
          </a:prstGeom>
          <a:ln w="38100">
            <a:solidFill>
              <a:schemeClr val="tx1"/>
            </a:solidFill>
          </a:ln>
        </p:spPr>
      </p:pic>
      <p:pic>
        <p:nvPicPr>
          <p:cNvPr id="9" name="Picture 8" descr="A screenshot of a computer&#10;&#10;AI-generated content may be incorrect.">
            <a:extLst>
              <a:ext uri="{FF2B5EF4-FFF2-40B4-BE49-F238E27FC236}">
                <a16:creationId xmlns:a16="http://schemas.microsoft.com/office/drawing/2014/main" id="{DFFFB8F4-D41C-86FF-9E6C-F9AB518BE0FA}"/>
              </a:ext>
            </a:extLst>
          </p:cNvPr>
          <p:cNvPicPr>
            <a:picLocks noChangeAspect="1"/>
          </p:cNvPicPr>
          <p:nvPr/>
        </p:nvPicPr>
        <p:blipFill>
          <a:blip r:embed="rId3"/>
          <a:stretch>
            <a:fillRect/>
          </a:stretch>
        </p:blipFill>
        <p:spPr>
          <a:xfrm>
            <a:off x="5006251" y="2499723"/>
            <a:ext cx="6781800" cy="4038600"/>
          </a:xfrm>
          <a:prstGeom prst="rect">
            <a:avLst/>
          </a:prstGeom>
          <a:ln w="38100">
            <a:solidFill>
              <a:schemeClr val="tx1"/>
            </a:solidFill>
          </a:ln>
        </p:spPr>
      </p:pic>
      <p:sp>
        <p:nvSpPr>
          <p:cNvPr id="2" name="TextBox 1">
            <a:extLst>
              <a:ext uri="{FF2B5EF4-FFF2-40B4-BE49-F238E27FC236}">
                <a16:creationId xmlns:a16="http://schemas.microsoft.com/office/drawing/2014/main" id="{62FD5444-D91B-8E30-5C45-64638D8B4625}"/>
              </a:ext>
            </a:extLst>
          </p:cNvPr>
          <p:cNvSpPr txBox="1"/>
          <p:nvPr/>
        </p:nvSpPr>
        <p:spPr>
          <a:xfrm>
            <a:off x="8397151" y="864176"/>
            <a:ext cx="3476529" cy="523220"/>
          </a:xfrm>
          <a:prstGeom prst="rect">
            <a:avLst/>
          </a:prstGeom>
          <a:noFill/>
        </p:spPr>
        <p:txBody>
          <a:bodyPr wrap="none" rtlCol="0">
            <a:spAutoFit/>
          </a:bodyPr>
          <a:lstStyle/>
          <a:p>
            <a:r>
              <a:rPr lang="en-US" sz="2800" dirty="0" err="1"/>
              <a:t>django.dr-chuck.com</a:t>
            </a:r>
            <a:endParaRPr lang="en-US" sz="2800" dirty="0"/>
          </a:p>
        </p:txBody>
      </p:sp>
    </p:spTree>
    <p:extLst>
      <p:ext uri="{BB962C8B-B14F-4D97-AF65-F5344CB8AC3E}">
        <p14:creationId xmlns:p14="http://schemas.microsoft.com/office/powerpoint/2010/main" val="1626085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web application&#10;&#10;AI-generated content may be incorrect.">
            <a:extLst>
              <a:ext uri="{FF2B5EF4-FFF2-40B4-BE49-F238E27FC236}">
                <a16:creationId xmlns:a16="http://schemas.microsoft.com/office/drawing/2014/main" id="{41C80248-1DB7-ACBE-29F8-6147784276D9}"/>
              </a:ext>
            </a:extLst>
          </p:cNvPr>
          <p:cNvPicPr>
            <a:picLocks noChangeAspect="1"/>
          </p:cNvPicPr>
          <p:nvPr/>
        </p:nvPicPr>
        <p:blipFill>
          <a:blip r:embed="rId2"/>
          <a:stretch>
            <a:fillRect/>
          </a:stretch>
        </p:blipFill>
        <p:spPr>
          <a:xfrm>
            <a:off x="978911" y="144967"/>
            <a:ext cx="10234178" cy="6250720"/>
          </a:xfrm>
          <a:prstGeom prst="rect">
            <a:avLst/>
          </a:prstGeom>
        </p:spPr>
      </p:pic>
      <p:sp>
        <p:nvSpPr>
          <p:cNvPr id="2" name="TextBox 1">
            <a:extLst>
              <a:ext uri="{FF2B5EF4-FFF2-40B4-BE49-F238E27FC236}">
                <a16:creationId xmlns:a16="http://schemas.microsoft.com/office/drawing/2014/main" id="{D039DAD9-88EB-28E1-5305-DF72470F1CE0}"/>
              </a:ext>
            </a:extLst>
          </p:cNvPr>
          <p:cNvSpPr txBox="1"/>
          <p:nvPr/>
        </p:nvSpPr>
        <p:spPr>
          <a:xfrm>
            <a:off x="5139173" y="5022981"/>
            <a:ext cx="4366568" cy="523220"/>
          </a:xfrm>
          <a:prstGeom prst="rect">
            <a:avLst/>
          </a:prstGeom>
          <a:noFill/>
        </p:spPr>
        <p:txBody>
          <a:bodyPr wrap="square" rtlCol="0">
            <a:spAutoFit/>
          </a:bodyPr>
          <a:lstStyle/>
          <a:p>
            <a:r>
              <a:rPr lang="en-US" sz="2800" dirty="0" err="1"/>
              <a:t>django.dr-chuck.com</a:t>
            </a:r>
            <a:endParaRPr lang="en-US" sz="2800" dirty="0"/>
          </a:p>
        </p:txBody>
      </p:sp>
      <p:pic>
        <p:nvPicPr>
          <p:cNvPr id="5" name="Picture 4" descr="A qr code on a white background&#10;&#10;AI-generated content may be incorrect.">
            <a:extLst>
              <a:ext uri="{FF2B5EF4-FFF2-40B4-BE49-F238E27FC236}">
                <a16:creationId xmlns:a16="http://schemas.microsoft.com/office/drawing/2014/main" id="{B0E59A4D-A890-6DE1-73B1-94C67085FEFB}"/>
              </a:ext>
            </a:extLst>
          </p:cNvPr>
          <p:cNvPicPr>
            <a:picLocks noChangeAspect="1"/>
          </p:cNvPicPr>
          <p:nvPr/>
        </p:nvPicPr>
        <p:blipFill>
          <a:blip r:embed="rId3"/>
          <a:stretch>
            <a:fillRect/>
          </a:stretch>
        </p:blipFill>
        <p:spPr>
          <a:xfrm>
            <a:off x="9272246" y="3394778"/>
            <a:ext cx="2655147" cy="2655147"/>
          </a:xfrm>
          <a:prstGeom prst="rect">
            <a:avLst/>
          </a:prstGeom>
        </p:spPr>
      </p:pic>
    </p:spTree>
    <p:extLst>
      <p:ext uri="{BB962C8B-B14F-4D97-AF65-F5344CB8AC3E}">
        <p14:creationId xmlns:p14="http://schemas.microsoft.com/office/powerpoint/2010/main" val="92848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7FAFB"/>
        </a:solidFill>
        <a:effectLst/>
      </p:bgPr>
    </p:bg>
    <p:spTree>
      <p:nvGrpSpPr>
        <p:cNvPr id="1" name=""/>
        <p:cNvGrpSpPr/>
        <p:nvPr/>
      </p:nvGrpSpPr>
      <p:grpSpPr>
        <a:xfrm>
          <a:off x="0" y="0"/>
          <a:ext cx="0" cy="0"/>
          <a:chOff x="0" y="0"/>
          <a:chExt cx="0" cy="0"/>
        </a:xfrm>
      </p:grpSpPr>
      <p:sp>
        <p:nvSpPr>
          <p:cNvPr id="2" name="Text 0"/>
          <p:cNvSpPr/>
          <p:nvPr/>
        </p:nvSpPr>
        <p:spPr>
          <a:xfrm>
            <a:off x="502919" y="347472"/>
            <a:ext cx="10429687" cy="502920"/>
          </a:xfrm>
          <a:prstGeom prst="rect">
            <a:avLst/>
          </a:prstGeom>
          <a:noFill/>
          <a:ln/>
        </p:spPr>
        <p:txBody>
          <a:bodyPr wrap="square" lIns="0" tIns="0" rIns="0" bIns="0" rtlCol="0" anchor="ctr"/>
          <a:lstStyle/>
          <a:p>
            <a:pPr marL="0" indent="0">
              <a:buNone/>
            </a:pPr>
            <a:r>
              <a:rPr lang="en-US" sz="3100" b="1" dirty="0">
                <a:solidFill>
                  <a:srgbClr val="18324A"/>
                </a:solidFill>
                <a:latin typeface="Aptos Display" pitchFamily="34" charset="0"/>
                <a:ea typeface="Aptos Display" pitchFamily="34" charset="-122"/>
                <a:cs typeface="Aptos Display" pitchFamily="34" charset="-120"/>
              </a:rPr>
              <a:t>This is an experiment (Alternative Learning Initiative – ALI)</a:t>
            </a:r>
            <a:endParaRPr lang="en-US" sz="3100" dirty="0"/>
          </a:p>
        </p:txBody>
      </p:sp>
      <p:sp>
        <p:nvSpPr>
          <p:cNvPr id="3" name="Text 1"/>
          <p:cNvSpPr/>
          <p:nvPr/>
        </p:nvSpPr>
        <p:spPr>
          <a:xfrm>
            <a:off x="530352" y="896112"/>
            <a:ext cx="8046720" cy="310896"/>
          </a:xfrm>
          <a:prstGeom prst="rect">
            <a:avLst/>
          </a:prstGeom>
          <a:noFill/>
          <a:ln/>
        </p:spPr>
        <p:txBody>
          <a:bodyPr wrap="square" lIns="0" tIns="0" rIns="0" bIns="0" rtlCol="0" anchor="ctr"/>
          <a:lstStyle/>
          <a:p>
            <a:pPr marL="0" indent="0">
              <a:buNone/>
            </a:pPr>
            <a:r>
              <a:rPr lang="en-US" sz="1400" dirty="0">
                <a:solidFill>
                  <a:srgbClr val="425466"/>
                </a:solidFill>
              </a:rPr>
              <a:t>Out experience in this first offering will define all future offerings from me and other UMSI Faculty</a:t>
            </a:r>
            <a:endParaRPr lang="en-US" sz="1400" dirty="0"/>
          </a:p>
        </p:txBody>
      </p:sp>
      <p:sp>
        <p:nvSpPr>
          <p:cNvPr id="4" name="Text 2"/>
          <p:cNvSpPr/>
          <p:nvPr/>
        </p:nvSpPr>
        <p:spPr>
          <a:xfrm>
            <a:off x="914400" y="1737360"/>
            <a:ext cx="2194560" cy="411480"/>
          </a:xfrm>
          <a:prstGeom prst="rect">
            <a:avLst/>
          </a:prstGeom>
          <a:noFill/>
          <a:ln/>
        </p:spPr>
        <p:txBody>
          <a:bodyPr wrap="square" lIns="0" tIns="0" rIns="0" bIns="0" rtlCol="0" anchor="ctr"/>
          <a:lstStyle/>
          <a:p>
            <a:pPr marL="0" indent="0" algn="ctr">
              <a:buNone/>
            </a:pPr>
            <a:r>
              <a:rPr lang="en-US" sz="2700" b="1" dirty="0">
                <a:solidFill>
                  <a:srgbClr val="138A96"/>
                </a:solidFill>
              </a:rPr>
              <a:t>Listen</a:t>
            </a:r>
            <a:endParaRPr lang="en-US" sz="2700" dirty="0"/>
          </a:p>
        </p:txBody>
      </p:sp>
      <p:sp>
        <p:nvSpPr>
          <p:cNvPr id="5" name="Text 3"/>
          <p:cNvSpPr/>
          <p:nvPr/>
        </p:nvSpPr>
        <p:spPr>
          <a:xfrm>
            <a:off x="4983480" y="1737360"/>
            <a:ext cx="2194560" cy="411480"/>
          </a:xfrm>
          <a:prstGeom prst="rect">
            <a:avLst/>
          </a:prstGeom>
          <a:noFill/>
          <a:ln/>
        </p:spPr>
        <p:txBody>
          <a:bodyPr wrap="square" lIns="0" tIns="0" rIns="0" bIns="0" rtlCol="0" anchor="ctr"/>
          <a:lstStyle/>
          <a:p>
            <a:pPr marL="0" indent="0" algn="ctr">
              <a:buNone/>
            </a:pPr>
            <a:r>
              <a:rPr lang="en-US" sz="2700" b="1" dirty="0">
                <a:solidFill>
                  <a:srgbClr val="F5A623"/>
                </a:solidFill>
              </a:rPr>
              <a:t>Adjust</a:t>
            </a:r>
            <a:endParaRPr lang="en-US" sz="2700" dirty="0"/>
          </a:p>
        </p:txBody>
      </p:sp>
      <p:sp>
        <p:nvSpPr>
          <p:cNvPr id="6" name="Text 4"/>
          <p:cNvSpPr/>
          <p:nvPr/>
        </p:nvSpPr>
        <p:spPr>
          <a:xfrm>
            <a:off x="8915400" y="1737360"/>
            <a:ext cx="2194560" cy="411480"/>
          </a:xfrm>
          <a:prstGeom prst="rect">
            <a:avLst/>
          </a:prstGeom>
          <a:noFill/>
          <a:ln/>
        </p:spPr>
        <p:txBody>
          <a:bodyPr wrap="square" lIns="0" tIns="0" rIns="0" bIns="0" rtlCol="0" anchor="ctr"/>
          <a:lstStyle/>
          <a:p>
            <a:pPr marL="0" indent="0" algn="ctr">
              <a:buNone/>
            </a:pPr>
            <a:r>
              <a:rPr lang="en-US" sz="2700" b="1" dirty="0">
                <a:solidFill>
                  <a:srgbClr val="5E8C42"/>
                </a:solidFill>
              </a:rPr>
              <a:t>Improve</a:t>
            </a:r>
            <a:endParaRPr lang="en-US" sz="2700" dirty="0"/>
          </a:p>
        </p:txBody>
      </p:sp>
      <p:sp>
        <p:nvSpPr>
          <p:cNvPr id="7" name="Shape 5"/>
          <p:cNvSpPr/>
          <p:nvPr/>
        </p:nvSpPr>
        <p:spPr>
          <a:xfrm>
            <a:off x="3337560" y="1965960"/>
            <a:ext cx="1234440" cy="0"/>
          </a:xfrm>
          <a:prstGeom prst="line">
            <a:avLst/>
          </a:prstGeom>
          <a:noFill/>
          <a:ln w="25400">
            <a:solidFill>
              <a:srgbClr val="9AB7BB"/>
            </a:solidFill>
            <a:prstDash val="solid"/>
            <a:headEnd type="none"/>
            <a:tailEnd type="triangle"/>
          </a:ln>
        </p:spPr>
        <p:txBody>
          <a:bodyPr/>
          <a:lstStyle/>
          <a:p>
            <a:endParaRPr/>
          </a:p>
        </p:txBody>
      </p:sp>
      <p:sp>
        <p:nvSpPr>
          <p:cNvPr id="8" name="Shape 6"/>
          <p:cNvSpPr/>
          <p:nvPr/>
        </p:nvSpPr>
        <p:spPr>
          <a:xfrm>
            <a:off x="7360920" y="1965960"/>
            <a:ext cx="1188720" cy="0"/>
          </a:xfrm>
          <a:prstGeom prst="line">
            <a:avLst/>
          </a:prstGeom>
          <a:noFill/>
          <a:ln w="25400">
            <a:solidFill>
              <a:srgbClr val="9AB7BB"/>
            </a:solidFill>
            <a:prstDash val="solid"/>
            <a:headEnd type="none"/>
            <a:tailEnd type="triangle"/>
          </a:ln>
        </p:spPr>
        <p:txBody>
          <a:bodyPr/>
          <a:lstStyle/>
          <a:p>
            <a:endParaRPr/>
          </a:p>
        </p:txBody>
      </p:sp>
      <p:sp>
        <p:nvSpPr>
          <p:cNvPr id="9" name="Text 7"/>
          <p:cNvSpPr/>
          <p:nvPr/>
        </p:nvSpPr>
        <p:spPr>
          <a:xfrm>
            <a:off x="86868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0" name="Text 8"/>
          <p:cNvSpPr/>
          <p:nvPr/>
        </p:nvSpPr>
        <p:spPr>
          <a:xfrm>
            <a:off x="1170432" y="2779776"/>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office-hour feedback</a:t>
            </a:r>
            <a:endParaRPr lang="en-US" sz="2000" dirty="0"/>
          </a:p>
        </p:txBody>
      </p:sp>
      <p:sp>
        <p:nvSpPr>
          <p:cNvPr id="11" name="Text 9"/>
          <p:cNvSpPr/>
          <p:nvPr/>
        </p:nvSpPr>
        <p:spPr>
          <a:xfrm>
            <a:off x="86868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2" name="Text 10"/>
          <p:cNvSpPr/>
          <p:nvPr/>
        </p:nvSpPr>
        <p:spPr>
          <a:xfrm>
            <a:off x="1170432" y="3218688"/>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live session questions</a:t>
            </a:r>
            <a:endParaRPr lang="en-US" sz="2000" dirty="0"/>
          </a:p>
        </p:txBody>
      </p:sp>
      <p:sp>
        <p:nvSpPr>
          <p:cNvPr id="13" name="Text 11"/>
          <p:cNvSpPr/>
          <p:nvPr/>
        </p:nvSpPr>
        <p:spPr>
          <a:xfrm>
            <a:off x="86868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4" name="Text 12"/>
          <p:cNvSpPr/>
          <p:nvPr/>
        </p:nvSpPr>
        <p:spPr>
          <a:xfrm>
            <a:off x="1170432" y="3657600"/>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email</a:t>
            </a:r>
            <a:endParaRPr lang="en-US" sz="2000" dirty="0"/>
          </a:p>
        </p:txBody>
      </p:sp>
      <p:sp>
        <p:nvSpPr>
          <p:cNvPr id="15" name="Text 13"/>
          <p:cNvSpPr/>
          <p:nvPr/>
        </p:nvSpPr>
        <p:spPr>
          <a:xfrm>
            <a:off x="86868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6" name="Text 14"/>
          <p:cNvSpPr/>
          <p:nvPr/>
        </p:nvSpPr>
        <p:spPr>
          <a:xfrm>
            <a:off x="1170432" y="4096512"/>
            <a:ext cx="2990088" cy="310896"/>
          </a:xfrm>
          <a:prstGeom prst="rect">
            <a:avLst/>
          </a:prstGeom>
          <a:noFill/>
          <a:ln/>
        </p:spPr>
        <p:txBody>
          <a:bodyPr wrap="square" lIns="0" tIns="0" rIns="0" bIns="0" rtlCol="0" anchor="ctr">
            <a:noAutofit/>
          </a:bodyPr>
          <a:lstStyle/>
          <a:p>
            <a:pPr marL="0" indent="0">
              <a:buNone/>
            </a:pPr>
            <a:r>
              <a:rPr lang="en-US" sz="2000" dirty="0">
                <a:solidFill>
                  <a:srgbClr val="10283B"/>
                </a:solidFill>
              </a:rPr>
              <a:t>patterns across assignments</a:t>
            </a:r>
            <a:endParaRPr lang="en-US" sz="2000" dirty="0"/>
          </a:p>
        </p:txBody>
      </p:sp>
      <p:sp>
        <p:nvSpPr>
          <p:cNvPr id="17" name="Text 15"/>
          <p:cNvSpPr/>
          <p:nvPr/>
        </p:nvSpPr>
        <p:spPr>
          <a:xfrm>
            <a:off x="489204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18" name="Text 16"/>
          <p:cNvSpPr/>
          <p:nvPr/>
        </p:nvSpPr>
        <p:spPr>
          <a:xfrm>
            <a:off x="5193792" y="2779776"/>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clarify instructions</a:t>
            </a:r>
            <a:endParaRPr lang="en-US" sz="2000" dirty="0"/>
          </a:p>
        </p:txBody>
      </p:sp>
      <p:sp>
        <p:nvSpPr>
          <p:cNvPr id="19" name="Text 17"/>
          <p:cNvSpPr/>
          <p:nvPr/>
        </p:nvSpPr>
        <p:spPr>
          <a:xfrm>
            <a:off x="489204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0" name="Text 18"/>
          <p:cNvSpPr/>
          <p:nvPr/>
        </p:nvSpPr>
        <p:spPr>
          <a:xfrm>
            <a:off x="5193792" y="3218688"/>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add examples</a:t>
            </a:r>
            <a:endParaRPr lang="en-US" sz="2000" dirty="0"/>
          </a:p>
        </p:txBody>
      </p:sp>
      <p:sp>
        <p:nvSpPr>
          <p:cNvPr id="21" name="Text 19"/>
          <p:cNvSpPr/>
          <p:nvPr/>
        </p:nvSpPr>
        <p:spPr>
          <a:xfrm>
            <a:off x="489204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2" name="Text 20"/>
          <p:cNvSpPr/>
          <p:nvPr/>
        </p:nvSpPr>
        <p:spPr>
          <a:xfrm>
            <a:off x="5193792" y="3657600"/>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tune sessions</a:t>
            </a:r>
            <a:endParaRPr lang="en-US" sz="2000" dirty="0"/>
          </a:p>
        </p:txBody>
      </p:sp>
      <p:sp>
        <p:nvSpPr>
          <p:cNvPr id="23" name="Text 21"/>
          <p:cNvSpPr/>
          <p:nvPr/>
        </p:nvSpPr>
        <p:spPr>
          <a:xfrm>
            <a:off x="489204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4" name="Text 22"/>
          <p:cNvSpPr/>
          <p:nvPr/>
        </p:nvSpPr>
        <p:spPr>
          <a:xfrm>
            <a:off x="5193792" y="4096512"/>
            <a:ext cx="299008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create extra material</a:t>
            </a:r>
            <a:endParaRPr lang="en-US" sz="2000" dirty="0"/>
          </a:p>
        </p:txBody>
      </p:sp>
      <p:sp>
        <p:nvSpPr>
          <p:cNvPr id="25" name="Text 23"/>
          <p:cNvSpPr/>
          <p:nvPr/>
        </p:nvSpPr>
        <p:spPr>
          <a:xfrm>
            <a:off x="8732520" y="2743200"/>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6" name="Text 24"/>
          <p:cNvSpPr/>
          <p:nvPr/>
        </p:nvSpPr>
        <p:spPr>
          <a:xfrm>
            <a:off x="9034272" y="2779776"/>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future offerings</a:t>
            </a:r>
            <a:endParaRPr lang="en-US" sz="2000" dirty="0"/>
          </a:p>
        </p:txBody>
      </p:sp>
      <p:sp>
        <p:nvSpPr>
          <p:cNvPr id="27" name="Text 25"/>
          <p:cNvSpPr/>
          <p:nvPr/>
        </p:nvSpPr>
        <p:spPr>
          <a:xfrm>
            <a:off x="8732520" y="3182112"/>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28" name="Text 26"/>
          <p:cNvSpPr/>
          <p:nvPr/>
        </p:nvSpPr>
        <p:spPr>
          <a:xfrm>
            <a:off x="9034272" y="3218688"/>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better interaction</a:t>
            </a:r>
            <a:endParaRPr lang="en-US" sz="2000" dirty="0"/>
          </a:p>
        </p:txBody>
      </p:sp>
      <p:sp>
        <p:nvSpPr>
          <p:cNvPr id="29" name="Text 27"/>
          <p:cNvSpPr/>
          <p:nvPr/>
        </p:nvSpPr>
        <p:spPr>
          <a:xfrm>
            <a:off x="8732520" y="3621024"/>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30" name="Text 28"/>
          <p:cNvSpPr/>
          <p:nvPr/>
        </p:nvSpPr>
        <p:spPr>
          <a:xfrm>
            <a:off x="9034272" y="3657600"/>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stronger online support</a:t>
            </a:r>
            <a:endParaRPr lang="en-US" sz="2000" dirty="0"/>
          </a:p>
        </p:txBody>
      </p:sp>
      <p:sp>
        <p:nvSpPr>
          <p:cNvPr id="31" name="Text 29"/>
          <p:cNvSpPr/>
          <p:nvPr/>
        </p:nvSpPr>
        <p:spPr>
          <a:xfrm>
            <a:off x="8732520" y="4059936"/>
            <a:ext cx="228600" cy="228600"/>
          </a:xfrm>
          <a:prstGeom prst="rect">
            <a:avLst/>
          </a:prstGeom>
          <a:noFill/>
          <a:ln/>
        </p:spPr>
        <p:txBody>
          <a:bodyPr wrap="square" lIns="0" tIns="0" rIns="0" bIns="0" rtlCol="0" anchor="ctr"/>
          <a:lstStyle/>
          <a:p>
            <a:pPr marL="0" indent="0">
              <a:buNone/>
            </a:pPr>
            <a:r>
              <a:rPr lang="en-US" sz="3200" b="1" dirty="0">
                <a:solidFill>
                  <a:srgbClr val="F5A623"/>
                </a:solidFill>
              </a:rPr>
              <a:t>•</a:t>
            </a:r>
            <a:endParaRPr lang="en-US" sz="3200" dirty="0"/>
          </a:p>
        </p:txBody>
      </p:sp>
      <p:sp>
        <p:nvSpPr>
          <p:cNvPr id="32" name="Text 30"/>
          <p:cNvSpPr/>
          <p:nvPr/>
        </p:nvSpPr>
        <p:spPr>
          <a:xfrm>
            <a:off x="9034272" y="4096512"/>
            <a:ext cx="2807208" cy="310896"/>
          </a:xfrm>
          <a:prstGeom prst="rect">
            <a:avLst/>
          </a:prstGeom>
          <a:noFill/>
          <a:ln/>
        </p:spPr>
        <p:txBody>
          <a:bodyPr wrap="square" lIns="0" tIns="0" rIns="0" bIns="0" rtlCol="0" anchor="ctr">
            <a:normAutofit/>
          </a:bodyPr>
          <a:lstStyle/>
          <a:p>
            <a:pPr marL="0" indent="0">
              <a:buNone/>
            </a:pPr>
            <a:r>
              <a:rPr lang="en-US" sz="2000" dirty="0">
                <a:solidFill>
                  <a:srgbClr val="10283B"/>
                </a:solidFill>
              </a:rPr>
              <a:t>clearer CLOC model</a:t>
            </a:r>
            <a:endParaRPr lang="en-US" sz="2000" dirty="0"/>
          </a:p>
        </p:txBody>
      </p:sp>
      <p:sp>
        <p:nvSpPr>
          <p:cNvPr id="35" name="TextBox 34">
            <a:extLst>
              <a:ext uri="{FF2B5EF4-FFF2-40B4-BE49-F238E27FC236}">
                <a16:creationId xmlns:a16="http://schemas.microsoft.com/office/drawing/2014/main" id="{DBCCA16A-F61A-2DFC-A847-E4D2A949AC25}"/>
              </a:ext>
            </a:extLst>
          </p:cNvPr>
          <p:cNvSpPr txBox="1"/>
          <p:nvPr/>
        </p:nvSpPr>
        <p:spPr>
          <a:xfrm>
            <a:off x="8525466" y="5916168"/>
            <a:ext cx="3476529" cy="523220"/>
          </a:xfrm>
          <a:prstGeom prst="rect">
            <a:avLst/>
          </a:prstGeom>
          <a:noFill/>
        </p:spPr>
        <p:txBody>
          <a:bodyPr wrap="none" rtlCol="0">
            <a:spAutoFit/>
          </a:bodyPr>
          <a:lstStyle/>
          <a:p>
            <a:r>
              <a:rPr lang="en-US" sz="2800" dirty="0" err="1"/>
              <a:t>django.dr-chuck.com</a:t>
            </a:r>
            <a:endParaRPr lang="en-US" sz="2800" dirty="0"/>
          </a:p>
        </p:txBody>
      </p:sp>
      <p:sp>
        <p:nvSpPr>
          <p:cNvPr id="33" name="Text 1">
            <a:extLst>
              <a:ext uri="{FF2B5EF4-FFF2-40B4-BE49-F238E27FC236}">
                <a16:creationId xmlns:a16="http://schemas.microsoft.com/office/drawing/2014/main" id="{93EC8F54-8AAD-A3DD-0697-B0B595E981EA}"/>
              </a:ext>
            </a:extLst>
          </p:cNvPr>
          <p:cNvSpPr/>
          <p:nvPr/>
        </p:nvSpPr>
        <p:spPr>
          <a:xfrm>
            <a:off x="530352" y="5038344"/>
            <a:ext cx="9484002" cy="310896"/>
          </a:xfrm>
          <a:prstGeom prst="rect">
            <a:avLst/>
          </a:prstGeom>
          <a:noFill/>
          <a:ln/>
        </p:spPr>
        <p:txBody>
          <a:bodyPr wrap="square" lIns="0" tIns="0" rIns="0" bIns="0" rtlCol="0" anchor="ctr"/>
          <a:lstStyle/>
          <a:p>
            <a:pPr marL="0" indent="0">
              <a:buNone/>
            </a:pPr>
            <a:r>
              <a:rPr lang="en-US" sz="2400" b="1" dirty="0">
                <a:solidFill>
                  <a:srgbClr val="425466"/>
                </a:solidFill>
              </a:rPr>
              <a:t>I need to make a report to my fellow faculty throughout the semester.</a:t>
            </a:r>
            <a:endParaRPr lang="en-US" sz="24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233"/>
        </a:solidFill>
        <a:effectLst/>
      </p:bgPr>
    </p:bg>
    <p:spTree>
      <p:nvGrpSpPr>
        <p:cNvPr id="1" name=""/>
        <p:cNvGrpSpPr/>
        <p:nvPr/>
      </p:nvGrpSpPr>
      <p:grpSpPr>
        <a:xfrm>
          <a:off x="0" y="0"/>
          <a:ext cx="0" cy="0"/>
          <a:chOff x="0" y="0"/>
          <a:chExt cx="0" cy="0"/>
        </a:xfrm>
      </p:grpSpPr>
      <p:sp>
        <p:nvSpPr>
          <p:cNvPr id="2" name="Shape 0"/>
          <p:cNvSpPr/>
          <p:nvPr/>
        </p:nvSpPr>
        <p:spPr>
          <a:xfrm>
            <a:off x="0" y="0"/>
            <a:ext cx="5074920" cy="6858000"/>
          </a:xfrm>
          <a:prstGeom prst="rect">
            <a:avLst/>
          </a:prstGeom>
          <a:solidFill>
            <a:srgbClr val="0F2233"/>
          </a:solidFill>
          <a:ln w="12700">
            <a:solidFill>
              <a:srgbClr val="0F2233">
                <a:alpha val="0"/>
              </a:srgbClr>
            </a:solidFill>
            <a:prstDash val="solid"/>
          </a:ln>
        </p:spPr>
        <p:txBody>
          <a:bodyPr/>
          <a:lstStyle/>
          <a:p>
            <a:endParaRPr dirty="0"/>
          </a:p>
        </p:txBody>
      </p:sp>
      <p:sp>
        <p:nvSpPr>
          <p:cNvPr id="4" name="Text 1"/>
          <p:cNvSpPr/>
          <p:nvPr/>
        </p:nvSpPr>
        <p:spPr>
          <a:xfrm>
            <a:off x="685800" y="685800"/>
            <a:ext cx="4023360" cy="502920"/>
          </a:xfrm>
          <a:prstGeom prst="rect">
            <a:avLst/>
          </a:prstGeom>
          <a:noFill/>
          <a:ln/>
        </p:spPr>
        <p:txBody>
          <a:bodyPr wrap="square" lIns="0" tIns="0" rIns="0" bIns="0" rtlCol="0" anchor="ctr"/>
          <a:lstStyle/>
          <a:p>
            <a:pPr marL="0" indent="0">
              <a:buNone/>
            </a:pPr>
            <a:r>
              <a:rPr lang="en-US" sz="3400" b="1" dirty="0">
                <a:solidFill>
                  <a:srgbClr val="FFFFFF"/>
                </a:solidFill>
              </a:rPr>
              <a:t>One course.</a:t>
            </a:r>
            <a:endParaRPr lang="en-US" sz="3400" dirty="0"/>
          </a:p>
        </p:txBody>
      </p:sp>
      <p:sp>
        <p:nvSpPr>
          <p:cNvPr id="5" name="Text 2"/>
          <p:cNvSpPr/>
          <p:nvPr/>
        </p:nvSpPr>
        <p:spPr>
          <a:xfrm>
            <a:off x="685800" y="1389888"/>
            <a:ext cx="4023360" cy="868680"/>
          </a:xfrm>
          <a:prstGeom prst="rect">
            <a:avLst/>
          </a:prstGeom>
          <a:noFill/>
          <a:ln/>
        </p:spPr>
        <p:txBody>
          <a:bodyPr wrap="square" lIns="0" tIns="0" rIns="0" bIns="0" rtlCol="0" anchor="ctr">
            <a:normAutofit fontScale="92500" lnSpcReduction="10000"/>
          </a:bodyPr>
          <a:lstStyle/>
          <a:p>
            <a:pPr marL="0" indent="0">
              <a:buNone/>
            </a:pPr>
            <a:r>
              <a:rPr lang="en-US" sz="3300" b="1" dirty="0">
                <a:solidFill>
                  <a:srgbClr val="FFFFFF"/>
                </a:solidFill>
              </a:rPr>
              <a:t>Campus and open sections.</a:t>
            </a:r>
            <a:endParaRPr lang="en-US" sz="3300" dirty="0"/>
          </a:p>
        </p:txBody>
      </p:sp>
      <p:sp>
        <p:nvSpPr>
          <p:cNvPr id="6" name="Text 3"/>
          <p:cNvSpPr/>
          <p:nvPr/>
        </p:nvSpPr>
        <p:spPr>
          <a:xfrm>
            <a:off x="713232" y="2578608"/>
            <a:ext cx="3977640" cy="1280160"/>
          </a:xfrm>
          <a:prstGeom prst="rect">
            <a:avLst/>
          </a:prstGeom>
          <a:noFill/>
          <a:ln/>
        </p:spPr>
        <p:txBody>
          <a:bodyPr wrap="square" lIns="0" tIns="0" rIns="0" bIns="0" rtlCol="0" anchor="ctr">
            <a:normAutofit lnSpcReduction="10000"/>
          </a:bodyPr>
          <a:lstStyle/>
          <a:p>
            <a:pPr marL="0" indent="0">
              <a:buNone/>
            </a:pPr>
            <a:r>
              <a:rPr lang="en-US" sz="2200" dirty="0">
                <a:solidFill>
                  <a:srgbClr val="E9F6F6"/>
                </a:solidFill>
              </a:rPr>
              <a:t>A shared schedule, a shared instructional community, and a better chance to feel connected to the process of learning.</a:t>
            </a:r>
            <a:endParaRPr lang="en-US" sz="2200" dirty="0"/>
          </a:p>
        </p:txBody>
      </p:sp>
      <p:sp>
        <p:nvSpPr>
          <p:cNvPr id="7" name="Text 4"/>
          <p:cNvSpPr/>
          <p:nvPr/>
        </p:nvSpPr>
        <p:spPr>
          <a:xfrm>
            <a:off x="713232" y="4433104"/>
            <a:ext cx="4114800" cy="961856"/>
          </a:xfrm>
          <a:prstGeom prst="rect">
            <a:avLst/>
          </a:prstGeom>
          <a:noFill/>
          <a:ln/>
        </p:spPr>
        <p:txBody>
          <a:bodyPr wrap="square" lIns="0" tIns="0" rIns="0" bIns="0" rtlCol="0" anchor="ctr"/>
          <a:lstStyle/>
          <a:p>
            <a:pPr marL="0" indent="0">
              <a:buNone/>
            </a:pPr>
            <a:r>
              <a:rPr lang="en-US" sz="3000" b="1" dirty="0">
                <a:solidFill>
                  <a:srgbClr val="F8C463"/>
                </a:solidFill>
              </a:rPr>
              <a:t>Please join me in the the world's first CLOC</a:t>
            </a:r>
            <a:endParaRPr lang="en-US" sz="3000" dirty="0"/>
          </a:p>
        </p:txBody>
      </p:sp>
      <p:pic>
        <p:nvPicPr>
          <p:cNvPr id="10" name="Picture 9" descr="A computer on a desk&#10;&#10;AI-generated content may be incorrect.">
            <a:extLst>
              <a:ext uri="{FF2B5EF4-FFF2-40B4-BE49-F238E27FC236}">
                <a16:creationId xmlns:a16="http://schemas.microsoft.com/office/drawing/2014/main" id="{1D005A04-63CA-8D32-4E96-F117BBA88862}"/>
              </a:ext>
            </a:extLst>
          </p:cNvPr>
          <p:cNvPicPr>
            <a:picLocks noChangeAspect="1"/>
          </p:cNvPicPr>
          <p:nvPr/>
        </p:nvPicPr>
        <p:blipFill>
          <a:blip r:embed="rId3"/>
          <a:srcRect r="50484" b="10404"/>
          <a:stretch>
            <a:fillRect/>
          </a:stretch>
        </p:blipFill>
        <p:spPr>
          <a:xfrm>
            <a:off x="4908172" y="1279083"/>
            <a:ext cx="3476529" cy="3540374"/>
          </a:xfrm>
          <a:prstGeom prst="rect">
            <a:avLst/>
          </a:prstGeom>
        </p:spPr>
      </p:pic>
      <p:sp>
        <p:nvSpPr>
          <p:cNvPr id="3" name="TextBox 2">
            <a:extLst>
              <a:ext uri="{FF2B5EF4-FFF2-40B4-BE49-F238E27FC236}">
                <a16:creationId xmlns:a16="http://schemas.microsoft.com/office/drawing/2014/main" id="{E16B0A92-0B71-95F2-0A25-812D871C5B92}"/>
              </a:ext>
            </a:extLst>
          </p:cNvPr>
          <p:cNvSpPr txBox="1"/>
          <p:nvPr/>
        </p:nvSpPr>
        <p:spPr>
          <a:xfrm>
            <a:off x="7117082" y="5053898"/>
            <a:ext cx="3476529" cy="523220"/>
          </a:xfrm>
          <a:prstGeom prst="rect">
            <a:avLst/>
          </a:prstGeom>
          <a:noFill/>
        </p:spPr>
        <p:txBody>
          <a:bodyPr wrap="none" rtlCol="0">
            <a:spAutoFit/>
          </a:bodyPr>
          <a:lstStyle/>
          <a:p>
            <a:r>
              <a:rPr lang="en-US" sz="2800" dirty="0" err="1">
                <a:solidFill>
                  <a:schemeClr val="bg1"/>
                </a:solidFill>
              </a:rPr>
              <a:t>django.dr-chuck.com</a:t>
            </a:r>
            <a:endParaRPr lang="en-US" sz="2800" dirty="0">
              <a:solidFill>
                <a:schemeClr val="bg1"/>
              </a:solidFill>
            </a:endParaRPr>
          </a:p>
        </p:txBody>
      </p:sp>
      <p:pic>
        <p:nvPicPr>
          <p:cNvPr id="8" name="Picture 7" descr="A qr code on a white background&#10;&#10;AI-generated content may be incorrect.">
            <a:extLst>
              <a:ext uri="{FF2B5EF4-FFF2-40B4-BE49-F238E27FC236}">
                <a16:creationId xmlns:a16="http://schemas.microsoft.com/office/drawing/2014/main" id="{396B7D19-0217-3795-E27F-90B622743FFF}"/>
              </a:ext>
            </a:extLst>
          </p:cNvPr>
          <p:cNvPicPr>
            <a:picLocks noChangeAspect="1"/>
          </p:cNvPicPr>
          <p:nvPr/>
        </p:nvPicPr>
        <p:blipFill>
          <a:blip r:embed="rId4"/>
          <a:stretch>
            <a:fillRect/>
          </a:stretch>
        </p:blipFill>
        <p:spPr>
          <a:xfrm>
            <a:off x="8573151" y="1427813"/>
            <a:ext cx="3391644" cy="33916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390</TotalTime>
  <Words>852</Words>
  <Application>Microsoft Macintosh PowerPoint</Application>
  <PresentationFormat>Widescreen</PresentationFormat>
  <Paragraphs>147</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Web Applications in Django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Web Applications in Django: A Campus Aligned Open Course</dc:title>
  <dc:subject>CAOC Introduction</dc:subject>
  <dc:creator>Dr. Chuck</dc:creator>
  <cp:lastModifiedBy>Severance, Charles</cp:lastModifiedBy>
  <cp:revision>34</cp:revision>
  <dcterms:created xsi:type="dcterms:W3CDTF">2026-07-22T14:19:06Z</dcterms:created>
  <dcterms:modified xsi:type="dcterms:W3CDTF">2026-07-30T15:04:56Z</dcterms:modified>
</cp:coreProperties>
</file>