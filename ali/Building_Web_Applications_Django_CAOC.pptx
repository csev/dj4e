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1"/>
    <p:restoredTop sz="94610"/>
  </p:normalViewPr>
  <p:slideViewPr>
    <p:cSldViewPr snapToGrid="0" snapToObjects="1">
      <p:cViewPr varScale="1">
        <p:scale>
          <a:sx n="93" d="100"/>
          <a:sy n="93" d="100"/>
        </p:scale>
        <p:origin x="240" y="9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5628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Dr. Chuck, and I want to tell you about a new way that I’m offering Building Web Applications in Django, beginning August 1. I’m calling it a CAOC: a Campus-Aligned Online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years, I’ve taught Django in two very different ways: on campus, where students move through the course together, and online, where people can start whenever they like. This offering brings the strongest parts of those two models together.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do you pronounce CAOC? I pronounce it “kay-ock.” It sounds a little like kayak, which is a useful image. It also sounds a little like chaos, which may be an equally accurate description of teaching campus and online students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online course will run alongside SI 357 and SI 664, the two University of Michigan courses in which I teach this material. The online students are not enrolled as University of Michigan students, and this is not a University of Michigan credentialed course. But they will follow the same overall schedule as the campus students.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students in SI 357 and SI 664 are learning about Django models, the online students will be learning about Django models. When campus students are working through forms, authentication, JavaScript, and complete Django applications, the online students will be moving through those topics as well.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learners will have access to scheduled office hours and selected sessions involving the campus teaching team and teaching assistants. The goal is not to pretend that the online and campus experiences are identical. They are not. The goal is alignment.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Web Applications in Django is designed for people who already have some experience with Python and want to learn how to build database-backed web applications using Django. As always, the course materials emphasize understanding: what Django is doing, why it is doing it, and how the pieces fit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offering begins August 1. The cost will be 300 dollars. That fee is intended primarily to cover the cost of the teaching assistants who will support online students through office hours, instructional sessions, and help with the course material.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experiment, and we will learn from it as we go. Online students will be encouraged to share feedback during office hours, in live sessions, and by email. When several people struggle with the same assignment or explanation, that is useful information. We may add examples, clarify instructions, adjust sessions, or create additional material.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think there is an important space between a completely self-paced online course and formal university enrollment. A Campus-Aligned Online Course is meant to occupy that space. One course. Campus and online learners. A shared schedule, a shared instructional community, and a better chance for online learners to feel connected. Welcome to Building Web Applications in Django. Welcome to the experiment. And welcome to the CAOC.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3"/>
        </a:solidFill>
        <a:effectLst/>
      </p:bgPr>
    </p:bg>
    <p:spTree>
      <p:nvGrpSpPr>
        <p:cNvPr id="1" name=""/>
        <p:cNvGrpSpPr/>
        <p:nvPr/>
      </p:nvGrpSpPr>
      <p:grpSpPr>
        <a:xfrm>
          <a:off x="0" y="0"/>
          <a:ext cx="0" cy="0"/>
          <a:chOff x="0" y="0"/>
          <a:chExt cx="0" cy="0"/>
        </a:xfrm>
      </p:grpSpPr>
      <p:pic>
        <p:nvPicPr>
          <p:cNvPr id="2" name="Image 0" descr="/mnt/data/paddle_to_success_and_learning.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5943600" cy="6858000"/>
          </a:xfrm>
          <a:prstGeom prst="rect">
            <a:avLst/>
          </a:prstGeom>
          <a:solidFill>
            <a:srgbClr val="0F2233">
              <a:alpha val="93000"/>
            </a:srgbClr>
          </a:solidFill>
          <a:ln w="12700">
            <a:solidFill>
              <a:srgbClr val="0F2233">
                <a:alpha val="0"/>
              </a:srgbClr>
            </a:solidFill>
            <a:prstDash val="solid"/>
          </a:ln>
        </p:spPr>
        <p:txBody>
          <a:bodyPr/>
          <a:lstStyle/>
          <a:p>
            <a:endParaRPr lang="en-US" dirty="0"/>
          </a:p>
        </p:txBody>
      </p:sp>
      <p:sp>
        <p:nvSpPr>
          <p:cNvPr id="4" name="Text 1"/>
          <p:cNvSpPr/>
          <p:nvPr/>
        </p:nvSpPr>
        <p:spPr>
          <a:xfrm>
            <a:off x="594360" y="566928"/>
            <a:ext cx="4846320" cy="114300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Aptos Display" pitchFamily="34" charset="0"/>
                <a:ea typeface="Aptos Display" pitchFamily="34" charset="-122"/>
                <a:cs typeface="Aptos Display" pitchFamily="34" charset="-120"/>
              </a:rPr>
              <a:t>Building Web Applications</a:t>
            </a:r>
            <a:endParaRPr lang="en-US" sz="3200" dirty="0"/>
          </a:p>
          <a:p>
            <a:pPr marL="0" indent="0">
              <a:buNone/>
            </a:pPr>
            <a:r>
              <a:rPr lang="en-US" sz="3200" b="1" dirty="0">
                <a:solidFill>
                  <a:srgbClr val="FFFFFF"/>
                </a:solidFill>
                <a:latin typeface="Aptos Display" pitchFamily="34" charset="0"/>
                <a:ea typeface="Aptos Display" pitchFamily="34" charset="-122"/>
                <a:cs typeface="Aptos Display" pitchFamily="34" charset="-120"/>
              </a:rPr>
              <a:t>in Django</a:t>
            </a:r>
            <a:endParaRPr lang="en-US" sz="3200" dirty="0"/>
          </a:p>
        </p:txBody>
      </p:sp>
      <p:sp>
        <p:nvSpPr>
          <p:cNvPr id="5" name="Text 2"/>
          <p:cNvSpPr/>
          <p:nvPr/>
        </p:nvSpPr>
        <p:spPr>
          <a:xfrm>
            <a:off x="612648" y="1828800"/>
            <a:ext cx="4754880" cy="320040"/>
          </a:xfrm>
          <a:prstGeom prst="rect">
            <a:avLst/>
          </a:prstGeom>
          <a:noFill/>
          <a:ln/>
        </p:spPr>
        <p:txBody>
          <a:bodyPr wrap="square" lIns="0" tIns="0" rIns="0" bIns="0" rtlCol="0" anchor="ctr"/>
          <a:lstStyle/>
          <a:p>
            <a:pPr marL="0" indent="0">
              <a:buNone/>
            </a:pPr>
            <a:r>
              <a:rPr lang="en-US" sz="1900" dirty="0">
                <a:solidFill>
                  <a:srgbClr val="E9F6F6"/>
                </a:solidFill>
              </a:rPr>
              <a:t>A Campus-Aligned Online Course</a:t>
            </a:r>
            <a:endParaRPr lang="en-US" sz="1900" dirty="0"/>
          </a:p>
        </p:txBody>
      </p:sp>
      <p:sp>
        <p:nvSpPr>
          <p:cNvPr id="6" name="Text 3"/>
          <p:cNvSpPr/>
          <p:nvPr/>
        </p:nvSpPr>
        <p:spPr>
          <a:xfrm>
            <a:off x="603504" y="2359152"/>
            <a:ext cx="4297680" cy="731520"/>
          </a:xfrm>
          <a:prstGeom prst="rect">
            <a:avLst/>
          </a:prstGeom>
          <a:noFill/>
          <a:ln/>
        </p:spPr>
        <p:txBody>
          <a:bodyPr wrap="square" lIns="0" tIns="0" rIns="0" bIns="0" rtlCol="0" anchor="ctr"/>
          <a:lstStyle/>
          <a:p>
            <a:pPr marL="0" indent="0">
              <a:buNone/>
            </a:pPr>
            <a:r>
              <a:rPr lang="en-US" sz="5600" b="1" dirty="0">
                <a:solidFill>
                  <a:srgbClr val="F8C463"/>
                </a:solidFill>
                <a:latin typeface="Aptos Display" pitchFamily="34" charset="0"/>
                <a:ea typeface="Aptos Display" pitchFamily="34" charset="-122"/>
                <a:cs typeface="Aptos Display" pitchFamily="34" charset="-120"/>
              </a:rPr>
              <a:t>CAOC</a:t>
            </a:r>
            <a:endParaRPr lang="en-US" sz="5600" dirty="0"/>
          </a:p>
        </p:txBody>
      </p:sp>
      <p:sp>
        <p:nvSpPr>
          <p:cNvPr id="7" name="Text 4"/>
          <p:cNvSpPr/>
          <p:nvPr/>
        </p:nvSpPr>
        <p:spPr>
          <a:xfrm>
            <a:off x="658368" y="3273552"/>
            <a:ext cx="4297680" cy="320040"/>
          </a:xfrm>
          <a:prstGeom prst="rect">
            <a:avLst/>
          </a:prstGeom>
          <a:noFill/>
          <a:ln/>
        </p:spPr>
        <p:txBody>
          <a:bodyPr wrap="square" lIns="0" tIns="0" rIns="0" bIns="0" rtlCol="0" anchor="ctr"/>
          <a:lstStyle/>
          <a:p>
            <a:pPr marL="0" indent="0">
              <a:buNone/>
            </a:pPr>
            <a:r>
              <a:rPr lang="en-US" sz="1800" dirty="0">
                <a:solidFill>
                  <a:srgbClr val="FFFFFF"/>
                </a:solidFill>
              </a:rPr>
              <a:t>First offering begins August 1</a:t>
            </a:r>
            <a:endParaRPr lang="en-US" sz="1800" dirty="0"/>
          </a:p>
        </p:txBody>
      </p:sp>
      <p:sp>
        <p:nvSpPr>
          <p:cNvPr id="8" name="Shape 5"/>
          <p:cNvSpPr/>
          <p:nvPr/>
        </p:nvSpPr>
        <p:spPr>
          <a:xfrm>
            <a:off x="658368" y="3840480"/>
            <a:ext cx="2880360" cy="384048"/>
          </a:xfrm>
          <a:prstGeom prst="roundRect">
            <a:avLst>
              <a:gd name="adj" fmla="val 19048"/>
            </a:avLst>
          </a:prstGeom>
          <a:solidFill>
            <a:srgbClr val="138A96"/>
          </a:solidFill>
          <a:ln w="12700">
            <a:solidFill>
              <a:srgbClr val="138A96">
                <a:alpha val="0"/>
              </a:srgbClr>
            </a:solidFill>
            <a:prstDash val="solid"/>
          </a:ln>
        </p:spPr>
        <p:txBody>
          <a:bodyPr/>
          <a:lstStyle/>
          <a:p>
            <a:endParaRPr lang="en-US"/>
          </a:p>
        </p:txBody>
      </p:sp>
      <p:sp>
        <p:nvSpPr>
          <p:cNvPr id="9" name="Text 6"/>
          <p:cNvSpPr/>
          <p:nvPr/>
        </p:nvSpPr>
        <p:spPr>
          <a:xfrm>
            <a:off x="768096" y="3922776"/>
            <a:ext cx="2660904" cy="182880"/>
          </a:xfrm>
          <a:prstGeom prst="rect">
            <a:avLst/>
          </a:prstGeom>
          <a:noFill/>
          <a:ln/>
        </p:spPr>
        <p:txBody>
          <a:bodyPr wrap="square" lIns="0" tIns="0" rIns="0" bIns="0" rtlCol="0" anchor="ctr"/>
          <a:lstStyle/>
          <a:p>
            <a:pPr marL="0" indent="0" algn="ctr">
              <a:buNone/>
            </a:pPr>
            <a:r>
              <a:rPr lang="en-US" sz="1150" b="1" dirty="0">
                <a:solidFill>
                  <a:srgbClr val="FFFFFF"/>
                </a:solidFill>
              </a:rPr>
              <a:t>$300 • supports teaching assistants</a:t>
            </a:r>
            <a:endParaRPr lang="en-US" sz="1150" dirty="0"/>
          </a:p>
        </p:txBody>
      </p:sp>
      <p:sp>
        <p:nvSpPr>
          <p:cNvPr id="10" name="TextBox 9">
            <a:extLst>
              <a:ext uri="{FF2B5EF4-FFF2-40B4-BE49-F238E27FC236}">
                <a16:creationId xmlns:a16="http://schemas.microsoft.com/office/drawing/2014/main" id="{2F724F79-6732-0889-F5D1-15533D80FCA7}"/>
              </a:ext>
            </a:extLst>
          </p:cNvPr>
          <p:cNvSpPr txBox="1"/>
          <p:nvPr/>
        </p:nvSpPr>
        <p:spPr>
          <a:xfrm>
            <a:off x="628996" y="5041130"/>
            <a:ext cx="4605941" cy="523220"/>
          </a:xfrm>
          <a:prstGeom prst="rect">
            <a:avLst/>
          </a:prstGeom>
          <a:noFill/>
        </p:spPr>
        <p:txBody>
          <a:bodyPr wrap="none" rtlCol="0">
            <a:spAutoFit/>
          </a:bodyPr>
          <a:lstStyle/>
          <a:p>
            <a:r>
              <a:rPr lang="en-US" sz="2800" dirty="0">
                <a:solidFill>
                  <a:schemeClr val="bg1"/>
                </a:solidFill>
              </a:rPr>
              <a:t>https://</a:t>
            </a:r>
            <a:r>
              <a:rPr lang="en-US" sz="2800" dirty="0" err="1">
                <a:solidFill>
                  <a:schemeClr val="bg1"/>
                </a:solidFill>
              </a:rPr>
              <a:t>django.dr-chuck.com</a:t>
            </a:r>
            <a:endParaRPr lang="en-US" sz="28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Why a new model?</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Bringing together the strengths of campus and online teaching</a:t>
            </a:r>
            <a:endParaRPr lang="en-US" sz="1400" dirty="0"/>
          </a:p>
        </p:txBody>
      </p:sp>
      <p:sp>
        <p:nvSpPr>
          <p:cNvPr id="4" name="Shape 2"/>
          <p:cNvSpPr/>
          <p:nvPr/>
        </p:nvSpPr>
        <p:spPr>
          <a:xfrm>
            <a:off x="594360" y="1572768"/>
            <a:ext cx="3291840" cy="2834640"/>
          </a:xfrm>
          <a:prstGeom prst="rect">
            <a:avLst/>
          </a:prstGeom>
          <a:solidFill>
            <a:srgbClr val="E8F4F5"/>
          </a:solidFill>
          <a:ln w="12700">
            <a:solidFill>
              <a:srgbClr val="E8F4F5">
                <a:alpha val="0"/>
              </a:srgbClr>
            </a:solidFill>
            <a:prstDash val="solid"/>
          </a:ln>
        </p:spPr>
        <p:txBody>
          <a:bodyPr/>
          <a:lstStyle/>
          <a:p>
            <a:endParaRPr lang="en-US"/>
          </a:p>
        </p:txBody>
      </p:sp>
      <p:sp>
        <p:nvSpPr>
          <p:cNvPr id="5" name="Text 3"/>
          <p:cNvSpPr/>
          <p:nvPr/>
        </p:nvSpPr>
        <p:spPr>
          <a:xfrm>
            <a:off x="822960" y="1847088"/>
            <a:ext cx="2743200" cy="365760"/>
          </a:xfrm>
          <a:prstGeom prst="rect">
            <a:avLst/>
          </a:prstGeom>
          <a:noFill/>
          <a:ln/>
        </p:spPr>
        <p:txBody>
          <a:bodyPr wrap="square" lIns="0" tIns="0" rIns="0" bIns="0" rtlCol="0" anchor="ctr"/>
          <a:lstStyle/>
          <a:p>
            <a:pPr marL="0" indent="0">
              <a:buNone/>
            </a:pPr>
            <a:r>
              <a:rPr lang="en-US" sz="2300" b="1" dirty="0">
                <a:solidFill>
                  <a:srgbClr val="18324A"/>
                </a:solidFill>
              </a:rPr>
              <a:t>Campus teaching</a:t>
            </a:r>
            <a:endParaRPr lang="en-US" sz="2300" dirty="0"/>
          </a:p>
        </p:txBody>
      </p:sp>
      <p:sp>
        <p:nvSpPr>
          <p:cNvPr id="6" name="Text 4"/>
          <p:cNvSpPr/>
          <p:nvPr/>
        </p:nvSpPr>
        <p:spPr>
          <a:xfrm>
            <a:off x="859536" y="246888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7" name="Text 5"/>
          <p:cNvSpPr/>
          <p:nvPr/>
        </p:nvSpPr>
        <p:spPr>
          <a:xfrm>
            <a:off x="1161288" y="2505456"/>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schedule</a:t>
            </a:r>
            <a:endParaRPr lang="en-US" sz="1500" dirty="0"/>
          </a:p>
        </p:txBody>
      </p:sp>
      <p:sp>
        <p:nvSpPr>
          <p:cNvPr id="8" name="Text 6"/>
          <p:cNvSpPr/>
          <p:nvPr/>
        </p:nvSpPr>
        <p:spPr>
          <a:xfrm>
            <a:off x="859536" y="290779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9" name="Text 7"/>
          <p:cNvSpPr/>
          <p:nvPr/>
        </p:nvSpPr>
        <p:spPr>
          <a:xfrm>
            <a:off x="1161288" y="2944368"/>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office hours</a:t>
            </a:r>
            <a:endParaRPr lang="en-US" sz="1500" dirty="0"/>
          </a:p>
        </p:txBody>
      </p:sp>
      <p:sp>
        <p:nvSpPr>
          <p:cNvPr id="10" name="Text 8"/>
          <p:cNvSpPr/>
          <p:nvPr/>
        </p:nvSpPr>
        <p:spPr>
          <a:xfrm>
            <a:off x="859536" y="334670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1" name="Text 9"/>
          <p:cNvSpPr/>
          <p:nvPr/>
        </p:nvSpPr>
        <p:spPr>
          <a:xfrm>
            <a:off x="1161288" y="3383280"/>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teaching assistants</a:t>
            </a:r>
            <a:endParaRPr lang="en-US" sz="1500" dirty="0"/>
          </a:p>
        </p:txBody>
      </p:sp>
      <p:sp>
        <p:nvSpPr>
          <p:cNvPr id="12" name="Text 10"/>
          <p:cNvSpPr/>
          <p:nvPr/>
        </p:nvSpPr>
        <p:spPr>
          <a:xfrm>
            <a:off x="859536" y="378561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3" name="Text 11"/>
          <p:cNvSpPr/>
          <p:nvPr/>
        </p:nvSpPr>
        <p:spPr>
          <a:xfrm>
            <a:off x="1161288" y="3822192"/>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shared momentum</a:t>
            </a:r>
            <a:endParaRPr lang="en-US" sz="1500" dirty="0"/>
          </a:p>
        </p:txBody>
      </p:sp>
      <p:sp>
        <p:nvSpPr>
          <p:cNvPr id="14" name="Shape 12"/>
          <p:cNvSpPr/>
          <p:nvPr/>
        </p:nvSpPr>
        <p:spPr>
          <a:xfrm>
            <a:off x="8302752" y="1572768"/>
            <a:ext cx="3291840" cy="2834640"/>
          </a:xfrm>
          <a:prstGeom prst="rect">
            <a:avLst/>
          </a:prstGeom>
          <a:solidFill>
            <a:srgbClr val="FFF1D7"/>
          </a:solidFill>
          <a:ln w="12700">
            <a:solidFill>
              <a:srgbClr val="FFF1D7">
                <a:alpha val="0"/>
              </a:srgbClr>
            </a:solidFill>
            <a:prstDash val="solid"/>
          </a:ln>
        </p:spPr>
        <p:txBody>
          <a:bodyPr/>
          <a:lstStyle/>
          <a:p>
            <a:endParaRPr lang="en-US"/>
          </a:p>
        </p:txBody>
      </p:sp>
      <p:sp>
        <p:nvSpPr>
          <p:cNvPr id="15" name="Text 13"/>
          <p:cNvSpPr/>
          <p:nvPr/>
        </p:nvSpPr>
        <p:spPr>
          <a:xfrm>
            <a:off x="8531352" y="1847088"/>
            <a:ext cx="2743200" cy="365760"/>
          </a:xfrm>
          <a:prstGeom prst="rect">
            <a:avLst/>
          </a:prstGeom>
          <a:noFill/>
          <a:ln/>
        </p:spPr>
        <p:txBody>
          <a:bodyPr wrap="square" lIns="0" tIns="0" rIns="0" bIns="0" rtlCol="0" anchor="ctr"/>
          <a:lstStyle/>
          <a:p>
            <a:pPr marL="0" indent="0">
              <a:buNone/>
            </a:pPr>
            <a:r>
              <a:rPr lang="en-US" sz="2300" b="1" dirty="0">
                <a:solidFill>
                  <a:srgbClr val="18324A"/>
                </a:solidFill>
              </a:rPr>
              <a:t>Online teaching</a:t>
            </a:r>
            <a:endParaRPr lang="en-US" sz="2300" dirty="0"/>
          </a:p>
        </p:txBody>
      </p:sp>
      <p:sp>
        <p:nvSpPr>
          <p:cNvPr id="16" name="Text 14"/>
          <p:cNvSpPr/>
          <p:nvPr/>
        </p:nvSpPr>
        <p:spPr>
          <a:xfrm>
            <a:off x="8567928" y="246888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7" name="Text 15"/>
          <p:cNvSpPr/>
          <p:nvPr/>
        </p:nvSpPr>
        <p:spPr>
          <a:xfrm>
            <a:off x="8869680" y="2505456"/>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accessible anywhere</a:t>
            </a:r>
            <a:endParaRPr lang="en-US" sz="1500" dirty="0"/>
          </a:p>
        </p:txBody>
      </p:sp>
      <p:sp>
        <p:nvSpPr>
          <p:cNvPr id="18" name="Text 16"/>
          <p:cNvSpPr/>
          <p:nvPr/>
        </p:nvSpPr>
        <p:spPr>
          <a:xfrm>
            <a:off x="8567928" y="290779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9" name="Text 17"/>
          <p:cNvSpPr/>
          <p:nvPr/>
        </p:nvSpPr>
        <p:spPr>
          <a:xfrm>
            <a:off x="8869680" y="2944368"/>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flexible entry point</a:t>
            </a:r>
            <a:endParaRPr lang="en-US" sz="1500" dirty="0"/>
          </a:p>
        </p:txBody>
      </p:sp>
      <p:sp>
        <p:nvSpPr>
          <p:cNvPr id="20" name="Text 18"/>
          <p:cNvSpPr/>
          <p:nvPr/>
        </p:nvSpPr>
        <p:spPr>
          <a:xfrm>
            <a:off x="8567928" y="334670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1" name="Text 19"/>
          <p:cNvSpPr/>
          <p:nvPr/>
        </p:nvSpPr>
        <p:spPr>
          <a:xfrm>
            <a:off x="8869680" y="3383280"/>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proven materials</a:t>
            </a:r>
            <a:endParaRPr lang="en-US" sz="1500" dirty="0"/>
          </a:p>
        </p:txBody>
      </p:sp>
      <p:sp>
        <p:nvSpPr>
          <p:cNvPr id="22" name="Text 20"/>
          <p:cNvSpPr/>
          <p:nvPr/>
        </p:nvSpPr>
        <p:spPr>
          <a:xfrm>
            <a:off x="8567928" y="378561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3" name="Text 21"/>
          <p:cNvSpPr/>
          <p:nvPr/>
        </p:nvSpPr>
        <p:spPr>
          <a:xfrm>
            <a:off x="8869680" y="3822192"/>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large reach</a:t>
            </a:r>
            <a:endParaRPr lang="en-US" sz="1500" dirty="0"/>
          </a:p>
        </p:txBody>
      </p:sp>
      <p:sp>
        <p:nvSpPr>
          <p:cNvPr id="24" name="Shape 22"/>
          <p:cNvSpPr/>
          <p:nvPr/>
        </p:nvSpPr>
        <p:spPr>
          <a:xfrm>
            <a:off x="4297680" y="2971800"/>
            <a:ext cx="3566160" cy="0"/>
          </a:xfrm>
          <a:prstGeom prst="line">
            <a:avLst/>
          </a:prstGeom>
          <a:noFill/>
          <a:ln w="31750">
            <a:solidFill>
              <a:srgbClr val="138A96"/>
            </a:solidFill>
            <a:prstDash val="solid"/>
            <a:headEnd type="none"/>
            <a:tailEnd type="triangle"/>
          </a:ln>
        </p:spPr>
        <p:txBody>
          <a:bodyPr/>
          <a:lstStyle/>
          <a:p>
            <a:endParaRPr lang="en-US"/>
          </a:p>
        </p:txBody>
      </p:sp>
      <p:sp>
        <p:nvSpPr>
          <p:cNvPr id="25" name="Text 23"/>
          <p:cNvSpPr/>
          <p:nvPr/>
        </p:nvSpPr>
        <p:spPr>
          <a:xfrm>
            <a:off x="4919472" y="2505456"/>
            <a:ext cx="2377440" cy="594360"/>
          </a:xfrm>
          <a:prstGeom prst="rect">
            <a:avLst/>
          </a:prstGeom>
          <a:noFill/>
          <a:ln/>
        </p:spPr>
        <p:txBody>
          <a:bodyPr wrap="square" lIns="0" tIns="0" rIns="0" bIns="0" rtlCol="0" anchor="ctr"/>
          <a:lstStyle/>
          <a:p>
            <a:pPr marL="0" indent="0" algn="ctr">
              <a:buNone/>
            </a:pPr>
            <a:r>
              <a:rPr lang="en-US" sz="4000" b="1" dirty="0">
                <a:solidFill>
                  <a:srgbClr val="138A96"/>
                </a:solidFill>
              </a:rPr>
              <a:t>CAOC</a:t>
            </a:r>
            <a:endParaRPr lang="en-US" sz="4000" dirty="0"/>
          </a:p>
        </p:txBody>
      </p:sp>
      <p:sp>
        <p:nvSpPr>
          <p:cNvPr id="26" name="Text 24"/>
          <p:cNvSpPr/>
          <p:nvPr/>
        </p:nvSpPr>
        <p:spPr>
          <a:xfrm>
            <a:off x="4480560" y="3218688"/>
            <a:ext cx="3200400" cy="320040"/>
          </a:xfrm>
          <a:prstGeom prst="rect">
            <a:avLst/>
          </a:prstGeom>
          <a:noFill/>
          <a:ln/>
        </p:spPr>
        <p:txBody>
          <a:bodyPr wrap="square" lIns="0" tIns="0" rIns="0" bIns="0" rtlCol="0" anchor="ctr"/>
          <a:lstStyle/>
          <a:p>
            <a:pPr marL="0" indent="0" algn="ctr">
              <a:buNone/>
            </a:pPr>
            <a:r>
              <a:rPr lang="en-US" sz="1700" dirty="0">
                <a:solidFill>
                  <a:srgbClr val="425466"/>
                </a:solidFill>
              </a:rPr>
              <a:t>aligned rhythm + online reach</a:t>
            </a:r>
            <a:endParaRPr lang="en-US" sz="1700" dirty="0"/>
          </a:p>
        </p:txBody>
      </p:sp>
      <p:sp>
        <p:nvSpPr>
          <p:cNvPr id="27" name="Text 25"/>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28" name="Text 26"/>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F7FAFB"/>
          </a:solidFill>
          <a:ln w="12700">
            <a:solidFill>
              <a:srgbClr val="F7FAFB">
                <a:alpha val="0"/>
              </a:srgbClr>
            </a:solidFill>
            <a:prstDash val="solid"/>
          </a:ln>
        </p:spPr>
        <p:txBody>
          <a:bodyPr/>
          <a:lstStyle/>
          <a:p>
            <a:endParaRPr lang="en-US"/>
          </a:p>
        </p:txBody>
      </p:sp>
      <p:sp>
        <p:nvSpPr>
          <p:cNvPr id="4" name="Text 1"/>
          <p:cNvSpPr/>
          <p:nvPr/>
        </p:nvSpPr>
        <p:spPr>
          <a:xfrm>
            <a:off x="548640" y="530352"/>
            <a:ext cx="4114800" cy="411480"/>
          </a:xfrm>
          <a:prstGeom prst="rect">
            <a:avLst/>
          </a:prstGeom>
          <a:noFill/>
          <a:ln/>
        </p:spPr>
        <p:txBody>
          <a:bodyPr wrap="square" lIns="0" tIns="0" rIns="0" bIns="0" rtlCol="0" anchor="ctr"/>
          <a:lstStyle/>
          <a:p>
            <a:pPr marL="0" indent="0">
              <a:buNone/>
            </a:pPr>
            <a:r>
              <a:rPr lang="en-US" sz="3000" b="1" dirty="0">
                <a:solidFill>
                  <a:srgbClr val="18324A"/>
                </a:solidFill>
              </a:rPr>
              <a:t>How do you say CAOC?</a:t>
            </a:r>
            <a:endParaRPr lang="en-US" sz="3000" dirty="0"/>
          </a:p>
        </p:txBody>
      </p:sp>
      <p:sp>
        <p:nvSpPr>
          <p:cNvPr id="5" name="Text 2"/>
          <p:cNvSpPr/>
          <p:nvPr/>
        </p:nvSpPr>
        <p:spPr>
          <a:xfrm>
            <a:off x="621792" y="1325880"/>
            <a:ext cx="4023360" cy="786384"/>
          </a:xfrm>
          <a:prstGeom prst="rect">
            <a:avLst/>
          </a:prstGeom>
          <a:noFill/>
          <a:ln/>
        </p:spPr>
        <p:txBody>
          <a:bodyPr wrap="square" lIns="0" tIns="0" rIns="0" bIns="0" rtlCol="0" anchor="ctr"/>
          <a:lstStyle/>
          <a:p>
            <a:pPr marL="0" indent="0">
              <a:buNone/>
            </a:pPr>
            <a:r>
              <a:rPr lang="en-US" sz="5400" b="1" dirty="0">
                <a:solidFill>
                  <a:srgbClr val="138A96"/>
                </a:solidFill>
              </a:rPr>
              <a:t>“kay-ock”</a:t>
            </a:r>
            <a:endParaRPr lang="en-US" sz="5400" dirty="0"/>
          </a:p>
        </p:txBody>
      </p:sp>
      <p:sp>
        <p:nvSpPr>
          <p:cNvPr id="6" name="Text 3"/>
          <p:cNvSpPr/>
          <p:nvPr/>
        </p:nvSpPr>
        <p:spPr>
          <a:xfrm>
            <a:off x="658368" y="2212848"/>
            <a:ext cx="4114800" cy="512064"/>
          </a:xfrm>
          <a:prstGeom prst="rect">
            <a:avLst/>
          </a:prstGeom>
          <a:noFill/>
          <a:ln/>
        </p:spPr>
        <p:txBody>
          <a:bodyPr wrap="square" lIns="0" tIns="0" rIns="0" bIns="0" rtlCol="0" anchor="ctr">
            <a:normAutofit fontScale="92500" lnSpcReduction="20000"/>
          </a:bodyPr>
          <a:lstStyle/>
          <a:p>
            <a:pPr marL="0" indent="0">
              <a:buNone/>
            </a:pPr>
            <a:r>
              <a:rPr lang="en-US" sz="2100" dirty="0">
                <a:solidFill>
                  <a:srgbClr val="10283B"/>
                </a:solidFill>
              </a:rPr>
              <a:t>Somewhere between a kayak and chaos.</a:t>
            </a:r>
            <a:endParaRPr lang="en-US" sz="2100" dirty="0"/>
          </a:p>
        </p:txBody>
      </p:sp>
      <p:sp>
        <p:nvSpPr>
          <p:cNvPr id="7" name="Text 4"/>
          <p:cNvSpPr/>
          <p:nvPr/>
        </p:nvSpPr>
        <p:spPr>
          <a:xfrm>
            <a:off x="713232" y="297180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8" name="Text 5"/>
          <p:cNvSpPr/>
          <p:nvPr/>
        </p:nvSpPr>
        <p:spPr>
          <a:xfrm>
            <a:off x="1014984" y="3008376"/>
            <a:ext cx="37216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Kayak: moving in the same direction</a:t>
            </a:r>
            <a:endParaRPr lang="en-US" sz="1500" dirty="0"/>
          </a:p>
        </p:txBody>
      </p:sp>
      <p:sp>
        <p:nvSpPr>
          <p:cNvPr id="9" name="Text 6"/>
          <p:cNvSpPr/>
          <p:nvPr/>
        </p:nvSpPr>
        <p:spPr>
          <a:xfrm>
            <a:off x="713232" y="356616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0" name="Text 7"/>
          <p:cNvSpPr/>
          <p:nvPr/>
        </p:nvSpPr>
        <p:spPr>
          <a:xfrm>
            <a:off x="1014984" y="3602736"/>
            <a:ext cx="37216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Chaos: campus + online at once</a:t>
            </a:r>
            <a:endParaRPr lang="en-US" sz="1500" dirty="0"/>
          </a:p>
        </p:txBody>
      </p:sp>
      <p:sp>
        <p:nvSpPr>
          <p:cNvPr id="11" name="Text 8"/>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2" name="Text 9"/>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3</a:t>
            </a:r>
            <a:endParaRPr lang="en-US" sz="850" dirty="0"/>
          </a:p>
        </p:txBody>
      </p:sp>
      <p:pic>
        <p:nvPicPr>
          <p:cNvPr id="14" name="Picture 13" descr="A person and person in a kayak&#10;&#10;AI-generated content may be incorrect.">
            <a:extLst>
              <a:ext uri="{FF2B5EF4-FFF2-40B4-BE49-F238E27FC236}">
                <a16:creationId xmlns:a16="http://schemas.microsoft.com/office/drawing/2014/main" id="{A339DC31-E309-D44B-E6B6-C46DF0BC57C5}"/>
              </a:ext>
            </a:extLst>
          </p:cNvPr>
          <p:cNvPicPr>
            <a:picLocks noChangeAspect="1"/>
          </p:cNvPicPr>
          <p:nvPr/>
        </p:nvPicPr>
        <p:blipFill>
          <a:blip r:embed="rId3"/>
          <a:stretch>
            <a:fillRect/>
          </a:stretch>
        </p:blipFill>
        <p:spPr>
          <a:xfrm>
            <a:off x="5287603" y="1325880"/>
            <a:ext cx="6904397" cy="38857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What “campus-aligned” means</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An online course deliberately aligned with live campus courses</a:t>
            </a:r>
            <a:endParaRPr lang="en-US" sz="1400" dirty="0"/>
          </a:p>
        </p:txBody>
      </p:sp>
      <p:sp>
        <p:nvSpPr>
          <p:cNvPr id="4" name="Text 2"/>
          <p:cNvSpPr/>
          <p:nvPr/>
        </p:nvSpPr>
        <p:spPr>
          <a:xfrm>
            <a:off x="786384" y="1920240"/>
            <a:ext cx="2103120" cy="502920"/>
          </a:xfrm>
          <a:prstGeom prst="rect">
            <a:avLst/>
          </a:prstGeom>
          <a:noFill/>
          <a:ln/>
        </p:spPr>
        <p:txBody>
          <a:bodyPr wrap="square" lIns="0" tIns="0" rIns="0" bIns="0" rtlCol="0" anchor="ctr"/>
          <a:lstStyle/>
          <a:p>
            <a:pPr marL="0" indent="0" algn="ctr">
              <a:buNone/>
            </a:pPr>
            <a:r>
              <a:rPr lang="en-US" sz="3400" b="1" dirty="0">
                <a:solidFill>
                  <a:srgbClr val="18324A"/>
                </a:solidFill>
              </a:rPr>
              <a:t>SI 357</a:t>
            </a:r>
            <a:endParaRPr lang="en-US" sz="3400" dirty="0"/>
          </a:p>
        </p:txBody>
      </p:sp>
      <p:sp>
        <p:nvSpPr>
          <p:cNvPr id="5" name="Text 3"/>
          <p:cNvSpPr/>
          <p:nvPr/>
        </p:nvSpPr>
        <p:spPr>
          <a:xfrm>
            <a:off x="786384" y="3246120"/>
            <a:ext cx="2103120" cy="502920"/>
          </a:xfrm>
          <a:prstGeom prst="rect">
            <a:avLst/>
          </a:prstGeom>
          <a:noFill/>
          <a:ln/>
        </p:spPr>
        <p:txBody>
          <a:bodyPr wrap="square" lIns="0" tIns="0" rIns="0" bIns="0" rtlCol="0" anchor="ctr"/>
          <a:lstStyle/>
          <a:p>
            <a:pPr marL="0" indent="0" algn="ctr">
              <a:buNone/>
            </a:pPr>
            <a:r>
              <a:rPr lang="en-US" sz="3400" b="1" dirty="0">
                <a:solidFill>
                  <a:srgbClr val="18324A"/>
                </a:solidFill>
              </a:rPr>
              <a:t>SI 664</a:t>
            </a:r>
            <a:endParaRPr lang="en-US" sz="3400" dirty="0"/>
          </a:p>
        </p:txBody>
      </p:sp>
      <p:sp>
        <p:nvSpPr>
          <p:cNvPr id="6" name="Shape 4"/>
          <p:cNvSpPr/>
          <p:nvPr/>
        </p:nvSpPr>
        <p:spPr>
          <a:xfrm>
            <a:off x="2926080" y="2148840"/>
            <a:ext cx="5577840" cy="0"/>
          </a:xfrm>
          <a:prstGeom prst="line">
            <a:avLst/>
          </a:prstGeom>
          <a:noFill/>
          <a:ln w="38100">
            <a:solidFill>
              <a:srgbClr val="138A96"/>
            </a:solidFill>
            <a:prstDash val="solid"/>
            <a:tailEnd type="triangle"/>
          </a:ln>
        </p:spPr>
        <p:txBody>
          <a:bodyPr/>
          <a:lstStyle/>
          <a:p>
            <a:endParaRPr lang="en-US"/>
          </a:p>
        </p:txBody>
      </p:sp>
      <p:sp>
        <p:nvSpPr>
          <p:cNvPr id="7" name="Shape 5"/>
          <p:cNvSpPr/>
          <p:nvPr/>
        </p:nvSpPr>
        <p:spPr>
          <a:xfrm>
            <a:off x="2926080" y="3474720"/>
            <a:ext cx="5577840" cy="0"/>
          </a:xfrm>
          <a:prstGeom prst="line">
            <a:avLst/>
          </a:prstGeom>
          <a:noFill/>
          <a:ln w="38100">
            <a:solidFill>
              <a:srgbClr val="138A96"/>
            </a:solidFill>
            <a:prstDash val="solid"/>
            <a:tailEnd type="triangle"/>
          </a:ln>
        </p:spPr>
        <p:txBody>
          <a:bodyPr/>
          <a:lstStyle/>
          <a:p>
            <a:endParaRPr lang="en-US"/>
          </a:p>
        </p:txBody>
      </p:sp>
      <p:sp>
        <p:nvSpPr>
          <p:cNvPr id="8" name="Text 6"/>
          <p:cNvSpPr/>
          <p:nvPr/>
        </p:nvSpPr>
        <p:spPr>
          <a:xfrm>
            <a:off x="4041648" y="1883664"/>
            <a:ext cx="3474720" cy="292608"/>
          </a:xfrm>
          <a:prstGeom prst="rect">
            <a:avLst/>
          </a:prstGeom>
          <a:noFill/>
          <a:ln/>
        </p:spPr>
        <p:txBody>
          <a:bodyPr wrap="square" lIns="0" tIns="0" rIns="0" bIns="0" rtlCol="0" anchor="ctr"/>
          <a:lstStyle/>
          <a:p>
            <a:pPr marL="0" indent="0" algn="ctr">
              <a:buNone/>
            </a:pPr>
            <a:r>
              <a:rPr lang="en-US" sz="1900" dirty="0">
                <a:solidFill>
                  <a:srgbClr val="425466"/>
                </a:solidFill>
              </a:rPr>
              <a:t>same overall schedule</a:t>
            </a:r>
            <a:endParaRPr lang="en-US" sz="1900" dirty="0"/>
          </a:p>
        </p:txBody>
      </p:sp>
      <p:sp>
        <p:nvSpPr>
          <p:cNvPr id="9" name="Text 7"/>
          <p:cNvSpPr/>
          <p:nvPr/>
        </p:nvSpPr>
        <p:spPr>
          <a:xfrm>
            <a:off x="4041648" y="3200400"/>
            <a:ext cx="3474720" cy="292608"/>
          </a:xfrm>
          <a:prstGeom prst="rect">
            <a:avLst/>
          </a:prstGeom>
          <a:noFill/>
          <a:ln/>
        </p:spPr>
        <p:txBody>
          <a:bodyPr wrap="square" lIns="0" tIns="0" rIns="0" bIns="0" rtlCol="0" anchor="ctr"/>
          <a:lstStyle/>
          <a:p>
            <a:pPr marL="0" indent="0" algn="ctr">
              <a:buNone/>
            </a:pPr>
            <a:r>
              <a:rPr lang="en-US" sz="1900" dirty="0">
                <a:solidFill>
                  <a:srgbClr val="425466"/>
                </a:solidFill>
              </a:rPr>
              <a:t>same instructional orbit</a:t>
            </a:r>
            <a:endParaRPr lang="en-US" sz="1900" dirty="0"/>
          </a:p>
        </p:txBody>
      </p:sp>
      <p:sp>
        <p:nvSpPr>
          <p:cNvPr id="10" name="Text 8"/>
          <p:cNvSpPr/>
          <p:nvPr/>
        </p:nvSpPr>
        <p:spPr>
          <a:xfrm>
            <a:off x="8823960" y="2240280"/>
            <a:ext cx="2560320" cy="777240"/>
          </a:xfrm>
          <a:prstGeom prst="rect">
            <a:avLst/>
          </a:prstGeom>
          <a:noFill/>
          <a:ln/>
        </p:spPr>
        <p:txBody>
          <a:bodyPr wrap="square" lIns="0" tIns="0" rIns="0" bIns="0" rtlCol="0" anchor="ctr"/>
          <a:lstStyle/>
          <a:p>
            <a:pPr marL="0" indent="0" algn="ctr">
              <a:buNone/>
            </a:pPr>
            <a:r>
              <a:rPr lang="en-US" sz="2800" b="1" dirty="0">
                <a:solidFill>
                  <a:srgbClr val="138A96"/>
                </a:solidFill>
              </a:rPr>
              <a:t>Online</a:t>
            </a:r>
            <a:endParaRPr lang="en-US" sz="2800" dirty="0"/>
          </a:p>
          <a:p>
            <a:pPr marL="0" indent="0" algn="ctr">
              <a:buNone/>
            </a:pPr>
            <a:r>
              <a:rPr lang="en-US" sz="2800" b="1" dirty="0">
                <a:solidFill>
                  <a:srgbClr val="138A96"/>
                </a:solidFill>
              </a:rPr>
              <a:t>learners</a:t>
            </a:r>
            <a:endParaRPr lang="en-US" sz="2800" dirty="0"/>
          </a:p>
        </p:txBody>
      </p:sp>
      <p:sp>
        <p:nvSpPr>
          <p:cNvPr id="11" name="Text 9"/>
          <p:cNvSpPr/>
          <p:nvPr/>
        </p:nvSpPr>
        <p:spPr>
          <a:xfrm>
            <a:off x="8686800" y="3127248"/>
            <a:ext cx="2834640" cy="310896"/>
          </a:xfrm>
          <a:prstGeom prst="rect">
            <a:avLst/>
          </a:prstGeom>
          <a:noFill/>
          <a:ln/>
        </p:spPr>
        <p:txBody>
          <a:bodyPr wrap="square" lIns="0" tIns="0" rIns="0" bIns="0" rtlCol="0" anchor="ctr"/>
          <a:lstStyle/>
          <a:p>
            <a:pPr marL="0" indent="0" algn="ctr">
              <a:buNone/>
            </a:pPr>
            <a:r>
              <a:rPr lang="en-US" sz="1400" dirty="0">
                <a:solidFill>
                  <a:srgbClr val="425466"/>
                </a:solidFill>
              </a:rPr>
              <a:t>not UM enrolled • not a UM credential</a:t>
            </a:r>
            <a:endParaRPr lang="en-US" sz="1400" dirty="0"/>
          </a:p>
        </p:txBody>
      </p:sp>
      <p:sp>
        <p:nvSpPr>
          <p:cNvPr id="12" name="Shape 10"/>
          <p:cNvSpPr/>
          <p:nvPr/>
        </p:nvSpPr>
        <p:spPr>
          <a:xfrm>
            <a:off x="4754880" y="4800600"/>
            <a:ext cx="2560320" cy="384048"/>
          </a:xfrm>
          <a:prstGeom prst="roundRect">
            <a:avLst>
              <a:gd name="adj" fmla="val 19048"/>
            </a:avLst>
          </a:prstGeom>
          <a:solidFill>
            <a:srgbClr val="F5A623"/>
          </a:solidFill>
          <a:ln w="12700">
            <a:solidFill>
              <a:srgbClr val="F5A623">
                <a:alpha val="0"/>
              </a:srgbClr>
            </a:solidFill>
            <a:prstDash val="solid"/>
          </a:ln>
        </p:spPr>
        <p:txBody>
          <a:bodyPr/>
          <a:lstStyle/>
          <a:p>
            <a:endParaRPr lang="en-US"/>
          </a:p>
        </p:txBody>
      </p:sp>
      <p:sp>
        <p:nvSpPr>
          <p:cNvPr id="13" name="Text 11"/>
          <p:cNvSpPr/>
          <p:nvPr/>
        </p:nvSpPr>
        <p:spPr>
          <a:xfrm>
            <a:off x="4864608" y="4882896"/>
            <a:ext cx="2340864" cy="182880"/>
          </a:xfrm>
          <a:prstGeom prst="rect">
            <a:avLst/>
          </a:prstGeom>
          <a:noFill/>
          <a:ln/>
        </p:spPr>
        <p:txBody>
          <a:bodyPr wrap="square" lIns="0" tIns="0" rIns="0" bIns="0" rtlCol="0" anchor="ctr"/>
          <a:lstStyle/>
          <a:p>
            <a:pPr marL="0" indent="0" algn="ctr">
              <a:buNone/>
            </a:pPr>
            <a:r>
              <a:rPr lang="en-US" sz="1150" b="1" dirty="0">
                <a:solidFill>
                  <a:srgbClr val="FFFFFF"/>
                </a:solidFill>
              </a:rPr>
              <a:t>aligned ≠ identical</a:t>
            </a:r>
            <a:endParaRPr lang="en-US" sz="1150" dirty="0"/>
          </a:p>
        </p:txBody>
      </p:sp>
      <p:sp>
        <p:nvSpPr>
          <p:cNvPr id="14" name="Text 12"/>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5" name="Text 13"/>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7"/>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Same pace, same moments</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Questions arrive when the material is live</a:t>
            </a:r>
            <a:endParaRPr lang="en-US" sz="1400" dirty="0"/>
          </a:p>
        </p:txBody>
      </p:sp>
      <p:sp>
        <p:nvSpPr>
          <p:cNvPr id="4" name="Shape 2"/>
          <p:cNvSpPr/>
          <p:nvPr/>
        </p:nvSpPr>
        <p:spPr>
          <a:xfrm>
            <a:off x="640080" y="2286000"/>
            <a:ext cx="713232" cy="713232"/>
          </a:xfrm>
          <a:prstGeom prst="ellipse">
            <a:avLst/>
          </a:prstGeom>
          <a:solidFill>
            <a:srgbClr val="138A96"/>
          </a:solidFill>
          <a:ln w="12700">
            <a:solidFill>
              <a:srgbClr val="FFFFFF"/>
            </a:solidFill>
            <a:prstDash val="solid"/>
          </a:ln>
        </p:spPr>
        <p:txBody>
          <a:bodyPr/>
          <a:lstStyle/>
          <a:p>
            <a:endParaRPr lang="en-US"/>
          </a:p>
        </p:txBody>
      </p:sp>
      <p:sp>
        <p:nvSpPr>
          <p:cNvPr id="5" name="Text 3"/>
          <p:cNvSpPr/>
          <p:nvPr/>
        </p:nvSpPr>
        <p:spPr>
          <a:xfrm>
            <a:off x="84124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6" name="Text 4"/>
          <p:cNvSpPr/>
          <p:nvPr/>
        </p:nvSpPr>
        <p:spPr>
          <a:xfrm>
            <a:off x="32004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Django fundamentals</a:t>
            </a:r>
            <a:endParaRPr lang="en-US" sz="1600" dirty="0"/>
          </a:p>
        </p:txBody>
      </p:sp>
      <p:sp>
        <p:nvSpPr>
          <p:cNvPr id="7" name="Shape 5"/>
          <p:cNvSpPr/>
          <p:nvPr/>
        </p:nvSpPr>
        <p:spPr>
          <a:xfrm>
            <a:off x="1389888" y="2651760"/>
            <a:ext cx="1033272" cy="0"/>
          </a:xfrm>
          <a:prstGeom prst="line">
            <a:avLst/>
          </a:prstGeom>
          <a:noFill/>
          <a:ln w="25400">
            <a:solidFill>
              <a:srgbClr val="9AB7BB"/>
            </a:solidFill>
            <a:prstDash val="solid"/>
            <a:tailEnd type="triangle"/>
          </a:ln>
        </p:spPr>
        <p:txBody>
          <a:bodyPr/>
          <a:lstStyle/>
          <a:p>
            <a:endParaRPr lang="en-US"/>
          </a:p>
        </p:txBody>
      </p:sp>
      <p:sp>
        <p:nvSpPr>
          <p:cNvPr id="8" name="Shape 6"/>
          <p:cNvSpPr/>
          <p:nvPr/>
        </p:nvSpPr>
        <p:spPr>
          <a:xfrm>
            <a:off x="2514600" y="2286000"/>
            <a:ext cx="713232" cy="713232"/>
          </a:xfrm>
          <a:prstGeom prst="ellipse">
            <a:avLst/>
          </a:prstGeom>
          <a:solidFill>
            <a:srgbClr val="F5A623"/>
          </a:solidFill>
          <a:ln w="12700">
            <a:solidFill>
              <a:srgbClr val="FFFFFF"/>
            </a:solidFill>
            <a:prstDash val="solid"/>
          </a:ln>
        </p:spPr>
        <p:txBody>
          <a:bodyPr/>
          <a:lstStyle/>
          <a:p>
            <a:endParaRPr lang="en-US"/>
          </a:p>
        </p:txBody>
      </p:sp>
      <p:sp>
        <p:nvSpPr>
          <p:cNvPr id="9" name="Text 7"/>
          <p:cNvSpPr/>
          <p:nvPr/>
        </p:nvSpPr>
        <p:spPr>
          <a:xfrm>
            <a:off x="271576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0" name="Text 8"/>
          <p:cNvSpPr/>
          <p:nvPr/>
        </p:nvSpPr>
        <p:spPr>
          <a:xfrm>
            <a:off x="219456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Models</a:t>
            </a:r>
            <a:endParaRPr lang="en-US" sz="1600" dirty="0"/>
          </a:p>
        </p:txBody>
      </p:sp>
      <p:sp>
        <p:nvSpPr>
          <p:cNvPr id="11" name="Shape 9"/>
          <p:cNvSpPr/>
          <p:nvPr/>
        </p:nvSpPr>
        <p:spPr>
          <a:xfrm>
            <a:off x="3264408" y="2651760"/>
            <a:ext cx="1033272" cy="0"/>
          </a:xfrm>
          <a:prstGeom prst="line">
            <a:avLst/>
          </a:prstGeom>
          <a:noFill/>
          <a:ln w="25400">
            <a:solidFill>
              <a:srgbClr val="9AB7BB"/>
            </a:solidFill>
            <a:prstDash val="solid"/>
            <a:tailEnd type="triangle"/>
          </a:ln>
        </p:spPr>
        <p:txBody>
          <a:bodyPr/>
          <a:lstStyle/>
          <a:p>
            <a:endParaRPr lang="en-US"/>
          </a:p>
        </p:txBody>
      </p:sp>
      <p:sp>
        <p:nvSpPr>
          <p:cNvPr id="12" name="Shape 10"/>
          <p:cNvSpPr/>
          <p:nvPr/>
        </p:nvSpPr>
        <p:spPr>
          <a:xfrm>
            <a:off x="4389120" y="2286000"/>
            <a:ext cx="713232" cy="713232"/>
          </a:xfrm>
          <a:prstGeom prst="ellipse">
            <a:avLst/>
          </a:prstGeom>
          <a:solidFill>
            <a:srgbClr val="138A96"/>
          </a:solidFill>
          <a:ln w="12700">
            <a:solidFill>
              <a:srgbClr val="FFFFFF"/>
            </a:solidFill>
            <a:prstDash val="solid"/>
          </a:ln>
        </p:spPr>
        <p:txBody>
          <a:bodyPr/>
          <a:lstStyle/>
          <a:p>
            <a:endParaRPr lang="en-US"/>
          </a:p>
        </p:txBody>
      </p:sp>
      <p:sp>
        <p:nvSpPr>
          <p:cNvPr id="13" name="Text 11"/>
          <p:cNvSpPr/>
          <p:nvPr/>
        </p:nvSpPr>
        <p:spPr>
          <a:xfrm>
            <a:off x="459028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4" name="Text 12"/>
          <p:cNvSpPr/>
          <p:nvPr/>
        </p:nvSpPr>
        <p:spPr>
          <a:xfrm>
            <a:off x="406908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Views + templates</a:t>
            </a:r>
            <a:endParaRPr lang="en-US" sz="1600" dirty="0"/>
          </a:p>
        </p:txBody>
      </p:sp>
      <p:sp>
        <p:nvSpPr>
          <p:cNvPr id="15" name="Shape 13"/>
          <p:cNvSpPr/>
          <p:nvPr/>
        </p:nvSpPr>
        <p:spPr>
          <a:xfrm>
            <a:off x="5138928" y="2651760"/>
            <a:ext cx="1033272" cy="0"/>
          </a:xfrm>
          <a:prstGeom prst="line">
            <a:avLst/>
          </a:prstGeom>
          <a:noFill/>
          <a:ln w="25400">
            <a:solidFill>
              <a:srgbClr val="9AB7BB"/>
            </a:solidFill>
            <a:prstDash val="solid"/>
            <a:tailEnd type="triangle"/>
          </a:ln>
        </p:spPr>
        <p:txBody>
          <a:bodyPr/>
          <a:lstStyle/>
          <a:p>
            <a:endParaRPr lang="en-US"/>
          </a:p>
        </p:txBody>
      </p:sp>
      <p:sp>
        <p:nvSpPr>
          <p:cNvPr id="16" name="Shape 14"/>
          <p:cNvSpPr/>
          <p:nvPr/>
        </p:nvSpPr>
        <p:spPr>
          <a:xfrm>
            <a:off x="6263640" y="2286000"/>
            <a:ext cx="713232" cy="713232"/>
          </a:xfrm>
          <a:prstGeom prst="ellipse">
            <a:avLst/>
          </a:prstGeom>
          <a:solidFill>
            <a:srgbClr val="F5A623"/>
          </a:solidFill>
          <a:ln w="12700">
            <a:solidFill>
              <a:srgbClr val="FFFFFF"/>
            </a:solidFill>
            <a:prstDash val="solid"/>
          </a:ln>
        </p:spPr>
        <p:txBody>
          <a:bodyPr/>
          <a:lstStyle/>
          <a:p>
            <a:endParaRPr lang="en-US"/>
          </a:p>
        </p:txBody>
      </p:sp>
      <p:sp>
        <p:nvSpPr>
          <p:cNvPr id="17" name="Text 15"/>
          <p:cNvSpPr/>
          <p:nvPr/>
        </p:nvSpPr>
        <p:spPr>
          <a:xfrm>
            <a:off x="646480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18" name="Text 16"/>
          <p:cNvSpPr/>
          <p:nvPr/>
        </p:nvSpPr>
        <p:spPr>
          <a:xfrm>
            <a:off x="594360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Forms</a:t>
            </a:r>
            <a:endParaRPr lang="en-US" sz="1600" dirty="0"/>
          </a:p>
        </p:txBody>
      </p:sp>
      <p:sp>
        <p:nvSpPr>
          <p:cNvPr id="19" name="Shape 17"/>
          <p:cNvSpPr/>
          <p:nvPr/>
        </p:nvSpPr>
        <p:spPr>
          <a:xfrm>
            <a:off x="7013448" y="2651760"/>
            <a:ext cx="1033272" cy="0"/>
          </a:xfrm>
          <a:prstGeom prst="line">
            <a:avLst/>
          </a:prstGeom>
          <a:noFill/>
          <a:ln w="25400">
            <a:solidFill>
              <a:srgbClr val="9AB7BB"/>
            </a:solidFill>
            <a:prstDash val="solid"/>
            <a:tailEnd type="triangle"/>
          </a:ln>
        </p:spPr>
        <p:txBody>
          <a:bodyPr/>
          <a:lstStyle/>
          <a:p>
            <a:endParaRPr lang="en-US"/>
          </a:p>
        </p:txBody>
      </p:sp>
      <p:sp>
        <p:nvSpPr>
          <p:cNvPr id="20" name="Shape 18"/>
          <p:cNvSpPr/>
          <p:nvPr/>
        </p:nvSpPr>
        <p:spPr>
          <a:xfrm>
            <a:off x="8138160" y="2286000"/>
            <a:ext cx="713232" cy="713232"/>
          </a:xfrm>
          <a:prstGeom prst="ellipse">
            <a:avLst/>
          </a:prstGeom>
          <a:solidFill>
            <a:srgbClr val="138A96"/>
          </a:solidFill>
          <a:ln w="12700">
            <a:solidFill>
              <a:srgbClr val="FFFFFF"/>
            </a:solidFill>
            <a:prstDash val="solid"/>
          </a:ln>
        </p:spPr>
        <p:txBody>
          <a:bodyPr/>
          <a:lstStyle/>
          <a:p>
            <a:endParaRPr lang="en-US"/>
          </a:p>
        </p:txBody>
      </p:sp>
      <p:sp>
        <p:nvSpPr>
          <p:cNvPr id="21" name="Text 19"/>
          <p:cNvSpPr/>
          <p:nvPr/>
        </p:nvSpPr>
        <p:spPr>
          <a:xfrm>
            <a:off x="833932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2" name="Text 20"/>
          <p:cNvSpPr/>
          <p:nvPr/>
        </p:nvSpPr>
        <p:spPr>
          <a:xfrm>
            <a:off x="781812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Authentication</a:t>
            </a:r>
            <a:endParaRPr lang="en-US" sz="1600" dirty="0"/>
          </a:p>
        </p:txBody>
      </p:sp>
      <p:sp>
        <p:nvSpPr>
          <p:cNvPr id="23" name="Shape 21"/>
          <p:cNvSpPr/>
          <p:nvPr/>
        </p:nvSpPr>
        <p:spPr>
          <a:xfrm>
            <a:off x="8887968" y="2651760"/>
            <a:ext cx="1033272" cy="0"/>
          </a:xfrm>
          <a:prstGeom prst="line">
            <a:avLst/>
          </a:prstGeom>
          <a:noFill/>
          <a:ln w="25400">
            <a:solidFill>
              <a:srgbClr val="9AB7BB"/>
            </a:solidFill>
            <a:prstDash val="solid"/>
            <a:tailEnd type="triangle"/>
          </a:ln>
        </p:spPr>
        <p:txBody>
          <a:bodyPr/>
          <a:lstStyle/>
          <a:p>
            <a:endParaRPr lang="en-US"/>
          </a:p>
        </p:txBody>
      </p:sp>
      <p:sp>
        <p:nvSpPr>
          <p:cNvPr id="24" name="Shape 22"/>
          <p:cNvSpPr/>
          <p:nvPr/>
        </p:nvSpPr>
        <p:spPr>
          <a:xfrm>
            <a:off x="10012680" y="2286000"/>
            <a:ext cx="713232" cy="713232"/>
          </a:xfrm>
          <a:prstGeom prst="ellipse">
            <a:avLst/>
          </a:prstGeom>
          <a:solidFill>
            <a:srgbClr val="F5A623"/>
          </a:solidFill>
          <a:ln w="12700">
            <a:solidFill>
              <a:srgbClr val="FFFFFF"/>
            </a:solidFill>
            <a:prstDash val="solid"/>
          </a:ln>
        </p:spPr>
        <p:txBody>
          <a:bodyPr/>
          <a:lstStyle/>
          <a:p>
            <a:endParaRPr lang="en-US"/>
          </a:p>
        </p:txBody>
      </p:sp>
      <p:sp>
        <p:nvSpPr>
          <p:cNvPr id="25" name="Text 23"/>
          <p:cNvSpPr/>
          <p:nvPr/>
        </p:nvSpPr>
        <p:spPr>
          <a:xfrm>
            <a:off x="1021384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6</a:t>
            </a:r>
            <a:endParaRPr lang="en-US" sz="1500" dirty="0"/>
          </a:p>
        </p:txBody>
      </p:sp>
      <p:sp>
        <p:nvSpPr>
          <p:cNvPr id="26" name="Text 24"/>
          <p:cNvSpPr/>
          <p:nvPr/>
        </p:nvSpPr>
        <p:spPr>
          <a:xfrm>
            <a:off x="969264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JavaScript + apps</a:t>
            </a:r>
            <a:endParaRPr lang="en-US" sz="1600" dirty="0"/>
          </a:p>
        </p:txBody>
      </p:sp>
      <p:sp>
        <p:nvSpPr>
          <p:cNvPr id="27" name="Text 25"/>
          <p:cNvSpPr/>
          <p:nvPr/>
        </p:nvSpPr>
        <p:spPr>
          <a:xfrm>
            <a:off x="1417320" y="4663440"/>
            <a:ext cx="9326880" cy="475488"/>
          </a:xfrm>
          <a:prstGeom prst="rect">
            <a:avLst/>
          </a:prstGeom>
          <a:noFill/>
          <a:ln/>
        </p:spPr>
        <p:txBody>
          <a:bodyPr wrap="square" lIns="0" tIns="0" rIns="0" bIns="0" rtlCol="0" anchor="ctr"/>
          <a:lstStyle/>
          <a:p>
            <a:pPr marL="0" indent="0" algn="ctr">
              <a:buNone/>
            </a:pPr>
            <a:r>
              <a:rPr lang="en-US" sz="2600" b="1" dirty="0">
                <a:solidFill>
                  <a:srgbClr val="10283B"/>
                </a:solidFill>
              </a:rPr>
              <a:t>Campus and online students work through the same concepts at roughly the same time.</a:t>
            </a:r>
            <a:endParaRPr lang="en-US" sz="2600" dirty="0"/>
          </a:p>
        </p:txBody>
      </p:sp>
      <p:sp>
        <p:nvSpPr>
          <p:cNvPr id="28" name="Text 26"/>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29" name="Text 27"/>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What online learners get</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More than recorded lectures: rhythm, support, and community</a:t>
            </a:r>
            <a:endParaRPr lang="en-US" sz="1400" dirty="0"/>
          </a:p>
        </p:txBody>
      </p:sp>
      <p:sp>
        <p:nvSpPr>
          <p:cNvPr id="4" name="Shape 2"/>
          <p:cNvSpPr/>
          <p:nvPr/>
        </p:nvSpPr>
        <p:spPr>
          <a:xfrm>
            <a:off x="1005840" y="1920240"/>
            <a:ext cx="960120" cy="960120"/>
          </a:xfrm>
          <a:prstGeom prst="ellipse">
            <a:avLst/>
          </a:prstGeom>
          <a:solidFill>
            <a:srgbClr val="138A96"/>
          </a:solidFill>
          <a:ln w="25400">
            <a:solidFill>
              <a:srgbClr val="FFFFFF"/>
            </a:solidFill>
            <a:prstDash val="solid"/>
          </a:ln>
        </p:spPr>
        <p:txBody>
          <a:bodyPr/>
          <a:lstStyle/>
          <a:p>
            <a:endParaRPr lang="en-US"/>
          </a:p>
        </p:txBody>
      </p:sp>
      <p:sp>
        <p:nvSpPr>
          <p:cNvPr id="5" name="Text 3"/>
          <p:cNvSpPr/>
          <p:nvPr/>
        </p:nvSpPr>
        <p:spPr>
          <a:xfrm>
            <a:off x="2148840" y="197510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Schedule</a:t>
            </a:r>
            <a:endParaRPr lang="en-US" sz="2100" dirty="0"/>
          </a:p>
        </p:txBody>
      </p:sp>
      <p:sp>
        <p:nvSpPr>
          <p:cNvPr id="6" name="Text 4"/>
          <p:cNvSpPr/>
          <p:nvPr/>
        </p:nvSpPr>
        <p:spPr>
          <a:xfrm>
            <a:off x="2148840" y="233172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a reason to keep going</a:t>
            </a:r>
            <a:endParaRPr lang="en-US" sz="1400" dirty="0"/>
          </a:p>
        </p:txBody>
      </p:sp>
      <p:sp>
        <p:nvSpPr>
          <p:cNvPr id="7" name="Shape 5"/>
          <p:cNvSpPr/>
          <p:nvPr/>
        </p:nvSpPr>
        <p:spPr>
          <a:xfrm>
            <a:off x="3429000" y="3246120"/>
            <a:ext cx="960120" cy="960120"/>
          </a:xfrm>
          <a:prstGeom prst="ellipse">
            <a:avLst/>
          </a:prstGeom>
          <a:solidFill>
            <a:srgbClr val="F5A623"/>
          </a:solidFill>
          <a:ln w="25400">
            <a:solidFill>
              <a:srgbClr val="FFFFFF"/>
            </a:solidFill>
            <a:prstDash val="solid"/>
          </a:ln>
        </p:spPr>
        <p:txBody>
          <a:bodyPr/>
          <a:lstStyle/>
          <a:p>
            <a:endParaRPr lang="en-US"/>
          </a:p>
        </p:txBody>
      </p:sp>
      <p:sp>
        <p:nvSpPr>
          <p:cNvPr id="8" name="Text 6"/>
          <p:cNvSpPr/>
          <p:nvPr/>
        </p:nvSpPr>
        <p:spPr>
          <a:xfrm>
            <a:off x="4572000" y="330098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Office hours</a:t>
            </a:r>
            <a:endParaRPr lang="en-US" sz="2100" dirty="0"/>
          </a:p>
        </p:txBody>
      </p:sp>
      <p:sp>
        <p:nvSpPr>
          <p:cNvPr id="9" name="Text 7"/>
          <p:cNvSpPr/>
          <p:nvPr/>
        </p:nvSpPr>
        <p:spPr>
          <a:xfrm>
            <a:off x="4572000" y="365760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help when questions matter</a:t>
            </a:r>
            <a:endParaRPr lang="en-US" sz="1400" dirty="0"/>
          </a:p>
        </p:txBody>
      </p:sp>
      <p:sp>
        <p:nvSpPr>
          <p:cNvPr id="10" name="Shape 8"/>
          <p:cNvSpPr/>
          <p:nvPr/>
        </p:nvSpPr>
        <p:spPr>
          <a:xfrm>
            <a:off x="6035040" y="1920240"/>
            <a:ext cx="960120" cy="960120"/>
          </a:xfrm>
          <a:prstGeom prst="ellipse">
            <a:avLst/>
          </a:prstGeom>
          <a:solidFill>
            <a:srgbClr val="5E8C42"/>
          </a:solidFill>
          <a:ln w="25400">
            <a:solidFill>
              <a:srgbClr val="FFFFFF"/>
            </a:solidFill>
            <a:prstDash val="solid"/>
          </a:ln>
        </p:spPr>
        <p:txBody>
          <a:bodyPr/>
          <a:lstStyle/>
          <a:p>
            <a:endParaRPr lang="en-US"/>
          </a:p>
        </p:txBody>
      </p:sp>
      <p:sp>
        <p:nvSpPr>
          <p:cNvPr id="11" name="Text 9"/>
          <p:cNvSpPr/>
          <p:nvPr/>
        </p:nvSpPr>
        <p:spPr>
          <a:xfrm>
            <a:off x="7178040" y="197510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TA sessions</a:t>
            </a:r>
            <a:endParaRPr lang="en-US" sz="2100" dirty="0"/>
          </a:p>
        </p:txBody>
      </p:sp>
      <p:sp>
        <p:nvSpPr>
          <p:cNvPr id="12" name="Text 10"/>
          <p:cNvSpPr/>
          <p:nvPr/>
        </p:nvSpPr>
        <p:spPr>
          <a:xfrm>
            <a:off x="7178040" y="233172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support from the teaching team</a:t>
            </a:r>
            <a:endParaRPr lang="en-US" sz="1400" dirty="0"/>
          </a:p>
        </p:txBody>
      </p:sp>
      <p:sp>
        <p:nvSpPr>
          <p:cNvPr id="13" name="Shape 11"/>
          <p:cNvSpPr/>
          <p:nvPr/>
        </p:nvSpPr>
        <p:spPr>
          <a:xfrm>
            <a:off x="8549640" y="3246120"/>
            <a:ext cx="960120" cy="960120"/>
          </a:xfrm>
          <a:prstGeom prst="ellipse">
            <a:avLst/>
          </a:prstGeom>
          <a:solidFill>
            <a:srgbClr val="138A96"/>
          </a:solidFill>
          <a:ln w="25400">
            <a:solidFill>
              <a:srgbClr val="FFFFFF"/>
            </a:solidFill>
            <a:prstDash val="solid"/>
          </a:ln>
        </p:spPr>
        <p:txBody>
          <a:bodyPr/>
          <a:lstStyle/>
          <a:p>
            <a:endParaRPr lang="en-US"/>
          </a:p>
        </p:txBody>
      </p:sp>
      <p:sp>
        <p:nvSpPr>
          <p:cNvPr id="14" name="Text 12"/>
          <p:cNvSpPr/>
          <p:nvPr/>
        </p:nvSpPr>
        <p:spPr>
          <a:xfrm>
            <a:off x="9692640" y="330098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Community</a:t>
            </a:r>
            <a:endParaRPr lang="en-US" sz="2100" dirty="0"/>
          </a:p>
        </p:txBody>
      </p:sp>
      <p:sp>
        <p:nvSpPr>
          <p:cNvPr id="15" name="Text 13"/>
          <p:cNvSpPr/>
          <p:nvPr/>
        </p:nvSpPr>
        <p:spPr>
          <a:xfrm>
            <a:off x="9692640" y="365760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people working beside you</a:t>
            </a:r>
            <a:endParaRPr lang="en-US" sz="1400" dirty="0"/>
          </a:p>
        </p:txBody>
      </p:sp>
      <p:sp>
        <p:nvSpPr>
          <p:cNvPr id="16" name="Text 14"/>
          <p:cNvSpPr/>
          <p:nvPr/>
        </p:nvSpPr>
        <p:spPr>
          <a:xfrm>
            <a:off x="1371600" y="5349240"/>
            <a:ext cx="9326880" cy="457200"/>
          </a:xfrm>
          <a:prstGeom prst="rect">
            <a:avLst/>
          </a:prstGeom>
          <a:noFill/>
          <a:ln/>
        </p:spPr>
        <p:txBody>
          <a:bodyPr wrap="square" lIns="0" tIns="0" rIns="0" bIns="0" rtlCol="0" anchor="ctr"/>
          <a:lstStyle/>
          <a:p>
            <a:pPr marL="0" indent="0" algn="ctr">
              <a:buNone/>
            </a:pPr>
            <a:r>
              <a:rPr lang="en-US" sz="2400" b="1" dirty="0">
                <a:solidFill>
                  <a:srgbClr val="10283B"/>
                </a:solidFill>
              </a:rPr>
              <a:t>The goal is not to pretend the experiences are identical. The goal is alignment.</a:t>
            </a:r>
            <a:endParaRPr lang="en-US" sz="2400" dirty="0"/>
          </a:p>
        </p:txBody>
      </p:sp>
      <p:sp>
        <p:nvSpPr>
          <p:cNvPr id="17" name="Text 15"/>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8" name="Text 16"/>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CF3"/>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Course path</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For people with Python experience who want to build database-backed web applications</a:t>
            </a:r>
            <a:endParaRPr lang="en-US" sz="1400" dirty="0"/>
          </a:p>
        </p:txBody>
      </p:sp>
      <p:sp>
        <p:nvSpPr>
          <p:cNvPr id="4" name="Text 2"/>
          <p:cNvSpPr/>
          <p:nvPr/>
        </p:nvSpPr>
        <p:spPr>
          <a:xfrm>
            <a:off x="868680" y="1645920"/>
            <a:ext cx="2468880" cy="365760"/>
          </a:xfrm>
          <a:prstGeom prst="rect">
            <a:avLst/>
          </a:prstGeom>
          <a:noFill/>
          <a:ln/>
        </p:spPr>
        <p:txBody>
          <a:bodyPr wrap="square" lIns="0" tIns="0" rIns="0" bIns="0" rtlCol="0" anchor="ctr"/>
          <a:lstStyle/>
          <a:p>
            <a:pPr marL="0" indent="0" algn="ctr">
              <a:buNone/>
            </a:pPr>
            <a:r>
              <a:rPr lang="en-US" sz="2200" b="1" dirty="0">
                <a:solidFill>
                  <a:srgbClr val="18324A"/>
                </a:solidFill>
              </a:rPr>
              <a:t>Python experience</a:t>
            </a:r>
            <a:endParaRPr lang="en-US" sz="2200" dirty="0"/>
          </a:p>
        </p:txBody>
      </p:sp>
      <p:sp>
        <p:nvSpPr>
          <p:cNvPr id="5" name="Text 3"/>
          <p:cNvSpPr/>
          <p:nvPr/>
        </p:nvSpPr>
        <p:spPr>
          <a:xfrm>
            <a:off x="4846320" y="1645920"/>
            <a:ext cx="2468880" cy="365760"/>
          </a:xfrm>
          <a:prstGeom prst="rect">
            <a:avLst/>
          </a:prstGeom>
          <a:noFill/>
          <a:ln/>
        </p:spPr>
        <p:txBody>
          <a:bodyPr wrap="square" lIns="0" tIns="0" rIns="0" bIns="0" rtlCol="0" anchor="ctr"/>
          <a:lstStyle/>
          <a:p>
            <a:pPr marL="0" indent="0" algn="ctr">
              <a:buNone/>
            </a:pPr>
            <a:r>
              <a:rPr lang="en-US" sz="2200" b="1" dirty="0">
                <a:solidFill>
                  <a:srgbClr val="18324A"/>
                </a:solidFill>
              </a:rPr>
              <a:t>Django concepts</a:t>
            </a:r>
            <a:endParaRPr lang="en-US" sz="2200" dirty="0"/>
          </a:p>
        </p:txBody>
      </p:sp>
      <p:sp>
        <p:nvSpPr>
          <p:cNvPr id="6" name="Text 4"/>
          <p:cNvSpPr/>
          <p:nvPr/>
        </p:nvSpPr>
        <p:spPr>
          <a:xfrm>
            <a:off x="8869680" y="1645920"/>
            <a:ext cx="2468880" cy="365760"/>
          </a:xfrm>
          <a:prstGeom prst="rect">
            <a:avLst/>
          </a:prstGeom>
          <a:noFill/>
          <a:ln/>
        </p:spPr>
        <p:txBody>
          <a:bodyPr wrap="square" lIns="0" tIns="0" rIns="0" bIns="0" rtlCol="0" anchor="ctr"/>
          <a:lstStyle/>
          <a:p>
            <a:pPr marL="0" indent="0" algn="ctr">
              <a:buNone/>
            </a:pPr>
            <a:r>
              <a:rPr lang="en-US" sz="2200" b="1" dirty="0">
                <a:solidFill>
                  <a:srgbClr val="18324A"/>
                </a:solidFill>
              </a:rPr>
              <a:t>Complete apps</a:t>
            </a:r>
            <a:endParaRPr lang="en-US" sz="2200" dirty="0"/>
          </a:p>
        </p:txBody>
      </p:sp>
      <p:sp>
        <p:nvSpPr>
          <p:cNvPr id="7" name="Text 5"/>
          <p:cNvSpPr/>
          <p:nvPr/>
        </p:nvSpPr>
        <p:spPr>
          <a:xfrm>
            <a:off x="4526280" y="28803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8" name="Text 6"/>
          <p:cNvSpPr/>
          <p:nvPr/>
        </p:nvSpPr>
        <p:spPr>
          <a:xfrm>
            <a:off x="4828032" y="2916936"/>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web applications</a:t>
            </a:r>
            <a:endParaRPr lang="en-US" sz="1600" dirty="0"/>
          </a:p>
        </p:txBody>
      </p:sp>
      <p:sp>
        <p:nvSpPr>
          <p:cNvPr id="9" name="Text 7"/>
          <p:cNvSpPr/>
          <p:nvPr/>
        </p:nvSpPr>
        <p:spPr>
          <a:xfrm>
            <a:off x="4526280" y="3300984"/>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0" name="Text 8"/>
          <p:cNvSpPr/>
          <p:nvPr/>
        </p:nvSpPr>
        <p:spPr>
          <a:xfrm>
            <a:off x="4828032" y="3337560"/>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models, views, templates</a:t>
            </a:r>
            <a:endParaRPr lang="en-US" sz="1600" dirty="0"/>
          </a:p>
        </p:txBody>
      </p:sp>
      <p:sp>
        <p:nvSpPr>
          <p:cNvPr id="11" name="Text 9"/>
          <p:cNvSpPr/>
          <p:nvPr/>
        </p:nvSpPr>
        <p:spPr>
          <a:xfrm>
            <a:off x="4526280" y="3721608"/>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2" name="Text 10"/>
          <p:cNvSpPr/>
          <p:nvPr/>
        </p:nvSpPr>
        <p:spPr>
          <a:xfrm>
            <a:off x="4828032" y="3758184"/>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forms + authentication</a:t>
            </a:r>
            <a:endParaRPr lang="en-US" sz="1600" dirty="0"/>
          </a:p>
        </p:txBody>
      </p:sp>
      <p:sp>
        <p:nvSpPr>
          <p:cNvPr id="13" name="Text 11"/>
          <p:cNvSpPr/>
          <p:nvPr/>
        </p:nvSpPr>
        <p:spPr>
          <a:xfrm>
            <a:off x="4526280" y="4142232"/>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4" name="Text 12"/>
          <p:cNvSpPr/>
          <p:nvPr/>
        </p:nvSpPr>
        <p:spPr>
          <a:xfrm>
            <a:off x="4828032" y="4178808"/>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JavaScript</a:t>
            </a:r>
            <a:endParaRPr lang="en-US" sz="1600" dirty="0"/>
          </a:p>
        </p:txBody>
      </p:sp>
      <p:sp>
        <p:nvSpPr>
          <p:cNvPr id="15" name="Text 13"/>
          <p:cNvSpPr/>
          <p:nvPr/>
        </p:nvSpPr>
        <p:spPr>
          <a:xfrm>
            <a:off x="4526280" y="4562856"/>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6" name="Text 14"/>
          <p:cNvSpPr/>
          <p:nvPr/>
        </p:nvSpPr>
        <p:spPr>
          <a:xfrm>
            <a:off x="4828032" y="4599432"/>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understanding the pieces</a:t>
            </a:r>
            <a:endParaRPr lang="en-US" sz="1600" dirty="0"/>
          </a:p>
        </p:txBody>
      </p:sp>
      <p:sp>
        <p:nvSpPr>
          <p:cNvPr id="17" name="Text 15"/>
          <p:cNvSpPr/>
          <p:nvPr/>
        </p:nvSpPr>
        <p:spPr>
          <a:xfrm>
            <a:off x="960120" y="5285232"/>
            <a:ext cx="10241280" cy="457200"/>
          </a:xfrm>
          <a:prstGeom prst="rect">
            <a:avLst/>
          </a:prstGeom>
          <a:noFill/>
          <a:ln/>
        </p:spPr>
        <p:txBody>
          <a:bodyPr wrap="square" lIns="0" tIns="0" rIns="0" bIns="0" rtlCol="0" anchor="ctr"/>
          <a:lstStyle/>
          <a:p>
            <a:pPr marL="0" indent="0" algn="ctr">
              <a:buNone/>
            </a:pPr>
            <a:r>
              <a:rPr lang="en-US" sz="2400" b="1" dirty="0">
                <a:solidFill>
                  <a:srgbClr val="10283B"/>
                </a:solidFill>
              </a:rPr>
              <a:t>Not just “follow instructions” — understand what Django is doing and why.</a:t>
            </a:r>
            <a:endParaRPr lang="en-US" sz="2400" dirty="0"/>
          </a:p>
        </p:txBody>
      </p:sp>
      <p:sp>
        <p:nvSpPr>
          <p:cNvPr id="18" name="Text 16"/>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9" name="Text 17"/>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First offering</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Beginning August 1</a:t>
            </a:r>
            <a:endParaRPr lang="en-US" sz="1400" dirty="0"/>
          </a:p>
        </p:txBody>
      </p:sp>
      <p:sp>
        <p:nvSpPr>
          <p:cNvPr id="4" name="Text 2"/>
          <p:cNvSpPr/>
          <p:nvPr/>
        </p:nvSpPr>
        <p:spPr>
          <a:xfrm>
            <a:off x="868680" y="1554480"/>
            <a:ext cx="3657600" cy="1005840"/>
          </a:xfrm>
          <a:prstGeom prst="rect">
            <a:avLst/>
          </a:prstGeom>
          <a:noFill/>
          <a:ln/>
        </p:spPr>
        <p:txBody>
          <a:bodyPr wrap="square" lIns="0" tIns="0" rIns="0" bIns="0" rtlCol="0" anchor="ctr"/>
          <a:lstStyle/>
          <a:p>
            <a:pPr marL="0" indent="0">
              <a:buNone/>
            </a:pPr>
            <a:r>
              <a:rPr lang="en-US" sz="7200" b="1" dirty="0">
                <a:solidFill>
                  <a:srgbClr val="138A96"/>
                </a:solidFill>
              </a:rPr>
              <a:t>$300</a:t>
            </a:r>
            <a:endParaRPr lang="en-US" sz="7200" dirty="0"/>
          </a:p>
        </p:txBody>
      </p:sp>
      <p:sp>
        <p:nvSpPr>
          <p:cNvPr id="5" name="Text 3"/>
          <p:cNvSpPr/>
          <p:nvPr/>
        </p:nvSpPr>
        <p:spPr>
          <a:xfrm>
            <a:off x="932688" y="2651760"/>
            <a:ext cx="4572000" cy="329184"/>
          </a:xfrm>
          <a:prstGeom prst="rect">
            <a:avLst/>
          </a:prstGeom>
          <a:noFill/>
          <a:ln/>
        </p:spPr>
        <p:txBody>
          <a:bodyPr wrap="square" lIns="0" tIns="0" rIns="0" bIns="0" rtlCol="0" anchor="ctr"/>
          <a:lstStyle/>
          <a:p>
            <a:pPr marL="0" indent="0">
              <a:buNone/>
            </a:pPr>
            <a:r>
              <a:rPr lang="en-US" sz="2100" dirty="0">
                <a:solidFill>
                  <a:srgbClr val="10283B"/>
                </a:solidFill>
              </a:rPr>
              <a:t>to cover the costs of teaching assistants</a:t>
            </a:r>
            <a:endParaRPr lang="en-US" sz="2100" dirty="0"/>
          </a:p>
        </p:txBody>
      </p:sp>
      <p:sp>
        <p:nvSpPr>
          <p:cNvPr id="6" name="Text 4"/>
          <p:cNvSpPr/>
          <p:nvPr/>
        </p:nvSpPr>
        <p:spPr>
          <a:xfrm>
            <a:off x="978408" y="33375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7" name="Text 5"/>
          <p:cNvSpPr/>
          <p:nvPr/>
        </p:nvSpPr>
        <p:spPr>
          <a:xfrm>
            <a:off x="1280160" y="33741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office hours</a:t>
            </a:r>
            <a:endParaRPr lang="en-US" sz="1600" dirty="0"/>
          </a:p>
        </p:txBody>
      </p:sp>
      <p:sp>
        <p:nvSpPr>
          <p:cNvPr id="8" name="Text 6"/>
          <p:cNvSpPr/>
          <p:nvPr/>
        </p:nvSpPr>
        <p:spPr>
          <a:xfrm>
            <a:off x="978408" y="37947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9" name="Text 7"/>
          <p:cNvSpPr/>
          <p:nvPr/>
        </p:nvSpPr>
        <p:spPr>
          <a:xfrm>
            <a:off x="1280160" y="38313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instructional sessions</a:t>
            </a:r>
            <a:endParaRPr lang="en-US" sz="1600" dirty="0"/>
          </a:p>
        </p:txBody>
      </p:sp>
      <p:sp>
        <p:nvSpPr>
          <p:cNvPr id="10" name="Text 8"/>
          <p:cNvSpPr/>
          <p:nvPr/>
        </p:nvSpPr>
        <p:spPr>
          <a:xfrm>
            <a:off x="978408" y="42519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1" name="Text 9"/>
          <p:cNvSpPr/>
          <p:nvPr/>
        </p:nvSpPr>
        <p:spPr>
          <a:xfrm>
            <a:off x="1280160" y="42885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help with course material</a:t>
            </a:r>
            <a:endParaRPr lang="en-US" sz="1600" dirty="0"/>
          </a:p>
        </p:txBody>
      </p:sp>
      <p:sp>
        <p:nvSpPr>
          <p:cNvPr id="12" name="Text 10"/>
          <p:cNvSpPr/>
          <p:nvPr/>
        </p:nvSpPr>
        <p:spPr>
          <a:xfrm>
            <a:off x="978408" y="47091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3" name="Text 11"/>
          <p:cNvSpPr/>
          <p:nvPr/>
        </p:nvSpPr>
        <p:spPr>
          <a:xfrm>
            <a:off x="1280160" y="47457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support for online students</a:t>
            </a:r>
          </a:p>
        </p:txBody>
      </p:sp>
      <p:sp>
        <p:nvSpPr>
          <p:cNvPr id="14" name="Shape 12"/>
          <p:cNvSpPr/>
          <p:nvPr/>
        </p:nvSpPr>
        <p:spPr>
          <a:xfrm>
            <a:off x="6766560" y="1554480"/>
            <a:ext cx="4389120" cy="3383280"/>
          </a:xfrm>
          <a:prstGeom prst="rect">
            <a:avLst/>
          </a:prstGeom>
          <a:solidFill>
            <a:srgbClr val="E8F4F5"/>
          </a:solidFill>
          <a:ln w="12700">
            <a:solidFill>
              <a:srgbClr val="E8F4F5">
                <a:alpha val="0"/>
              </a:srgbClr>
            </a:solidFill>
            <a:prstDash val="solid"/>
          </a:ln>
        </p:spPr>
        <p:txBody>
          <a:bodyPr/>
          <a:lstStyle/>
          <a:p>
            <a:endParaRPr lang="en-US"/>
          </a:p>
        </p:txBody>
      </p:sp>
      <p:sp>
        <p:nvSpPr>
          <p:cNvPr id="15" name="Text 13"/>
          <p:cNvSpPr/>
          <p:nvPr/>
        </p:nvSpPr>
        <p:spPr>
          <a:xfrm>
            <a:off x="7178040" y="2148840"/>
            <a:ext cx="3566160" cy="822960"/>
          </a:xfrm>
          <a:prstGeom prst="rect">
            <a:avLst/>
          </a:prstGeom>
          <a:noFill/>
          <a:ln/>
        </p:spPr>
        <p:txBody>
          <a:bodyPr wrap="square" lIns="0" tIns="0" rIns="0" bIns="0" rtlCol="0" anchor="ctr">
            <a:normAutofit fontScale="92500"/>
          </a:bodyPr>
          <a:lstStyle/>
          <a:p>
            <a:pPr marL="0" indent="0" algn="ctr">
              <a:buNone/>
            </a:pPr>
            <a:r>
              <a:rPr lang="en-US" sz="2900" b="1" dirty="0">
                <a:solidFill>
                  <a:srgbClr val="18324A"/>
                </a:solidFill>
              </a:rPr>
              <a:t>The fee supports people, not a paywall.</a:t>
            </a:r>
            <a:endParaRPr lang="en-US" sz="2900" dirty="0"/>
          </a:p>
        </p:txBody>
      </p:sp>
      <p:sp>
        <p:nvSpPr>
          <p:cNvPr id="16" name="Text 14"/>
          <p:cNvSpPr/>
          <p:nvPr/>
        </p:nvSpPr>
        <p:spPr>
          <a:xfrm>
            <a:off x="7360920" y="3319272"/>
            <a:ext cx="3200400" cy="640080"/>
          </a:xfrm>
          <a:prstGeom prst="rect">
            <a:avLst/>
          </a:prstGeom>
          <a:noFill/>
          <a:ln/>
        </p:spPr>
        <p:txBody>
          <a:bodyPr wrap="square" lIns="0" tIns="0" rIns="0" bIns="0" rtlCol="0" anchor="ctr"/>
          <a:lstStyle/>
          <a:p>
            <a:pPr marL="0" indent="0" algn="ctr">
              <a:buNone/>
            </a:pPr>
            <a:r>
              <a:rPr lang="en-US" sz="1700" dirty="0">
                <a:solidFill>
                  <a:srgbClr val="425466"/>
                </a:solidFill>
              </a:rPr>
              <a:t>The goal is a more human online learning experience.</a:t>
            </a:r>
            <a:endParaRPr lang="en-US" sz="1700" dirty="0"/>
          </a:p>
        </p:txBody>
      </p:sp>
      <p:sp>
        <p:nvSpPr>
          <p:cNvPr id="17" name="Text 15"/>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8" name="Text 16"/>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8</a:t>
            </a:r>
            <a:endParaRPr lang="en-US" sz="850" dirty="0"/>
          </a:p>
        </p:txBody>
      </p:sp>
      <p:sp>
        <p:nvSpPr>
          <p:cNvPr id="19" name="Text 10">
            <a:extLst>
              <a:ext uri="{FF2B5EF4-FFF2-40B4-BE49-F238E27FC236}">
                <a16:creationId xmlns:a16="http://schemas.microsoft.com/office/drawing/2014/main" id="{B47B5B33-65F8-796E-AF2E-FD025CAD9839}"/>
              </a:ext>
            </a:extLst>
          </p:cNvPr>
          <p:cNvSpPr/>
          <p:nvPr/>
        </p:nvSpPr>
        <p:spPr>
          <a:xfrm>
            <a:off x="978408" y="51663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20" name="Text 11">
            <a:extLst>
              <a:ext uri="{FF2B5EF4-FFF2-40B4-BE49-F238E27FC236}">
                <a16:creationId xmlns:a16="http://schemas.microsoft.com/office/drawing/2014/main" id="{D3271126-FCF8-1940-470D-8DD41A612BA9}"/>
              </a:ext>
            </a:extLst>
          </p:cNvPr>
          <p:cNvSpPr/>
          <p:nvPr/>
        </p:nvSpPr>
        <p:spPr>
          <a:xfrm>
            <a:off x="1280160" y="52029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enrollment limit 200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This is an experiment</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The first cohort helps define what a CAOC should be</a:t>
            </a:r>
            <a:endParaRPr lang="en-US" sz="1400" dirty="0"/>
          </a:p>
        </p:txBody>
      </p:sp>
      <p:sp>
        <p:nvSpPr>
          <p:cNvPr id="4" name="Text 2"/>
          <p:cNvSpPr/>
          <p:nvPr/>
        </p:nvSpPr>
        <p:spPr>
          <a:xfrm>
            <a:off x="914400" y="1737360"/>
            <a:ext cx="2194560" cy="411480"/>
          </a:xfrm>
          <a:prstGeom prst="rect">
            <a:avLst/>
          </a:prstGeom>
          <a:noFill/>
          <a:ln/>
        </p:spPr>
        <p:txBody>
          <a:bodyPr wrap="square" lIns="0" tIns="0" rIns="0" bIns="0" rtlCol="0" anchor="ctr"/>
          <a:lstStyle/>
          <a:p>
            <a:pPr marL="0" indent="0" algn="ctr">
              <a:buNone/>
            </a:pPr>
            <a:r>
              <a:rPr lang="en-US" sz="2700" b="1" dirty="0">
                <a:solidFill>
                  <a:srgbClr val="138A96"/>
                </a:solidFill>
              </a:rPr>
              <a:t>Listen</a:t>
            </a:r>
            <a:endParaRPr lang="en-US" sz="2700" dirty="0"/>
          </a:p>
        </p:txBody>
      </p:sp>
      <p:sp>
        <p:nvSpPr>
          <p:cNvPr id="5" name="Text 3"/>
          <p:cNvSpPr/>
          <p:nvPr/>
        </p:nvSpPr>
        <p:spPr>
          <a:xfrm>
            <a:off x="4983480" y="1737360"/>
            <a:ext cx="2194560" cy="411480"/>
          </a:xfrm>
          <a:prstGeom prst="rect">
            <a:avLst/>
          </a:prstGeom>
          <a:noFill/>
          <a:ln/>
        </p:spPr>
        <p:txBody>
          <a:bodyPr wrap="square" lIns="0" tIns="0" rIns="0" bIns="0" rtlCol="0" anchor="ctr"/>
          <a:lstStyle/>
          <a:p>
            <a:pPr marL="0" indent="0" algn="ctr">
              <a:buNone/>
            </a:pPr>
            <a:r>
              <a:rPr lang="en-US" sz="2700" b="1" dirty="0">
                <a:solidFill>
                  <a:srgbClr val="F5A623"/>
                </a:solidFill>
              </a:rPr>
              <a:t>Adjust</a:t>
            </a:r>
            <a:endParaRPr lang="en-US" sz="2700" dirty="0"/>
          </a:p>
        </p:txBody>
      </p:sp>
      <p:sp>
        <p:nvSpPr>
          <p:cNvPr id="6" name="Text 4"/>
          <p:cNvSpPr/>
          <p:nvPr/>
        </p:nvSpPr>
        <p:spPr>
          <a:xfrm>
            <a:off x="8915400" y="1737360"/>
            <a:ext cx="2194560" cy="411480"/>
          </a:xfrm>
          <a:prstGeom prst="rect">
            <a:avLst/>
          </a:prstGeom>
          <a:noFill/>
          <a:ln/>
        </p:spPr>
        <p:txBody>
          <a:bodyPr wrap="square" lIns="0" tIns="0" rIns="0" bIns="0" rtlCol="0" anchor="ctr"/>
          <a:lstStyle/>
          <a:p>
            <a:pPr marL="0" indent="0" algn="ctr">
              <a:buNone/>
            </a:pPr>
            <a:r>
              <a:rPr lang="en-US" sz="2700" b="1" dirty="0">
                <a:solidFill>
                  <a:srgbClr val="5E8C42"/>
                </a:solidFill>
              </a:rPr>
              <a:t>Improve</a:t>
            </a:r>
            <a:endParaRPr lang="en-US" sz="2700" dirty="0"/>
          </a:p>
        </p:txBody>
      </p:sp>
      <p:sp>
        <p:nvSpPr>
          <p:cNvPr id="7" name="Shape 5"/>
          <p:cNvSpPr/>
          <p:nvPr/>
        </p:nvSpPr>
        <p:spPr>
          <a:xfrm>
            <a:off x="3337560" y="1965960"/>
            <a:ext cx="1234440" cy="0"/>
          </a:xfrm>
          <a:prstGeom prst="line">
            <a:avLst/>
          </a:prstGeom>
          <a:noFill/>
          <a:ln w="25400">
            <a:solidFill>
              <a:srgbClr val="9AB7BB"/>
            </a:solidFill>
            <a:prstDash val="solid"/>
            <a:headEnd type="none"/>
            <a:tailEnd type="triangle"/>
          </a:ln>
        </p:spPr>
        <p:txBody>
          <a:bodyPr/>
          <a:lstStyle/>
          <a:p>
            <a:endParaRPr lang="en-US"/>
          </a:p>
        </p:txBody>
      </p:sp>
      <p:sp>
        <p:nvSpPr>
          <p:cNvPr id="8" name="Shape 6"/>
          <p:cNvSpPr/>
          <p:nvPr/>
        </p:nvSpPr>
        <p:spPr>
          <a:xfrm>
            <a:off x="7360920" y="1965960"/>
            <a:ext cx="1188720" cy="0"/>
          </a:xfrm>
          <a:prstGeom prst="line">
            <a:avLst/>
          </a:prstGeom>
          <a:noFill/>
          <a:ln w="25400">
            <a:solidFill>
              <a:srgbClr val="9AB7BB"/>
            </a:solidFill>
            <a:prstDash val="solid"/>
            <a:headEnd type="none"/>
            <a:tailEnd type="triangle"/>
          </a:ln>
        </p:spPr>
        <p:txBody>
          <a:bodyPr/>
          <a:lstStyle/>
          <a:p>
            <a:endParaRPr lang="en-US"/>
          </a:p>
        </p:txBody>
      </p:sp>
      <p:sp>
        <p:nvSpPr>
          <p:cNvPr id="9" name="Text 7"/>
          <p:cNvSpPr/>
          <p:nvPr/>
        </p:nvSpPr>
        <p:spPr>
          <a:xfrm>
            <a:off x="868680" y="274320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0" name="Text 8"/>
          <p:cNvSpPr/>
          <p:nvPr/>
        </p:nvSpPr>
        <p:spPr>
          <a:xfrm>
            <a:off x="1170432" y="2779776"/>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office-hour feedback</a:t>
            </a:r>
            <a:endParaRPr lang="en-US" sz="1500" dirty="0"/>
          </a:p>
        </p:txBody>
      </p:sp>
      <p:sp>
        <p:nvSpPr>
          <p:cNvPr id="11" name="Text 9"/>
          <p:cNvSpPr/>
          <p:nvPr/>
        </p:nvSpPr>
        <p:spPr>
          <a:xfrm>
            <a:off x="868680" y="318211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2" name="Text 10"/>
          <p:cNvSpPr/>
          <p:nvPr/>
        </p:nvSpPr>
        <p:spPr>
          <a:xfrm>
            <a:off x="1170432" y="3218688"/>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live session questions</a:t>
            </a:r>
            <a:endParaRPr lang="en-US" sz="1500" dirty="0"/>
          </a:p>
        </p:txBody>
      </p:sp>
      <p:sp>
        <p:nvSpPr>
          <p:cNvPr id="13" name="Text 11"/>
          <p:cNvSpPr/>
          <p:nvPr/>
        </p:nvSpPr>
        <p:spPr>
          <a:xfrm>
            <a:off x="868680" y="362102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4" name="Text 12"/>
          <p:cNvSpPr/>
          <p:nvPr/>
        </p:nvSpPr>
        <p:spPr>
          <a:xfrm>
            <a:off x="1170432" y="3657600"/>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email</a:t>
            </a:r>
            <a:endParaRPr lang="en-US" sz="1500" dirty="0"/>
          </a:p>
        </p:txBody>
      </p:sp>
      <p:sp>
        <p:nvSpPr>
          <p:cNvPr id="15" name="Text 13"/>
          <p:cNvSpPr/>
          <p:nvPr/>
        </p:nvSpPr>
        <p:spPr>
          <a:xfrm>
            <a:off x="868680" y="405993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6" name="Text 14"/>
          <p:cNvSpPr/>
          <p:nvPr/>
        </p:nvSpPr>
        <p:spPr>
          <a:xfrm>
            <a:off x="1170432" y="4096512"/>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patterns across assignments</a:t>
            </a:r>
            <a:endParaRPr lang="en-US" sz="1500" dirty="0"/>
          </a:p>
        </p:txBody>
      </p:sp>
      <p:sp>
        <p:nvSpPr>
          <p:cNvPr id="17" name="Text 15"/>
          <p:cNvSpPr/>
          <p:nvPr/>
        </p:nvSpPr>
        <p:spPr>
          <a:xfrm>
            <a:off x="4892040" y="274320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8" name="Text 16"/>
          <p:cNvSpPr/>
          <p:nvPr/>
        </p:nvSpPr>
        <p:spPr>
          <a:xfrm>
            <a:off x="5193792" y="2779776"/>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clarify instructions</a:t>
            </a:r>
            <a:endParaRPr lang="en-US" sz="1500" dirty="0"/>
          </a:p>
        </p:txBody>
      </p:sp>
      <p:sp>
        <p:nvSpPr>
          <p:cNvPr id="19" name="Text 17"/>
          <p:cNvSpPr/>
          <p:nvPr/>
        </p:nvSpPr>
        <p:spPr>
          <a:xfrm>
            <a:off x="4892040" y="318211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0" name="Text 18"/>
          <p:cNvSpPr/>
          <p:nvPr/>
        </p:nvSpPr>
        <p:spPr>
          <a:xfrm>
            <a:off x="5193792" y="3218688"/>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add examples</a:t>
            </a:r>
            <a:endParaRPr lang="en-US" sz="1500" dirty="0"/>
          </a:p>
        </p:txBody>
      </p:sp>
      <p:sp>
        <p:nvSpPr>
          <p:cNvPr id="21" name="Text 19"/>
          <p:cNvSpPr/>
          <p:nvPr/>
        </p:nvSpPr>
        <p:spPr>
          <a:xfrm>
            <a:off x="4892040" y="362102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2" name="Text 20"/>
          <p:cNvSpPr/>
          <p:nvPr/>
        </p:nvSpPr>
        <p:spPr>
          <a:xfrm>
            <a:off x="5193792" y="3657600"/>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tune sessions</a:t>
            </a:r>
            <a:endParaRPr lang="en-US" sz="1500" dirty="0"/>
          </a:p>
        </p:txBody>
      </p:sp>
      <p:sp>
        <p:nvSpPr>
          <p:cNvPr id="23" name="Text 21"/>
          <p:cNvSpPr/>
          <p:nvPr/>
        </p:nvSpPr>
        <p:spPr>
          <a:xfrm>
            <a:off x="4892040" y="405993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4" name="Text 22"/>
          <p:cNvSpPr/>
          <p:nvPr/>
        </p:nvSpPr>
        <p:spPr>
          <a:xfrm>
            <a:off x="5193792" y="4096512"/>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create extra material</a:t>
            </a:r>
            <a:endParaRPr lang="en-US" sz="1500" dirty="0"/>
          </a:p>
        </p:txBody>
      </p:sp>
      <p:sp>
        <p:nvSpPr>
          <p:cNvPr id="25" name="Text 23"/>
          <p:cNvSpPr/>
          <p:nvPr/>
        </p:nvSpPr>
        <p:spPr>
          <a:xfrm>
            <a:off x="8732520" y="274320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6" name="Text 24"/>
          <p:cNvSpPr/>
          <p:nvPr/>
        </p:nvSpPr>
        <p:spPr>
          <a:xfrm>
            <a:off x="9034272" y="2779776"/>
            <a:ext cx="28072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future offerings</a:t>
            </a:r>
            <a:endParaRPr lang="en-US" sz="1500" dirty="0"/>
          </a:p>
        </p:txBody>
      </p:sp>
      <p:sp>
        <p:nvSpPr>
          <p:cNvPr id="27" name="Text 25"/>
          <p:cNvSpPr/>
          <p:nvPr/>
        </p:nvSpPr>
        <p:spPr>
          <a:xfrm>
            <a:off x="8732520" y="318211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8" name="Text 26"/>
          <p:cNvSpPr/>
          <p:nvPr/>
        </p:nvSpPr>
        <p:spPr>
          <a:xfrm>
            <a:off x="9034272" y="3218688"/>
            <a:ext cx="28072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better interaction</a:t>
            </a:r>
            <a:endParaRPr lang="en-US" sz="1500" dirty="0"/>
          </a:p>
        </p:txBody>
      </p:sp>
      <p:sp>
        <p:nvSpPr>
          <p:cNvPr id="29" name="Text 27"/>
          <p:cNvSpPr/>
          <p:nvPr/>
        </p:nvSpPr>
        <p:spPr>
          <a:xfrm>
            <a:off x="8732520" y="362102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30" name="Text 28"/>
          <p:cNvSpPr/>
          <p:nvPr/>
        </p:nvSpPr>
        <p:spPr>
          <a:xfrm>
            <a:off x="9034272" y="3657600"/>
            <a:ext cx="28072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stronger online support</a:t>
            </a:r>
            <a:endParaRPr lang="en-US" sz="1500" dirty="0"/>
          </a:p>
        </p:txBody>
      </p:sp>
      <p:sp>
        <p:nvSpPr>
          <p:cNvPr id="31" name="Text 29"/>
          <p:cNvSpPr/>
          <p:nvPr/>
        </p:nvSpPr>
        <p:spPr>
          <a:xfrm>
            <a:off x="8732520" y="405993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32" name="Text 30"/>
          <p:cNvSpPr/>
          <p:nvPr/>
        </p:nvSpPr>
        <p:spPr>
          <a:xfrm>
            <a:off x="9034272" y="4096512"/>
            <a:ext cx="28072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clearer CAOC model</a:t>
            </a:r>
            <a:endParaRPr lang="en-US" sz="1500" dirty="0"/>
          </a:p>
        </p:txBody>
      </p:sp>
      <p:sp>
        <p:nvSpPr>
          <p:cNvPr id="33" name="Text 31"/>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34" name="Text 32"/>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233"/>
        </a:solidFill>
        <a:effectLst/>
      </p:bgPr>
    </p:bg>
    <p:spTree>
      <p:nvGrpSpPr>
        <p:cNvPr id="1" name=""/>
        <p:cNvGrpSpPr/>
        <p:nvPr/>
      </p:nvGrpSpPr>
      <p:grpSpPr>
        <a:xfrm>
          <a:off x="0" y="0"/>
          <a:ext cx="0" cy="0"/>
          <a:chOff x="0" y="0"/>
          <a:chExt cx="0" cy="0"/>
        </a:xfrm>
      </p:grpSpPr>
      <p:sp>
        <p:nvSpPr>
          <p:cNvPr id="2" name="Shape 0"/>
          <p:cNvSpPr/>
          <p:nvPr/>
        </p:nvSpPr>
        <p:spPr>
          <a:xfrm>
            <a:off x="0" y="0"/>
            <a:ext cx="5074920" cy="6858000"/>
          </a:xfrm>
          <a:prstGeom prst="rect">
            <a:avLst/>
          </a:prstGeom>
          <a:solidFill>
            <a:srgbClr val="0F2233"/>
          </a:solidFill>
          <a:ln w="12700">
            <a:solidFill>
              <a:srgbClr val="0F2233">
                <a:alpha val="0"/>
              </a:srgbClr>
            </a:solidFill>
            <a:prstDash val="solid"/>
          </a:ln>
        </p:spPr>
        <p:txBody>
          <a:bodyPr/>
          <a:lstStyle/>
          <a:p>
            <a:endParaRPr lang="en-US"/>
          </a:p>
        </p:txBody>
      </p:sp>
      <p:sp>
        <p:nvSpPr>
          <p:cNvPr id="4" name="Text 1"/>
          <p:cNvSpPr/>
          <p:nvPr/>
        </p:nvSpPr>
        <p:spPr>
          <a:xfrm>
            <a:off x="685800" y="685800"/>
            <a:ext cx="4023360" cy="502920"/>
          </a:xfrm>
          <a:prstGeom prst="rect">
            <a:avLst/>
          </a:prstGeom>
          <a:noFill/>
          <a:ln/>
        </p:spPr>
        <p:txBody>
          <a:bodyPr wrap="square" lIns="0" tIns="0" rIns="0" bIns="0" rtlCol="0" anchor="ctr"/>
          <a:lstStyle/>
          <a:p>
            <a:pPr marL="0" indent="0">
              <a:buNone/>
            </a:pPr>
            <a:r>
              <a:rPr lang="en-US" sz="3400" b="1" dirty="0">
                <a:solidFill>
                  <a:srgbClr val="FFFFFF"/>
                </a:solidFill>
              </a:rPr>
              <a:t>One course.</a:t>
            </a:r>
            <a:endParaRPr lang="en-US" sz="3400" dirty="0"/>
          </a:p>
        </p:txBody>
      </p:sp>
      <p:sp>
        <p:nvSpPr>
          <p:cNvPr id="5" name="Text 2"/>
          <p:cNvSpPr/>
          <p:nvPr/>
        </p:nvSpPr>
        <p:spPr>
          <a:xfrm>
            <a:off x="685800" y="1389888"/>
            <a:ext cx="4023360" cy="868680"/>
          </a:xfrm>
          <a:prstGeom prst="rect">
            <a:avLst/>
          </a:prstGeom>
          <a:noFill/>
          <a:ln/>
        </p:spPr>
        <p:txBody>
          <a:bodyPr wrap="square" lIns="0" tIns="0" rIns="0" bIns="0" rtlCol="0" anchor="ctr">
            <a:normAutofit fontScale="92500" lnSpcReduction="10000"/>
          </a:bodyPr>
          <a:lstStyle/>
          <a:p>
            <a:pPr marL="0" indent="0">
              <a:buNone/>
            </a:pPr>
            <a:r>
              <a:rPr lang="en-US" sz="3300" b="1" dirty="0">
                <a:solidFill>
                  <a:srgbClr val="FFFFFF"/>
                </a:solidFill>
              </a:rPr>
              <a:t>Campus and online learners.</a:t>
            </a:r>
            <a:endParaRPr lang="en-US" sz="3300" dirty="0"/>
          </a:p>
        </p:txBody>
      </p:sp>
      <p:sp>
        <p:nvSpPr>
          <p:cNvPr id="6" name="Text 3"/>
          <p:cNvSpPr/>
          <p:nvPr/>
        </p:nvSpPr>
        <p:spPr>
          <a:xfrm>
            <a:off x="713232" y="2578608"/>
            <a:ext cx="3977640" cy="1280160"/>
          </a:xfrm>
          <a:prstGeom prst="rect">
            <a:avLst/>
          </a:prstGeom>
          <a:noFill/>
          <a:ln/>
        </p:spPr>
        <p:txBody>
          <a:bodyPr wrap="square" lIns="0" tIns="0" rIns="0" bIns="0" rtlCol="0" anchor="ctr">
            <a:normAutofit lnSpcReduction="10000"/>
          </a:bodyPr>
          <a:lstStyle/>
          <a:p>
            <a:pPr marL="0" indent="0">
              <a:buNone/>
            </a:pPr>
            <a:r>
              <a:rPr lang="en-US" sz="2200" dirty="0">
                <a:solidFill>
                  <a:srgbClr val="E9F6F6"/>
                </a:solidFill>
              </a:rPr>
              <a:t>A shared schedule, a shared instructional community, and a better chance to feel connected to the process of learning.</a:t>
            </a:r>
            <a:endParaRPr lang="en-US" sz="2200" dirty="0"/>
          </a:p>
        </p:txBody>
      </p:sp>
      <p:sp>
        <p:nvSpPr>
          <p:cNvPr id="7" name="Text 4"/>
          <p:cNvSpPr/>
          <p:nvPr/>
        </p:nvSpPr>
        <p:spPr>
          <a:xfrm>
            <a:off x="713232" y="4892040"/>
            <a:ext cx="4114800" cy="502920"/>
          </a:xfrm>
          <a:prstGeom prst="rect">
            <a:avLst/>
          </a:prstGeom>
          <a:noFill/>
          <a:ln/>
        </p:spPr>
        <p:txBody>
          <a:bodyPr wrap="square" lIns="0" tIns="0" rIns="0" bIns="0" rtlCol="0" anchor="ctr"/>
          <a:lstStyle/>
          <a:p>
            <a:pPr marL="0" indent="0">
              <a:buNone/>
            </a:pPr>
            <a:r>
              <a:rPr lang="en-US" sz="3000" b="1" dirty="0">
                <a:solidFill>
                  <a:srgbClr val="F8C463"/>
                </a:solidFill>
              </a:rPr>
              <a:t>Welcome to the CAOC</a:t>
            </a:r>
            <a:endParaRPr lang="en-US" sz="3000" dirty="0"/>
          </a:p>
        </p:txBody>
      </p:sp>
      <p:sp>
        <p:nvSpPr>
          <p:cNvPr id="8" name="Text 5"/>
          <p:cNvSpPr/>
          <p:nvPr/>
        </p:nvSpPr>
        <p:spPr>
          <a:xfrm>
            <a:off x="749808" y="5468112"/>
            <a:ext cx="4023360" cy="438912"/>
          </a:xfrm>
          <a:prstGeom prst="rect">
            <a:avLst/>
          </a:prstGeom>
          <a:noFill/>
          <a:ln/>
        </p:spPr>
        <p:txBody>
          <a:bodyPr wrap="square" lIns="0" tIns="0" rIns="0" bIns="0" rtlCol="0" anchor="ctr">
            <a:normAutofit lnSpcReduction="10000"/>
          </a:bodyPr>
          <a:lstStyle/>
          <a:p>
            <a:pPr marL="0" indent="0">
              <a:buNone/>
            </a:pPr>
            <a:r>
              <a:rPr lang="en-US" sz="1500" dirty="0">
                <a:solidFill>
                  <a:srgbClr val="FFFFFF"/>
                </a:solidFill>
              </a:rPr>
              <a:t>pronounced “kay-ock” — somewhere between a kayak and chaos</a:t>
            </a:r>
            <a:endParaRPr lang="en-US" sz="1500" dirty="0"/>
          </a:p>
        </p:txBody>
      </p:sp>
      <p:pic>
        <p:nvPicPr>
          <p:cNvPr id="9" name="Picture 8" descr="A person and person in a kayak&#10;&#10;AI-generated content may be incorrect.">
            <a:extLst>
              <a:ext uri="{FF2B5EF4-FFF2-40B4-BE49-F238E27FC236}">
                <a16:creationId xmlns:a16="http://schemas.microsoft.com/office/drawing/2014/main" id="{0705E901-9B07-D6AD-2811-65A2BF3A978B}"/>
              </a:ext>
            </a:extLst>
          </p:cNvPr>
          <p:cNvPicPr>
            <a:picLocks noChangeAspect="1"/>
          </p:cNvPicPr>
          <p:nvPr/>
        </p:nvPicPr>
        <p:blipFill>
          <a:blip r:embed="rId3"/>
          <a:stretch>
            <a:fillRect/>
          </a:stretch>
        </p:blipFill>
        <p:spPr>
          <a:xfrm>
            <a:off x="5287603" y="1325880"/>
            <a:ext cx="6904397" cy="3885788"/>
          </a:xfrm>
          <a:prstGeom prst="rect">
            <a:avLst/>
          </a:prstGeom>
        </p:spPr>
      </p:pic>
      <p:sp>
        <p:nvSpPr>
          <p:cNvPr id="3" name="TextBox 2">
            <a:extLst>
              <a:ext uri="{FF2B5EF4-FFF2-40B4-BE49-F238E27FC236}">
                <a16:creationId xmlns:a16="http://schemas.microsoft.com/office/drawing/2014/main" id="{C30B9ED5-FE22-D969-8713-24A0D68D1910}"/>
              </a:ext>
            </a:extLst>
          </p:cNvPr>
          <p:cNvSpPr txBox="1"/>
          <p:nvPr/>
        </p:nvSpPr>
        <p:spPr>
          <a:xfrm>
            <a:off x="6669579" y="5687568"/>
            <a:ext cx="4605941" cy="523220"/>
          </a:xfrm>
          <a:prstGeom prst="rect">
            <a:avLst/>
          </a:prstGeom>
          <a:noFill/>
        </p:spPr>
        <p:txBody>
          <a:bodyPr wrap="none" rtlCol="0">
            <a:spAutoFit/>
          </a:bodyPr>
          <a:lstStyle/>
          <a:p>
            <a:r>
              <a:rPr lang="en-US" sz="2800" dirty="0">
                <a:solidFill>
                  <a:schemeClr val="bg1"/>
                </a:solidFill>
              </a:rPr>
              <a:t>https://</a:t>
            </a:r>
            <a:r>
              <a:rPr lang="en-US" sz="2800" dirty="0" err="1">
                <a:solidFill>
                  <a:schemeClr val="bg1"/>
                </a:solidFill>
              </a:rPr>
              <a:t>django.dr-chuck.com</a:t>
            </a:r>
            <a:endParaRPr lang="en-US" sz="28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1083</Words>
  <Application>Microsoft Macintosh PowerPoint</Application>
  <PresentationFormat>Widescreen</PresentationFormat>
  <Paragraphs>175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Building Web Applications in Django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Web Applications in Django: A Campus-Aligned Online Course</dc:title>
  <dc:subject>CAOC Introduction</dc:subject>
  <dc:creator>Dr. Chuck</dc:creator>
  <cp:lastModifiedBy>Severance, Charles</cp:lastModifiedBy>
  <cp:revision>5</cp:revision>
  <dcterms:created xsi:type="dcterms:W3CDTF">2026-07-22T14:19:06Z</dcterms:created>
  <dcterms:modified xsi:type="dcterms:W3CDTF">2026-07-22T16:21:10Z</dcterms:modified>
</cp:coreProperties>
</file>